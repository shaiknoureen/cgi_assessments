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presentationml.presentation.main+xml" PartName="/ppt/presentation.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theme+xml" PartName="/ppt/theme/theme1.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package.core-properties+xml" PartName="/docProps/core.xml"/>
  <Override ContentType="application/vnd.openxmlformats-officedocument.extended-properties+xml" PartName="/docProps/app.xml"/>
  <Override ContentType="application/vnd.openxmlformats-officedocument.custom-properties+xml" PartName="/docProps/custom.xml"/>
</Types>
</file>

<file path=_rels/.rels><?xml version="1.0" encoding="UTF-8" standalone="yes" ?><Relationships xmlns="http://schemas.openxmlformats.org/package/2006/relationships"><Relationship Id="rId3" Target="docProps/core.xml" Type="http://schemas.openxmlformats.org/package/2006/relationships/metadata/core-properties"/><Relationship Id="rId2" Target="docProps/thumbnail.jpeg" Type="http://schemas.openxmlformats.org/package/2006/relationships/metadata/thumbnail"/><Relationship Id="rId1" Target="ppt/presentation.xml" Type="http://schemas.openxmlformats.org/officeDocument/2006/relationships/officeDocument"/><Relationship Id="rId4" Target="docProps/app.xml" Type="http://schemas.openxmlformats.org/officeDocument/2006/relationships/extended-properties"/><Relationship Id="rId5"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18288000" cy="10287000"/>
  <p:notesSz cx="6858000" cy="9144000"/>
  <p:embeddedFontLst>
    <p:embeddedFont>
      <p:font typeface="Calibri" panose="020F0502020204030204" pitchFamily="34" charset="0"/>
      <p:regular r:id="rId43"/>
      <p:bold r:id="rId44"/>
      <p:italic r:id="rId45"/>
      <p:boldItalic r:id="rId46"/>
    </p:embeddedFont>
    <p:embeddedFont>
      <p:font typeface="Canva Sans" panose="020B0503030501040103" pitchFamily="34" charset="0"/>
      <p:regular r:id="rId47"/>
    </p:embeddedFont>
    <p:embeddedFont>
      <p:font typeface="Canva Sans Bold" panose="020B0803030501040103" pitchFamily="34" charset="0"/>
      <p:regular r:id="rId48"/>
      <p:bold r:id="rId49"/>
    </p:embeddedFont>
    <p:embeddedFont>
      <p:font typeface="Public Sans" pitchFamily="2" charset="77"/>
      <p:regular r:id="rId50"/>
    </p:embeddedFont>
    <p:embeddedFont>
      <p:font typeface="Public Sans Bold" pitchFamily="2" charset="77"/>
      <p:regular r:id="rId5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2" autoAdjust="0"/>
    <p:restoredTop sz="94628" autoAdjust="0"/>
  </p:normalViewPr>
  <p:slideViewPr>
    <p:cSldViewPr>
      <p:cViewPr varScale="1">
        <p:scale>
          <a:sx n="76" d="100"/>
          <a:sy n="76" d="100"/>
        </p:scale>
        <p:origin x="272" y="2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5.fntdata"/><Relationship Id="rId50" Type="http://schemas.openxmlformats.org/officeDocument/2006/relationships/font" Target="fonts/font8.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3.fntdata"/><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2.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1.fntdata"/><Relationship Id="rId48" Type="http://schemas.openxmlformats.org/officeDocument/2006/relationships/font" Target="fonts/font6.fntdata"/><Relationship Id="rId8" Type="http://schemas.openxmlformats.org/officeDocument/2006/relationships/slide" Target="slides/slide7.xml"/><Relationship Id="rId51" Type="http://schemas.openxmlformats.org/officeDocument/2006/relationships/font" Target="fonts/font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7.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9/12/25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arget="../media/image1.jpeg" Type="http://schemas.openxmlformats.org/officeDocument/2006/relationships/image"/><Relationship Id="rId1" Target="../slideLayouts/slideLayout7.xml" Type="http://schemas.openxmlformats.org/officeDocument/2006/relationships/slideLayout"/></Relationships>
</file>

<file path=ppt/slides/_rels/slide2.xml.rels><?xml version="1.0" encoding="UTF-8" standalone="yes" ?><Relationships xmlns="http://schemas.openxmlformats.org/package/2006/relationships"><Relationship Id="rId2" Target="../media/image2.jpeg" Type="http://schemas.openxmlformats.org/officeDocument/2006/relationships/image"/><Relationship Id="rId1" Target="../slideLayouts/slideLayout7.xml" Type="http://schemas.openxmlformats.org/officeDocument/2006/relationships/slideLayout"/></Relationships>
</file>

<file path=ppt/slides/_rels/slide3.xml.rels><?xml version="1.0" encoding="UTF-8" standalone="yes" ?><Relationships xmlns="http://schemas.openxmlformats.org/package/2006/relationships"><Relationship Id="rId2" Target="../media/image3.jpeg" Type="http://schemas.openxmlformats.org/officeDocument/2006/relationships/image"/><Relationship Id="rId1" Target="../slideLayouts/slideLayout7.xml" Type="http://schemas.openxmlformats.org/officeDocument/2006/relationships/slideLayout"/></Relationships>
</file>

<file path=ppt/slides/_rels/slide4.xml.rels><?xml version="1.0" encoding="UTF-8" standalone="yes" ?><Relationships xmlns="http://schemas.openxmlformats.org/package/2006/relationships"><Relationship Id="rId2" Target="../media/image4.jpeg" Type="http://schemas.openxmlformats.org/officeDocument/2006/relationships/image"/><Relationship Id="rId1" Target="../slideLayouts/slideLayout7.xml" Type="http://schemas.openxmlformats.org/officeDocument/2006/relationships/slideLayout"/></Relationships>
</file>

<file path=ppt/slides/_rels/slide5.xml.rels><?xml version="1.0" encoding="UTF-8" standalone="yes" ?><Relationships xmlns="http://schemas.openxmlformats.org/package/2006/relationships"><Relationship Id="rId2" Target="../media/image5.jpeg" Type="http://schemas.openxmlformats.org/officeDocument/2006/relationships/image"/><Relationship Id="rId1" Target="../slideLayouts/slideLayout7.xml" Type="http://schemas.openxmlformats.org/officeDocument/2006/relationships/slideLayout"/></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arget="../media/image7.jpeg" Type="http://schemas.openxmlformats.org/officeDocument/2006/relationships/image"/><Relationship Id="rId1" Target="../slideLayouts/slideLayout7.xml" Type="http://schemas.openxmlformats.org/officeDocument/2006/relationships/slideLayout"/></Relationships>
</file>

<file path=ppt/slides/_rels/slide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arget="../media/image9.svg" Type="http://schemas.openxmlformats.org/officeDocument/2006/relationships/image"/><Relationship Id="rId2" Target="../media/image8.png" Type="http://schemas.openxmlformats.org/officeDocument/2006/relationships/image"/><Relationship Id="rId1" Target="../slideLayouts/slideLayout7.xml" Type="http://schemas.openxmlformats.org/officeDocument/2006/relationships/slideLayout"/><Relationship Id="rId4" Target="../media/image11.jpeg" Type="http://schemas.openxmlformats.org/officeDocument/2006/relationships/image"/></Relationships>
</file>

<file path=ppt/slides/_rels/slide12.xml.rels><?xml version="1.0" encoding="UTF-8" standalone="yes" ?><Relationships xmlns="http://schemas.openxmlformats.org/package/2006/relationships"><Relationship Id="rId2" Target="../media/image12.jpeg" Type="http://schemas.openxmlformats.org/officeDocument/2006/relationships/image"/><Relationship Id="rId1" Target="../slideLayouts/slideLayout7.xml" Type="http://schemas.openxmlformats.org/officeDocument/2006/relationships/slideLayout"/></Relationships>
</file>

<file path=ppt/slides/_rels/slide13.xml.rels><?xml version="1.0" encoding="UTF-8" standalone="yes" ?><Relationships xmlns="http://schemas.openxmlformats.org/package/2006/relationships"><Relationship Id="rId2" Target="../media/image13.jpeg" Type="http://schemas.openxmlformats.org/officeDocument/2006/relationships/image"/><Relationship Id="rId1" Target="../slideLayouts/slideLayout7.xml" Type="http://schemas.openxmlformats.org/officeDocument/2006/relationships/slideLayout"/></Relationships>
</file>

<file path=ppt/slides/_rels/slide14.xml.rels><?xml version="1.0" encoding="UTF-8" standalone="yes" ?><Relationships xmlns="http://schemas.openxmlformats.org/package/2006/relationships"><Relationship Id="rId3" Target="../media/image15.jpeg" Type="http://schemas.openxmlformats.org/officeDocument/2006/relationships/image"/><Relationship Id="rId2" Target="../media/image14.jpeg" Type="http://schemas.openxmlformats.org/officeDocument/2006/relationships/image"/><Relationship Id="rId1" Target="../slideLayouts/slideLayout7.xml" Type="http://schemas.openxmlformats.org/officeDocument/2006/relationships/slideLayout"/></Relationships>
</file>

<file path=ppt/slides/_rels/slide15.xml.rels><?xml version="1.0" encoding="UTF-8" standalone="yes" ?><Relationships xmlns="http://schemas.openxmlformats.org/package/2006/relationships"><Relationship Id="rId3" Target="../media/image17.jpeg" Type="http://schemas.openxmlformats.org/officeDocument/2006/relationships/image"/><Relationship Id="rId2" Target="../media/image16.jpeg" Type="http://schemas.openxmlformats.org/officeDocument/2006/relationships/image"/><Relationship Id="rId1" Target="../slideLayouts/slideLayout7.xml" Type="http://schemas.openxmlformats.org/officeDocument/2006/relationships/slideLayout"/></Relationships>
</file>

<file path=ppt/slides/_rels/slide16.xml.rels><?xml version="1.0" encoding="UTF-8" standalone="yes" ?><Relationships xmlns="http://schemas.openxmlformats.org/package/2006/relationships"><Relationship Id="rId2" Target="../media/image18.jpeg" Type="http://schemas.openxmlformats.org/officeDocument/2006/relationships/image"/><Relationship Id="rId1" Target="../slideLayouts/slideLayout7.xml" Type="http://schemas.openxmlformats.org/officeDocument/2006/relationships/slideLayout"/></Relationships>
</file>

<file path=ppt/slides/_rels/slide17.xml.rels><?xml version="1.0" encoding="UTF-8" standalone="yes" ?><Relationships xmlns="http://schemas.openxmlformats.org/package/2006/relationships"><Relationship Id="rId2" Target="../media/image19.jpeg" Type="http://schemas.openxmlformats.org/officeDocument/2006/relationships/image"/><Relationship Id="rId1" Target="../slideLayouts/slideLayout7.xml" Type="http://schemas.openxmlformats.org/officeDocument/2006/relationships/slideLayout"/></Relationships>
</file>

<file path=ppt/slides/_rels/slide18.xml.rels><?xml version="1.0" encoding="UTF-8" standalone="yes" ?><Relationships xmlns="http://schemas.openxmlformats.org/package/2006/relationships"><Relationship Id="rId2" Target="../media/image20.jpeg" Type="http://schemas.openxmlformats.org/officeDocument/2006/relationships/image"/><Relationship Id="rId1" Target="../slideLayouts/slideLayout7.xml" Type="http://schemas.openxmlformats.org/officeDocument/2006/relationships/slideLayout"/></Relationships>
</file>

<file path=ppt/slides/_rels/slide19.xml.rels><?xml version="1.0" encoding="UTF-8" standalone="yes" ?><Relationships xmlns="http://schemas.openxmlformats.org/package/2006/relationships"><Relationship Id="rId2" Target="../media/image21.jpeg" Type="http://schemas.openxmlformats.org/officeDocument/2006/relationships/image"/><Relationship Id="rId1" Target="../slideLayouts/slideLayout7.xml" Type="http://schemas.openxmlformats.org/officeDocument/2006/relationships/slideLayout"/></Relationships>
</file>

<file path=ppt/slides/_rels/slide20.xml.rels><?xml version="1.0" encoding="UTF-8" standalone="yes" ?><Relationships xmlns="http://schemas.openxmlformats.org/package/2006/relationships"><Relationship Id="rId2" Target="../media/image22.jpeg" Type="http://schemas.openxmlformats.org/officeDocument/2006/relationships/image"/><Relationship Id="rId1" Target="../slideLayouts/slideLayout7.xml" Type="http://schemas.openxmlformats.org/officeDocument/2006/relationships/slideLayout"/></Relationships>
</file>

<file path=ppt/slides/_rels/slide21.xml.rels><?xml version="1.0" encoding="UTF-8" standalone="yes" ?><Relationships xmlns="http://schemas.openxmlformats.org/package/2006/relationships"><Relationship Id="rId2" Target="../media/image23.jpeg" Type="http://schemas.openxmlformats.org/officeDocument/2006/relationships/image"/><Relationship Id="rId1" Target="../slideLayouts/slideLayout7.xml" Type="http://schemas.openxmlformats.org/officeDocument/2006/relationships/slideLayout"/></Relationships>
</file>

<file path=ppt/slides/_rels/slide22.xml.rels><?xml version="1.0" encoding="UTF-8" standalone="yes" ?><Relationships xmlns="http://schemas.openxmlformats.org/package/2006/relationships"><Relationship Id="rId2" Target="../media/image24.jpeg" Type="http://schemas.openxmlformats.org/officeDocument/2006/relationships/image"/><Relationship Id="rId1" Target="../slideLayouts/slideLayout7.xml" Type="http://schemas.openxmlformats.org/officeDocument/2006/relationships/slideLayout"/></Relationships>
</file>

<file path=ppt/slides/_rels/slide23.xml.rels><?xml version="1.0" encoding="UTF-8" standalone="yes" ?><Relationships xmlns="http://schemas.openxmlformats.org/package/2006/relationships"><Relationship Id="rId2" Target="../media/image25.jpeg" Type="http://schemas.openxmlformats.org/officeDocument/2006/relationships/image"/><Relationship Id="rId1" Target="../slideLayouts/slideLayout7.xml" Type="http://schemas.openxmlformats.org/officeDocument/2006/relationships/slideLayout"/></Relationships>
</file>

<file path=ppt/slides/_rels/slide24.xml.rels><?xml version="1.0" encoding="UTF-8" standalone="yes" ?><Relationships xmlns="http://schemas.openxmlformats.org/package/2006/relationships"><Relationship Id="rId3" Target="../media/image27.jpeg" Type="http://schemas.openxmlformats.org/officeDocument/2006/relationships/image"/><Relationship Id="rId2" Target="../media/image26.jpeg" Type="http://schemas.openxmlformats.org/officeDocument/2006/relationships/image"/><Relationship Id="rId1" Target="../slideLayouts/slideLayout7.xml" Type="http://schemas.openxmlformats.org/officeDocument/2006/relationships/slideLayout"/></Relationships>
</file>

<file path=ppt/slides/_rels/slide25.xml.rels><?xml version="1.0" encoding="UTF-8" standalone="yes" ?><Relationships xmlns="http://schemas.openxmlformats.org/package/2006/relationships"><Relationship Id="rId2" Target="../media/image28.jpeg" Type="http://schemas.openxmlformats.org/officeDocument/2006/relationships/image"/><Relationship Id="rId1" Target="../slideLayouts/slideLayout7.xml" Type="http://schemas.openxmlformats.org/officeDocument/2006/relationships/slideLayout"/></Relationships>
</file>

<file path=ppt/slides/_rels/slide26.xml.rels><?xml version="1.0" encoding="UTF-8" standalone="yes" ?><Relationships xmlns="http://schemas.openxmlformats.org/package/2006/relationships"><Relationship Id="rId3" Target="../media/image29.jpeg" Type="http://schemas.openxmlformats.org/officeDocument/2006/relationships/image"/><Relationship Id="rId2" Target="../media/image26.jpeg" Type="http://schemas.openxmlformats.org/officeDocument/2006/relationships/image"/><Relationship Id="rId1" Target="../slideLayouts/slideLayout7.xml" Type="http://schemas.openxmlformats.org/officeDocument/2006/relationships/slideLayout"/></Relationships>
</file>

<file path=ppt/slides/_rels/slide27.xml.rels><?xml version="1.0" encoding="UTF-8" standalone="yes" ?><Relationships xmlns="http://schemas.openxmlformats.org/package/2006/relationships"><Relationship Id="rId3" Target="../media/image31.jpeg" Type="http://schemas.openxmlformats.org/officeDocument/2006/relationships/image"/><Relationship Id="rId2" Target="../media/image30.png" Type="http://schemas.openxmlformats.org/officeDocument/2006/relationships/image"/><Relationship Id="rId1" Target="../slideLayouts/slideLayout7.xml" Type="http://schemas.openxmlformats.org/officeDocument/2006/relationships/slideLayout"/></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29.xml.rels><?xml version="1.0" encoding="UTF-8" standalone="yes" ?><Relationships xmlns="http://schemas.openxmlformats.org/package/2006/relationships"><Relationship Id="rId3" Target="../media/image36.jpeg" Type="http://schemas.openxmlformats.org/officeDocument/2006/relationships/image"/><Relationship Id="rId2" Target="../media/image35.jpeg" Type="http://schemas.openxmlformats.org/officeDocument/2006/relationships/image"/><Relationship Id="rId1" Target="../slideLayouts/slideLayout7.xml" Type="http://schemas.openxmlformats.org/officeDocument/2006/relationships/slideLayout"/><Relationship Id="rId4" Target="../media/image37.png" Type="http://schemas.openxmlformats.org/officeDocument/2006/relationships/image"/></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32.xml.rels><?xml version="1.0" encoding="UTF-8" standalone="yes" ?><Relationships xmlns="http://schemas.openxmlformats.org/package/2006/relationships"><Relationship Id="rId2" Target="../media/image43.jpeg" Type="http://schemas.openxmlformats.org/officeDocument/2006/relationships/image"/><Relationship Id="rId1" Target="../slideLayouts/slideLayout7.xml" Type="http://schemas.openxmlformats.org/officeDocument/2006/relationships/slideLayout"/></Relationships>
</file>

<file path=ppt/slides/_rels/slide33.xml.rels><?xml version="1.0" encoding="UTF-8" standalone="yes" ?><Relationships xmlns="http://schemas.openxmlformats.org/package/2006/relationships"><Relationship Id="rId2" Target="../media/image43.jpeg" Type="http://schemas.openxmlformats.org/officeDocument/2006/relationships/image"/><Relationship Id="rId1" Target="../slideLayouts/slideLayout7.xml" Type="http://schemas.openxmlformats.org/officeDocument/2006/relationships/slideLayout"/></Relationships>
</file>

<file path=ppt/slides/_rels/slide34.xml.rels><?xml version="1.0" encoding="UTF-8" standalone="yes" ?><Relationships xmlns="http://schemas.openxmlformats.org/package/2006/relationships"><Relationship Id="rId2" Target="../media/image44.jpeg" Type="http://schemas.openxmlformats.org/officeDocument/2006/relationships/image"/><Relationship Id="rId1" Target="../slideLayouts/slideLayout7.xml" Type="http://schemas.openxmlformats.org/officeDocument/2006/relationships/slideLayout"/></Relationships>
</file>

<file path=ppt/slides/_rels/slide35.xml.rels><?xml version="1.0" encoding="UTF-8" standalone="yes" ?><Relationships xmlns="http://schemas.openxmlformats.org/package/2006/relationships"><Relationship Id="rId2" Target="../media/image45.jpeg" Type="http://schemas.openxmlformats.org/officeDocument/2006/relationships/image"/><Relationship Id="rId1" Target="../slideLayouts/slideLayout7.xml" Type="http://schemas.openxmlformats.org/officeDocument/2006/relationships/slideLayout"/></Relationships>
</file>

<file path=ppt/slides/_rels/slide36.xml.rels><?xml version="1.0" encoding="UTF-8" standalone="yes" ?><Relationships xmlns="http://schemas.openxmlformats.org/package/2006/relationships"><Relationship Id="rId2" Target="../media/image46.jpeg" Type="http://schemas.openxmlformats.org/officeDocument/2006/relationships/image"/><Relationship Id="rId1" Target="../slideLayouts/slideLayout7.xml" Type="http://schemas.openxmlformats.org/officeDocument/2006/relationships/slideLayout"/></Relationships>
</file>

<file path=ppt/slides/_rels/slide37.xml.rels><?xml version="1.0" encoding="UTF-8" standalone="yes" ?><Relationships xmlns="http://schemas.openxmlformats.org/package/2006/relationships"><Relationship Id="rId3" Target="../media/image47.jpeg" Type="http://schemas.openxmlformats.org/officeDocument/2006/relationships/image"/><Relationship Id="rId2" Target="../media/image26.jpeg" Type="http://schemas.openxmlformats.org/officeDocument/2006/relationships/image"/><Relationship Id="rId1" Target="../slideLayouts/slideLayout7.xml" Type="http://schemas.openxmlformats.org/officeDocument/2006/relationships/slideLayout"/></Relationships>
</file>

<file path=ppt/slides/_rels/slide38.xml.rels><?xml version="1.0" encoding="UTF-8" standalone="yes" ?><Relationships xmlns="http://schemas.openxmlformats.org/package/2006/relationships"><Relationship Id="rId3" Target="../media/image48.jpeg" Type="http://schemas.openxmlformats.org/officeDocument/2006/relationships/image"/><Relationship Id="rId2" Target="../media/image26.jpeg" Type="http://schemas.openxmlformats.org/officeDocument/2006/relationships/image"/><Relationship Id="rId1" Target="../slideLayouts/slideLayout7.xml" Type="http://schemas.openxmlformats.org/officeDocument/2006/relationships/slideLayout"/></Relationships>
</file>

<file path=ppt/slides/_rels/slide39.xml.rels><?xml version="1.0" encoding="UTF-8" standalone="yes" ?><Relationships xmlns="http://schemas.openxmlformats.org/package/2006/relationships"><Relationship Id="rId3" Target="../media/image50.jpeg" Type="http://schemas.openxmlformats.org/officeDocument/2006/relationships/image"/><Relationship Id="rId7" Target="../media/image30.png" Type="http://schemas.openxmlformats.org/officeDocument/2006/relationships/image"/><Relationship Id="rId2" Target="../media/image49.png" Type="http://schemas.openxmlformats.org/officeDocument/2006/relationships/image"/><Relationship Id="rId1" Target="../slideLayouts/slideLayout7.xml" Type="http://schemas.openxmlformats.org/officeDocument/2006/relationships/slideLayout"/><Relationship Id="rId6" Target="../media/image53.png" Type="http://schemas.openxmlformats.org/officeDocument/2006/relationships/image"/><Relationship Id="rId5" Target="../media/image52.png" Type="http://schemas.openxmlformats.org/officeDocument/2006/relationships/image"/><Relationship Id="rId4" Target="../media/image51.jpeg" Type="http://schemas.openxmlformats.org/officeDocument/2006/relationships/image"/></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230"/>
        </a:solidFill>
        <a:effectLst/>
      </p:bgPr>
    </p:bg>
    <p:spTree>
      <p:nvGrpSpPr>
        <p:cNvPr id="1" name=""/>
        <p:cNvGrpSpPr/>
        <p:nvPr/>
      </p:nvGrpSpPr>
      <p:grpSpPr>
        <a:xfrm>
          <a:off x="0" y="0"/>
          <a:ext cx="0" cy="0"/>
          <a:chOff x="0" y="0"/>
          <a:chExt cx="0" cy="0"/>
        </a:xfrm>
      </p:grpSpPr>
      <p:sp>
        <p:nvSpPr>
          <p:cNvPr id="2" name="Freeform 2"/>
          <p:cNvSpPr/>
          <p:nvPr/>
        </p:nvSpPr>
        <p:spPr>
          <a:xfrm>
            <a:off x="8801579" y="0"/>
            <a:ext cx="9486421" cy="10287000"/>
          </a:xfrm>
          <a:custGeom>
            <a:avLst/>
            <a:gdLst/>
            <a:ahLst/>
            <a:cxnLst/>
            <a:rect l="l" t="t" r="r" b="b"/>
            <a:pathLst>
              <a:path w="9486421" h="10287000">
                <a:moveTo>
                  <a:pt x="0" y="0"/>
                </a:moveTo>
                <a:lnTo>
                  <a:pt x="9486421" y="0"/>
                </a:lnTo>
                <a:lnTo>
                  <a:pt x="9486421" y="10287000"/>
                </a:lnTo>
                <a:lnTo>
                  <a:pt x="0" y="10287000"/>
                </a:lnTo>
                <a:lnTo>
                  <a:pt x="0" y="0"/>
                </a:lnTo>
                <a:close/>
              </a:path>
            </a:pathLst>
          </a:custGeom>
          <a:blipFill>
            <a:blip r:embed="rId2"/>
            <a:stretch>
              <a:fillRect l="-3985" r="-7089" b="-2430"/>
            </a:stretch>
          </a:blipFill>
        </p:spPr>
      </p:sp>
      <p:sp>
        <p:nvSpPr>
          <p:cNvPr id="3" name="TextBox 3"/>
          <p:cNvSpPr txBox="1"/>
          <p:nvPr/>
        </p:nvSpPr>
        <p:spPr>
          <a:xfrm>
            <a:off x="343537" y="3381241"/>
            <a:ext cx="9156891" cy="3712845"/>
          </a:xfrm>
          <a:prstGeom prst="rect">
            <a:avLst/>
          </a:prstGeom>
        </p:spPr>
        <p:txBody>
          <a:bodyPr lIns="0" tIns="0" rIns="0" bIns="0" rtlCol="0" anchor="t">
            <a:spAutoFit/>
          </a:bodyPr>
          <a:lstStyle/>
          <a:p>
            <a:pPr algn="l">
              <a:lnSpc>
                <a:spcPts val="9750"/>
              </a:lnSpc>
            </a:pPr>
            <a:r>
              <a:rPr lang="en-US" sz="7800" b="1">
                <a:solidFill>
                  <a:srgbClr val="EFEFEF"/>
                </a:solidFill>
                <a:latin typeface="Public Sans Bold"/>
                <a:ea typeface="Public Sans Bold"/>
                <a:cs typeface="Public Sans Bold"/>
                <a:sym typeface="Public Sans Bold"/>
              </a:rPr>
              <a:t>Capstone Project </a:t>
            </a:r>
          </a:p>
          <a:p>
            <a:pPr algn="l">
              <a:lnSpc>
                <a:spcPts val="9750"/>
              </a:lnSpc>
            </a:pPr>
            <a:r>
              <a:rPr lang="en-US" sz="7800" b="1">
                <a:solidFill>
                  <a:srgbClr val="EFEFEF"/>
                </a:solidFill>
                <a:latin typeface="Public Sans Bold"/>
                <a:ea typeface="Public Sans Bold"/>
                <a:cs typeface="Public Sans Bold"/>
                <a:sym typeface="Public Sans Bold"/>
              </a:rPr>
              <a:t>Smart Library Manager</a:t>
            </a:r>
          </a:p>
        </p:txBody>
      </p:sp>
      <p:sp>
        <p:nvSpPr>
          <p:cNvPr id="4" name="TextBox 4"/>
          <p:cNvSpPr txBox="1"/>
          <p:nvPr/>
        </p:nvSpPr>
        <p:spPr>
          <a:xfrm>
            <a:off x="3638532" y="7976635"/>
            <a:ext cx="4604072" cy="2085975"/>
          </a:xfrm>
          <a:prstGeom prst="rect">
            <a:avLst/>
          </a:prstGeom>
        </p:spPr>
        <p:txBody>
          <a:bodyPr lIns="0" tIns="0" rIns="0" bIns="0" rtlCol="0" anchor="t">
            <a:spAutoFit/>
          </a:bodyPr>
          <a:lstStyle/>
          <a:p>
            <a:pPr algn="l">
              <a:lnSpc>
                <a:spcPts val="4199"/>
              </a:lnSpc>
              <a:spcBef>
                <a:spcPct val="0"/>
              </a:spcBef>
            </a:pPr>
            <a:r>
              <a:rPr lang="en-US" sz="2999">
                <a:solidFill>
                  <a:srgbClr val="EFEFEF"/>
                </a:solidFill>
                <a:latin typeface="Public Sans"/>
                <a:ea typeface="Public Sans"/>
                <a:cs typeface="Public Sans"/>
                <a:sym typeface="Public Sans"/>
              </a:rPr>
              <a:t>Presented by:</a:t>
            </a:r>
          </a:p>
          <a:p>
            <a:pPr algn="l">
              <a:lnSpc>
                <a:spcPts val="4199"/>
              </a:lnSpc>
              <a:spcBef>
                <a:spcPct val="0"/>
              </a:spcBef>
            </a:pPr>
            <a:r>
              <a:rPr lang="en-US" sz="2999">
                <a:solidFill>
                  <a:srgbClr val="EFEFEF"/>
                </a:solidFill>
                <a:latin typeface="Public Sans"/>
                <a:ea typeface="Public Sans"/>
                <a:cs typeface="Public Sans"/>
                <a:sym typeface="Public Sans"/>
              </a:rPr>
              <a:t>Abhigna K Prasad(CGI08) </a:t>
            </a:r>
          </a:p>
          <a:p>
            <a:pPr algn="l">
              <a:lnSpc>
                <a:spcPts val="4199"/>
              </a:lnSpc>
              <a:spcBef>
                <a:spcPct val="0"/>
              </a:spcBef>
            </a:pPr>
            <a:r>
              <a:rPr lang="en-US" sz="2999">
                <a:solidFill>
                  <a:srgbClr val="EFEFEF"/>
                </a:solidFill>
                <a:latin typeface="Public Sans"/>
                <a:ea typeface="Public Sans"/>
                <a:cs typeface="Public Sans"/>
                <a:sym typeface="Public Sans"/>
              </a:rPr>
              <a:t>Gagana H(CGI08)</a:t>
            </a:r>
          </a:p>
          <a:p>
            <a:pPr algn="l">
              <a:lnSpc>
                <a:spcPts val="4199"/>
              </a:lnSpc>
              <a:spcBef>
                <a:spcPct val="0"/>
              </a:spcBef>
            </a:pPr>
            <a:endParaRPr lang="en-US" sz="2999">
              <a:solidFill>
                <a:srgbClr val="EFEFEF"/>
              </a:solidFill>
              <a:latin typeface="Public Sans"/>
              <a:ea typeface="Public Sans"/>
              <a:cs typeface="Public Sans"/>
              <a:sym typeface="Public Sans"/>
            </a:endParaR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111230"/>
        </a:solidFill>
        <a:effectLst/>
      </p:bgPr>
    </p:bg>
    <p:spTree>
      <p:nvGrpSpPr>
        <p:cNvPr id="1" name=""/>
        <p:cNvGrpSpPr/>
        <p:nvPr/>
      </p:nvGrpSpPr>
      <p:grpSpPr>
        <a:xfrm>
          <a:off x="0" y="0"/>
          <a:ext cx="0" cy="0"/>
          <a:chOff x="0" y="0"/>
          <a:chExt cx="0" cy="0"/>
        </a:xfrm>
      </p:grpSpPr>
      <p:grpSp>
        <p:nvGrpSpPr>
          <p:cNvPr id="2" name="Group 2"/>
          <p:cNvGrpSpPr/>
          <p:nvPr/>
        </p:nvGrpSpPr>
        <p:grpSpPr>
          <a:xfrm>
            <a:off x="0" y="1722658"/>
            <a:ext cx="9050909" cy="8564342"/>
            <a:chOff x="0" y="0"/>
            <a:chExt cx="12067879" cy="11419123"/>
          </a:xfrm>
        </p:grpSpPr>
        <p:pic>
          <p:nvPicPr>
            <p:cNvPr id="3" name="Picture 3"/>
            <p:cNvPicPr>
              <a:picLocks noChangeAspect="1"/>
            </p:cNvPicPr>
            <p:nvPr/>
          </p:nvPicPr>
          <p:blipFill>
            <a:blip r:embed="rId2"/>
            <a:srcRect b="53" t="53"/>
            <a:stretch>
              <a:fillRect/>
            </a:stretch>
          </p:blipFill>
          <p:spPr>
            <a:xfrm>
              <a:off x="0" y="0"/>
              <a:ext cx="12067879" cy="11419123"/>
            </a:xfrm>
            <a:prstGeom prst="rect">
              <a:avLst/>
            </a:prstGeom>
          </p:spPr>
        </p:pic>
      </p:grpSp>
      <p:sp>
        <p:nvSpPr>
          <p:cNvPr id="4" name="TextBox 4"/>
          <p:cNvSpPr txBox="1"/>
          <p:nvPr/>
        </p:nvSpPr>
        <p:spPr>
          <a:xfrm>
            <a:off x="5424854" y="344773"/>
            <a:ext cx="6945183" cy="1095375"/>
          </a:xfrm>
          <a:prstGeom prst="rect">
            <a:avLst/>
          </a:prstGeom>
        </p:spPr>
        <p:txBody>
          <a:bodyPr anchor="t" bIns="0" lIns="0" rIns="0" rtlCol="0" tIns="0">
            <a:spAutoFit/>
          </a:bodyPr>
          <a:lstStyle/>
          <a:p>
            <a:pPr algn="ctr">
              <a:lnSpc>
                <a:spcPts val="8520"/>
              </a:lnSpc>
            </a:pPr>
            <a:r>
              <a:rPr b="1" lang="en-US" sz="7100">
                <a:solidFill>
                  <a:srgbClr val="EFEFEF"/>
                </a:solidFill>
                <a:latin typeface="Public Sans Bold"/>
                <a:ea typeface="Public Sans Bold"/>
                <a:cs typeface="Public Sans Bold"/>
                <a:sym typeface="Public Sans Bold"/>
              </a:rPr>
              <a:t>Introduction</a:t>
            </a:r>
          </a:p>
        </p:txBody>
      </p:sp>
      <p:grpSp>
        <p:nvGrpSpPr>
          <p:cNvPr id="5" name="Group 5"/>
          <p:cNvGrpSpPr/>
          <p:nvPr/>
        </p:nvGrpSpPr>
        <p:grpSpPr>
          <a:xfrm>
            <a:off x="9296195" y="-1168770"/>
            <a:ext cx="8991805" cy="12085588"/>
            <a:chOff x="0" y="0"/>
            <a:chExt cx="11989073" cy="16114118"/>
          </a:xfrm>
        </p:grpSpPr>
        <p:sp>
          <p:nvSpPr>
            <p:cNvPr id="6" name="TextBox 6"/>
            <p:cNvSpPr txBox="1"/>
            <p:nvPr/>
          </p:nvSpPr>
          <p:spPr>
            <a:xfrm>
              <a:off x="0" y="-47625"/>
              <a:ext cx="11989073" cy="657170"/>
            </a:xfrm>
            <a:prstGeom prst="rect">
              <a:avLst/>
            </a:prstGeom>
          </p:spPr>
          <p:txBody>
            <a:bodyPr anchor="t" bIns="0" lIns="0" rIns="0" rtlCol="0" tIns="0">
              <a:spAutoFit/>
            </a:bodyPr>
            <a:lstStyle/>
            <a:p>
              <a:pPr algn="l">
                <a:lnSpc>
                  <a:spcPts val="3935"/>
                </a:lnSpc>
              </a:pPr>
              <a:endParaRPr/>
            </a:p>
          </p:txBody>
        </p:sp>
        <p:sp>
          <p:nvSpPr>
            <p:cNvPr id="7" name="TextBox 7"/>
            <p:cNvSpPr txBox="1"/>
            <p:nvPr/>
          </p:nvSpPr>
          <p:spPr>
            <a:xfrm>
              <a:off x="0" y="1382251"/>
              <a:ext cx="11989073" cy="14731867"/>
            </a:xfrm>
            <a:prstGeom prst="rect">
              <a:avLst/>
            </a:prstGeom>
          </p:spPr>
          <p:txBody>
            <a:bodyPr anchor="t" bIns="0" lIns="0" rIns="0" rtlCol="0" tIns="0">
              <a:spAutoFit/>
            </a:bodyPr>
            <a:lstStyle/>
            <a:p>
              <a:pPr algn="l">
                <a:lnSpc>
                  <a:spcPts val="6319"/>
                </a:lnSpc>
              </a:pPr>
              <a:r>
                <a:rPr lang="en-US" sz="2859">
                  <a:solidFill>
                    <a:srgbClr val="EFEFEF"/>
                  </a:solidFill>
                  <a:latin typeface="Public Sans"/>
                  <a:ea typeface="Public Sans"/>
                  <a:cs typeface="Public Sans"/>
                  <a:sym typeface="Public Sans"/>
                </a:rPr>
                <a:t> </a:t>
              </a:r>
            </a:p>
            <a:p>
              <a:pPr algn="l">
                <a:lnSpc>
                  <a:spcPts val="6319"/>
                </a:lnSpc>
              </a:pPr>
              <a:endParaRPr lang="en-US" sz="2859">
                <a:solidFill>
                  <a:srgbClr val="EFEFEF"/>
                </a:solidFill>
                <a:latin typeface="Public Sans"/>
                <a:ea typeface="Public Sans"/>
                <a:cs typeface="Public Sans"/>
                <a:sym typeface="Public Sans"/>
              </a:endParaRPr>
            </a:p>
            <a:p>
              <a:pPr algn="l">
                <a:lnSpc>
                  <a:spcPts val="6319"/>
                </a:lnSpc>
              </a:pPr>
              <a:r>
                <a:rPr lang="en-US" sz="2859">
                  <a:solidFill>
                    <a:srgbClr val="EFEFEF"/>
                  </a:solidFill>
                  <a:latin typeface="Public Sans"/>
                  <a:ea typeface="Public Sans"/>
                  <a:cs typeface="Public Sans"/>
                  <a:sym typeface="Public Sans"/>
                </a:rPr>
                <a:t>Library Management System (Web-Based) Tech Stack: Python (backend), Django REST Framework (APIs), React.js (frontend), SQLite (database).</a:t>
              </a:r>
            </a:p>
            <a:p>
              <a:pPr algn="l">
                <a:lnSpc>
                  <a:spcPts val="6319"/>
                </a:lnSpc>
              </a:pPr>
              <a:r>
                <a:rPr lang="en-US" sz="2859">
                  <a:solidFill>
                    <a:srgbClr val="EFEFEF"/>
                  </a:solidFill>
                  <a:latin typeface="Public Sans"/>
                  <a:ea typeface="Public Sans"/>
                  <a:cs typeface="Public Sans"/>
                  <a:sym typeface="Public Sans"/>
                </a:rPr>
                <a:t> </a:t>
              </a:r>
              <a:r>
                <a:rPr b="1" lang="en-US" sz="2859">
                  <a:solidFill>
                    <a:srgbClr val="EFEFEF"/>
                  </a:solidFill>
                  <a:latin typeface="Public Sans Bold"/>
                  <a:ea typeface="Public Sans Bold"/>
                  <a:cs typeface="Public Sans Bold"/>
                  <a:sym typeface="Public Sans Bold"/>
                </a:rPr>
                <a:t>Core Operations</a:t>
              </a:r>
              <a:r>
                <a:rPr lang="en-US" sz="2859">
                  <a:solidFill>
                    <a:srgbClr val="EFEFEF"/>
                  </a:solidFill>
                  <a:latin typeface="Public Sans"/>
                  <a:ea typeface="Public Sans"/>
                  <a:cs typeface="Public Sans"/>
                  <a:sym typeface="Public Sans"/>
                </a:rPr>
                <a:t>:</a:t>
              </a:r>
            </a:p>
            <a:p>
              <a:pPr algn="l">
                <a:lnSpc>
                  <a:spcPts val="6319"/>
                </a:lnSpc>
              </a:pPr>
              <a:r>
                <a:rPr lang="en-US" sz="2859">
                  <a:solidFill>
                    <a:srgbClr val="EFEFEF"/>
                  </a:solidFill>
                  <a:latin typeface="Public Sans"/>
                  <a:ea typeface="Public Sans"/>
                  <a:cs typeface="Public Sans"/>
                  <a:sym typeface="Public Sans"/>
                </a:rPr>
                <a:t>          a.Add/Delete Books</a:t>
              </a:r>
            </a:p>
            <a:p>
              <a:pPr algn="l">
                <a:lnSpc>
                  <a:spcPts val="6319"/>
                </a:lnSpc>
              </a:pPr>
              <a:r>
                <a:rPr lang="en-US" sz="2859">
                  <a:solidFill>
                    <a:srgbClr val="EFEFEF"/>
                  </a:solidFill>
                  <a:latin typeface="Public Sans"/>
                  <a:ea typeface="Public Sans"/>
                  <a:cs typeface="Public Sans"/>
                  <a:sym typeface="Public Sans"/>
                </a:rPr>
                <a:t>          b.Borrow/Return Books</a:t>
              </a:r>
            </a:p>
            <a:p>
              <a:pPr algn="l">
                <a:lnSpc>
                  <a:spcPts val="6319"/>
                </a:lnSpc>
              </a:pPr>
              <a:r>
                <a:rPr lang="en-US" sz="2859">
                  <a:solidFill>
                    <a:srgbClr val="EFEFEF"/>
                  </a:solidFill>
                  <a:latin typeface="Public Sans"/>
                  <a:ea typeface="Public Sans"/>
                  <a:cs typeface="Public Sans"/>
                  <a:sym typeface="Public Sans"/>
                </a:rPr>
                <a:t>          c. Register/Manage Members</a:t>
              </a:r>
            </a:p>
            <a:p>
              <a:pPr algn="l">
                <a:lnSpc>
                  <a:spcPts val="6319"/>
                </a:lnSpc>
              </a:pPr>
              <a:r>
                <a:rPr lang="en-US" sz="2859">
                  <a:solidFill>
                    <a:srgbClr val="EFEFEF"/>
                  </a:solidFill>
                  <a:latin typeface="Public Sans"/>
                  <a:ea typeface="Public Sans"/>
                  <a:cs typeface="Public Sans"/>
                  <a:sym typeface="Public Sans"/>
                </a:rPr>
                <a:t>Goal: Build a modern, efficient, and automated library system with seamless integration of Django and React.</a:t>
              </a:r>
            </a:p>
            <a:p>
              <a:pPr algn="l">
                <a:lnSpc>
                  <a:spcPts val="6319"/>
                </a:lnSpc>
              </a:pPr>
              <a:endParaRPr lang="en-US" sz="2859">
                <a:solidFill>
                  <a:srgbClr val="EFEFEF"/>
                </a:solidFill>
                <a:latin typeface="Public Sans"/>
                <a:ea typeface="Public Sans"/>
                <a:cs typeface="Public Sans"/>
                <a:sym typeface="Public Sans"/>
              </a:endParaRPr>
            </a:p>
            <a:p>
              <a:pPr algn="l">
                <a:lnSpc>
                  <a:spcPts val="6319"/>
                </a:lnSpc>
              </a:pPr>
              <a:endParaRPr lang="en-US" sz="2859">
                <a:solidFill>
                  <a:srgbClr val="EFEFEF"/>
                </a:solidFill>
                <a:latin typeface="Public Sans"/>
                <a:ea typeface="Public Sans"/>
                <a:cs typeface="Public Sans"/>
                <a:sym typeface="Public Sans"/>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11230"/>
        </a:solidFill>
        <a:effectLst/>
      </p:bgPr>
    </p:bg>
    <p:spTree>
      <p:nvGrpSpPr>
        <p:cNvPr id="1" name=""/>
        <p:cNvGrpSpPr/>
        <p:nvPr/>
      </p:nvGrpSpPr>
      <p:grpSpPr>
        <a:xfrm>
          <a:off x="0" y="0"/>
          <a:ext cx="0" cy="0"/>
          <a:chOff x="0" y="0"/>
          <a:chExt cx="0" cy="0"/>
        </a:xfrm>
      </p:grpSpPr>
      <p:sp>
        <p:nvSpPr>
          <p:cNvPr id="2" name="TextBox 2"/>
          <p:cNvSpPr txBox="1"/>
          <p:nvPr/>
        </p:nvSpPr>
        <p:spPr>
          <a:xfrm>
            <a:off x="230547" y="1623047"/>
            <a:ext cx="8913453" cy="9080121"/>
          </a:xfrm>
          <a:prstGeom prst="rect">
            <a:avLst/>
          </a:prstGeom>
        </p:spPr>
        <p:txBody>
          <a:bodyPr lIns="0" tIns="0" rIns="0" bIns="0" rtlCol="0" anchor="t">
            <a:spAutoFit/>
          </a:bodyPr>
          <a:lstStyle/>
          <a:p>
            <a:pPr algn="l">
              <a:lnSpc>
                <a:spcPts val="6570"/>
              </a:lnSpc>
            </a:pPr>
            <a:endParaRPr/>
          </a:p>
          <a:p>
            <a:pPr marL="656715" lvl="1" indent="-328357" algn="l">
              <a:lnSpc>
                <a:spcPts val="6570"/>
              </a:lnSpc>
              <a:buAutoNum type="arabicPeriod"/>
            </a:pPr>
            <a:r>
              <a:rPr lang="en-US" sz="3041">
                <a:solidFill>
                  <a:srgbClr val="EFEFEF"/>
                </a:solidFill>
                <a:latin typeface="Public Sans"/>
                <a:ea typeface="Public Sans"/>
                <a:cs typeface="Public Sans"/>
                <a:sym typeface="Public Sans"/>
              </a:rPr>
              <a:t> Manual management </a:t>
            </a:r>
            <a:r>
              <a:rPr lang="en-US" sz="3041" u="none">
                <a:solidFill>
                  <a:srgbClr val="EFEFEF"/>
                </a:solidFill>
                <a:latin typeface="Public Sans"/>
                <a:ea typeface="Public Sans"/>
                <a:cs typeface="Public Sans"/>
                <a:sym typeface="Public Sans"/>
              </a:rPr>
              <a:t>is slow and error-prone</a:t>
            </a:r>
          </a:p>
          <a:p>
            <a:pPr marL="656715" lvl="1" indent="-328357" algn="l">
              <a:lnSpc>
                <a:spcPts val="6570"/>
              </a:lnSpc>
              <a:buAutoNum type="arabicPeriod"/>
            </a:pPr>
            <a:r>
              <a:rPr lang="en-US" sz="3041" u="none">
                <a:solidFill>
                  <a:srgbClr val="EFEFEF"/>
                </a:solidFill>
                <a:latin typeface="Public Sans"/>
                <a:ea typeface="Public Sans"/>
                <a:cs typeface="Public Sans"/>
                <a:sym typeface="Public Sans"/>
              </a:rPr>
              <a:t> Inefficient tracking of books and transactions</a:t>
            </a:r>
          </a:p>
          <a:p>
            <a:pPr marL="656715" lvl="1" indent="-328357" algn="l">
              <a:lnSpc>
                <a:spcPts val="6570"/>
              </a:lnSpc>
              <a:buAutoNum type="arabicPeriod"/>
            </a:pPr>
            <a:r>
              <a:rPr lang="en-US" sz="3041" u="none">
                <a:solidFill>
                  <a:srgbClr val="EFEFEF"/>
                </a:solidFill>
                <a:latin typeface="Public Sans"/>
                <a:ea typeface="Public Sans"/>
                <a:cs typeface="Public Sans"/>
                <a:sym typeface="Public Sans"/>
              </a:rPr>
              <a:t> Difficulty maintaining accurate, updated records</a:t>
            </a:r>
          </a:p>
          <a:p>
            <a:pPr marL="656715" lvl="1" indent="-328357" algn="l">
              <a:lnSpc>
                <a:spcPts val="6570"/>
              </a:lnSpc>
              <a:buAutoNum type="arabicPeriod"/>
            </a:pPr>
            <a:r>
              <a:rPr lang="en-US" sz="3041" u="none">
                <a:solidFill>
                  <a:srgbClr val="EFEFEF"/>
                </a:solidFill>
                <a:latin typeface="Public Sans"/>
                <a:ea typeface="Public Sans"/>
                <a:cs typeface="Public Sans"/>
                <a:sym typeface="Public Sans"/>
              </a:rPr>
              <a:t> Lack of user-friendly interfaces in existing systems</a:t>
            </a:r>
          </a:p>
          <a:p>
            <a:pPr marL="656715" lvl="1" indent="-328357" algn="l">
              <a:lnSpc>
                <a:spcPts val="6570"/>
              </a:lnSpc>
              <a:buAutoNum type="arabicPeriod"/>
            </a:pPr>
            <a:r>
              <a:rPr lang="en-US" sz="3041" u="none">
                <a:solidFill>
                  <a:srgbClr val="EFEFEF"/>
                </a:solidFill>
                <a:latin typeface="Public Sans"/>
                <a:ea typeface="Public Sans"/>
                <a:cs typeface="Public Sans"/>
                <a:sym typeface="Public Sans"/>
              </a:rPr>
              <a:t> Need for a modern, web-based automated solution</a:t>
            </a:r>
          </a:p>
          <a:p>
            <a:pPr algn="l">
              <a:lnSpc>
                <a:spcPts val="6570"/>
              </a:lnSpc>
            </a:pPr>
            <a:endParaRPr lang="en-US" sz="3041" u="none">
              <a:solidFill>
                <a:srgbClr val="EFEFEF"/>
              </a:solidFill>
              <a:latin typeface="Public Sans"/>
              <a:ea typeface="Public Sans"/>
              <a:cs typeface="Public Sans"/>
              <a:sym typeface="Public Sans"/>
            </a:endParaRPr>
          </a:p>
        </p:txBody>
      </p:sp>
      <p:grpSp>
        <p:nvGrpSpPr>
          <p:cNvPr id="3" name="Group 3"/>
          <p:cNvGrpSpPr/>
          <p:nvPr/>
        </p:nvGrpSpPr>
        <p:grpSpPr>
          <a:xfrm>
            <a:off x="402315" y="715530"/>
            <a:ext cx="17563145" cy="1416704"/>
            <a:chOff x="0" y="0"/>
            <a:chExt cx="4625684" cy="373124"/>
          </a:xfrm>
        </p:grpSpPr>
        <p:sp>
          <p:nvSpPr>
            <p:cNvPr id="4" name="Freeform 4"/>
            <p:cNvSpPr/>
            <p:nvPr/>
          </p:nvSpPr>
          <p:spPr>
            <a:xfrm>
              <a:off x="0" y="0"/>
              <a:ext cx="4625684" cy="373124"/>
            </a:xfrm>
            <a:custGeom>
              <a:avLst/>
              <a:gdLst/>
              <a:ahLst/>
              <a:cxnLst/>
              <a:rect l="l" t="t" r="r" b="b"/>
              <a:pathLst>
                <a:path w="4625684" h="373124">
                  <a:moveTo>
                    <a:pt x="0" y="0"/>
                  </a:moveTo>
                  <a:lnTo>
                    <a:pt x="4625684" y="0"/>
                  </a:lnTo>
                  <a:lnTo>
                    <a:pt x="4625684" y="373124"/>
                  </a:lnTo>
                  <a:lnTo>
                    <a:pt x="0" y="373124"/>
                  </a:lnTo>
                  <a:close/>
                </a:path>
              </a:pathLst>
            </a:custGeom>
            <a:solidFill>
              <a:srgbClr val="252634"/>
            </a:solidFill>
          </p:spPr>
        </p:sp>
        <p:sp>
          <p:nvSpPr>
            <p:cNvPr id="5" name="TextBox 5"/>
            <p:cNvSpPr txBox="1"/>
            <p:nvPr/>
          </p:nvSpPr>
          <p:spPr>
            <a:xfrm>
              <a:off x="0" y="-38100"/>
              <a:ext cx="4625684" cy="411224"/>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9358190" y="2132234"/>
            <a:ext cx="8929810" cy="7916549"/>
          </a:xfrm>
          <a:custGeom>
            <a:avLst/>
            <a:gdLst/>
            <a:ahLst/>
            <a:cxnLst/>
            <a:rect l="l" t="t" r="r" b="b"/>
            <a:pathLst>
              <a:path w="8929810" h="7916549">
                <a:moveTo>
                  <a:pt x="0" y="0"/>
                </a:moveTo>
                <a:lnTo>
                  <a:pt x="8929810" y="0"/>
                </a:lnTo>
                <a:lnTo>
                  <a:pt x="8929810" y="7916549"/>
                </a:lnTo>
                <a:lnTo>
                  <a:pt x="0" y="7916549"/>
                </a:lnTo>
                <a:lnTo>
                  <a:pt x="0" y="0"/>
                </a:lnTo>
                <a:close/>
              </a:path>
            </a:pathLst>
          </a:custGeom>
          <a:blipFill>
            <a:blip r:embed="rId2"/>
            <a:stretch>
              <a:fillRect t="-5077" b="-7722"/>
            </a:stretch>
          </a:blipFill>
        </p:spPr>
      </p:sp>
      <p:sp>
        <p:nvSpPr>
          <p:cNvPr id="7" name="TextBox 7"/>
          <p:cNvSpPr txBox="1"/>
          <p:nvPr/>
        </p:nvSpPr>
        <p:spPr>
          <a:xfrm>
            <a:off x="1028700" y="904875"/>
            <a:ext cx="17521540" cy="1028702"/>
          </a:xfrm>
          <a:prstGeom prst="rect">
            <a:avLst/>
          </a:prstGeom>
        </p:spPr>
        <p:txBody>
          <a:bodyPr lIns="0" tIns="0" rIns="0" bIns="0" rtlCol="0" anchor="t">
            <a:spAutoFit/>
          </a:bodyPr>
          <a:lstStyle/>
          <a:p>
            <a:pPr algn="ctr">
              <a:lnSpc>
                <a:spcPts val="8399"/>
              </a:lnSpc>
              <a:spcBef>
                <a:spcPct val="0"/>
              </a:spcBef>
            </a:pPr>
            <a:r>
              <a:rPr lang="en-US" sz="5999" b="1">
                <a:solidFill>
                  <a:srgbClr val="EFEFEF"/>
                </a:solidFill>
                <a:latin typeface="Public Sans Bold"/>
                <a:ea typeface="Public Sans Bold"/>
                <a:cs typeface="Public Sans Bold"/>
                <a:sym typeface="Public Sans Bold"/>
              </a:rPr>
              <a:t>Problem Statement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11230"/>
        </a:solidFill>
        <a:effectLst/>
      </p:bgPr>
    </p:bg>
    <p:spTree>
      <p:nvGrpSpPr>
        <p:cNvPr id="1" name=""/>
        <p:cNvGrpSpPr/>
        <p:nvPr/>
      </p:nvGrpSpPr>
      <p:grpSpPr>
        <a:xfrm>
          <a:off x="0" y="0"/>
          <a:ext cx="0" cy="0"/>
          <a:chOff x="0" y="0"/>
          <a:chExt cx="0" cy="0"/>
        </a:xfrm>
      </p:grpSpPr>
      <p:sp>
        <p:nvSpPr>
          <p:cNvPr id="2" name="Freeform 2"/>
          <p:cNvSpPr/>
          <p:nvPr/>
        </p:nvSpPr>
        <p:spPr>
          <a:xfrm>
            <a:off x="0" y="2047849"/>
            <a:ext cx="9144000" cy="7668501"/>
          </a:xfrm>
          <a:custGeom>
            <a:avLst/>
            <a:gdLst/>
            <a:ahLst/>
            <a:cxnLst/>
            <a:rect l="l" t="t" r="r" b="b"/>
            <a:pathLst>
              <a:path w="9144000" h="7668501">
                <a:moveTo>
                  <a:pt x="0" y="0"/>
                </a:moveTo>
                <a:lnTo>
                  <a:pt x="9144000" y="0"/>
                </a:lnTo>
                <a:lnTo>
                  <a:pt x="9144000" y="7668501"/>
                </a:lnTo>
                <a:lnTo>
                  <a:pt x="0" y="7668501"/>
                </a:lnTo>
                <a:lnTo>
                  <a:pt x="0" y="0"/>
                </a:lnTo>
                <a:close/>
              </a:path>
            </a:pathLst>
          </a:custGeom>
          <a:blipFill>
            <a:blip r:embed="rId2"/>
            <a:stretch>
              <a:fillRect l="-9902" t="-21008" r="-1547" b="-11885"/>
            </a:stretch>
          </a:blipFill>
        </p:spPr>
      </p:sp>
      <p:grpSp>
        <p:nvGrpSpPr>
          <p:cNvPr id="3" name="Group 3"/>
          <p:cNvGrpSpPr/>
          <p:nvPr/>
        </p:nvGrpSpPr>
        <p:grpSpPr>
          <a:xfrm>
            <a:off x="4726846" y="204224"/>
            <a:ext cx="9741078" cy="3000175"/>
            <a:chOff x="0" y="0"/>
            <a:chExt cx="12988104" cy="4000233"/>
          </a:xfrm>
        </p:grpSpPr>
        <p:sp>
          <p:nvSpPr>
            <p:cNvPr id="4" name="TextBox 4"/>
            <p:cNvSpPr txBox="1"/>
            <p:nvPr/>
          </p:nvSpPr>
          <p:spPr>
            <a:xfrm>
              <a:off x="0" y="-19050"/>
              <a:ext cx="12988104" cy="1454150"/>
            </a:xfrm>
            <a:prstGeom prst="rect">
              <a:avLst/>
            </a:prstGeom>
          </p:spPr>
          <p:txBody>
            <a:bodyPr lIns="0" tIns="0" rIns="0" bIns="0" rtlCol="0" anchor="t">
              <a:spAutoFit/>
            </a:bodyPr>
            <a:lstStyle/>
            <a:p>
              <a:pPr algn="ctr">
                <a:lnSpc>
                  <a:spcPts val="8520"/>
                </a:lnSpc>
              </a:pPr>
              <a:r>
                <a:rPr lang="en-US" sz="7100" b="1">
                  <a:solidFill>
                    <a:srgbClr val="FFFFFF"/>
                  </a:solidFill>
                  <a:latin typeface="Public Sans Bold"/>
                  <a:ea typeface="Public Sans Bold"/>
                  <a:cs typeface="Public Sans Bold"/>
                  <a:sym typeface="Public Sans Bold"/>
                </a:rPr>
                <a:t>Project Overview</a:t>
              </a:r>
            </a:p>
          </p:txBody>
        </p:sp>
        <p:sp>
          <p:nvSpPr>
            <p:cNvPr id="5" name="TextBox 5"/>
            <p:cNvSpPr txBox="1"/>
            <p:nvPr/>
          </p:nvSpPr>
          <p:spPr>
            <a:xfrm>
              <a:off x="0" y="3336658"/>
              <a:ext cx="12988104" cy="663575"/>
            </a:xfrm>
            <a:prstGeom prst="rect">
              <a:avLst/>
            </a:prstGeom>
          </p:spPr>
          <p:txBody>
            <a:bodyPr lIns="0" tIns="0" rIns="0" bIns="0" rtlCol="0" anchor="t">
              <a:spAutoFit/>
            </a:bodyPr>
            <a:lstStyle/>
            <a:p>
              <a:pPr marL="0" lvl="0" indent="0" algn="l">
                <a:lnSpc>
                  <a:spcPts val="4199"/>
                </a:lnSpc>
              </a:pPr>
              <a:endParaRPr/>
            </a:p>
          </p:txBody>
        </p:sp>
      </p:grpSp>
      <p:sp>
        <p:nvSpPr>
          <p:cNvPr id="6" name="TextBox 6"/>
          <p:cNvSpPr txBox="1"/>
          <p:nvPr/>
        </p:nvSpPr>
        <p:spPr>
          <a:xfrm>
            <a:off x="8972231" y="1205839"/>
            <a:ext cx="9148254" cy="8310880"/>
          </a:xfrm>
          <a:prstGeom prst="rect">
            <a:avLst/>
          </a:prstGeom>
        </p:spPr>
        <p:txBody>
          <a:bodyPr lIns="0" tIns="0" rIns="0" bIns="0" rtlCol="0" anchor="t">
            <a:spAutoFit/>
          </a:bodyPr>
          <a:lstStyle/>
          <a:p>
            <a:pPr algn="l">
              <a:lnSpc>
                <a:spcPts val="6019"/>
              </a:lnSpc>
            </a:pPr>
            <a:endParaRPr/>
          </a:p>
          <a:p>
            <a:pPr marL="604519" lvl="1" indent="-302260" algn="l">
              <a:lnSpc>
                <a:spcPts val="6019"/>
              </a:lnSpc>
              <a:buAutoNum type="arabicPeriod"/>
            </a:pPr>
            <a:r>
              <a:rPr lang="en-US" sz="2799">
                <a:solidFill>
                  <a:srgbClr val="FFFFFF"/>
                </a:solidFill>
                <a:latin typeface="Public Sans"/>
                <a:ea typeface="Public Sans"/>
                <a:cs typeface="Public Sans"/>
                <a:sym typeface="Public Sans"/>
              </a:rPr>
              <a:t>A full-stack web application for managing library operations.</a:t>
            </a:r>
          </a:p>
          <a:p>
            <a:pPr marL="604519" lvl="1" indent="-302260" algn="l">
              <a:lnSpc>
                <a:spcPts val="6019"/>
              </a:lnSpc>
              <a:buAutoNum type="arabicPeriod"/>
            </a:pPr>
            <a:r>
              <a:rPr lang="en-US" sz="2799">
                <a:solidFill>
                  <a:srgbClr val="FFFFFF"/>
                </a:solidFill>
                <a:latin typeface="Public Sans"/>
                <a:ea typeface="Public Sans"/>
                <a:cs typeface="Public Sans"/>
                <a:sym typeface="Public Sans"/>
              </a:rPr>
              <a:t>Frontend: React handles forms, lists, and UI.</a:t>
            </a:r>
          </a:p>
          <a:p>
            <a:pPr marL="604519" lvl="1" indent="-302260" algn="l">
              <a:lnSpc>
                <a:spcPts val="6019"/>
              </a:lnSpc>
              <a:buAutoNum type="arabicPeriod"/>
            </a:pPr>
            <a:r>
              <a:rPr lang="en-US" sz="2799">
                <a:solidFill>
                  <a:srgbClr val="FFFFFF"/>
                </a:solidFill>
                <a:latin typeface="Public Sans"/>
                <a:ea typeface="Public Sans"/>
                <a:cs typeface="Public Sans"/>
                <a:sym typeface="Public Sans"/>
              </a:rPr>
              <a:t>Backend: Django REST API validates requests and processes logic.</a:t>
            </a:r>
          </a:p>
          <a:p>
            <a:pPr marL="604519" lvl="1" indent="-302260" algn="l">
              <a:lnSpc>
                <a:spcPts val="6019"/>
              </a:lnSpc>
              <a:buAutoNum type="arabicPeriod"/>
            </a:pPr>
            <a:r>
              <a:rPr lang="en-US" sz="2799">
                <a:solidFill>
                  <a:srgbClr val="FFFFFF"/>
                </a:solidFill>
                <a:latin typeface="Public Sans"/>
                <a:ea typeface="Public Sans"/>
                <a:cs typeface="Public Sans"/>
                <a:sym typeface="Public Sans"/>
              </a:rPr>
              <a:t>Database: SQLite stores all books, members, and transactions.</a:t>
            </a:r>
          </a:p>
          <a:p>
            <a:pPr marL="604519" lvl="1" indent="-302260" algn="l">
              <a:lnSpc>
                <a:spcPts val="6019"/>
              </a:lnSpc>
              <a:buAutoNum type="arabicPeriod"/>
            </a:pPr>
            <a:r>
              <a:rPr lang="en-US" sz="2799">
                <a:solidFill>
                  <a:srgbClr val="FFFFFF"/>
                </a:solidFill>
                <a:latin typeface="Public Sans"/>
                <a:ea typeface="Public Sans"/>
                <a:cs typeface="Public Sans"/>
                <a:sym typeface="Public Sans"/>
              </a:rPr>
              <a:t>Python backend: Implements core logic using object-oriented principles and file handling </a:t>
            </a:r>
          </a:p>
          <a:p>
            <a:pPr algn="l">
              <a:lnSpc>
                <a:spcPts val="6019"/>
              </a:lnSpc>
            </a:pPr>
            <a:endParaRPr lang="en-US" sz="2799">
              <a:solidFill>
                <a:srgbClr val="FFFFFF"/>
              </a:solidFill>
              <a:latin typeface="Public Sans"/>
              <a:ea typeface="Public Sans"/>
              <a:cs typeface="Public Sans"/>
              <a:sym typeface="Public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11230"/>
        </a:solidFill>
        <a:effectLst/>
      </p:bgPr>
    </p:bg>
    <p:spTree>
      <p:nvGrpSpPr>
        <p:cNvPr id="1" name=""/>
        <p:cNvGrpSpPr/>
        <p:nvPr/>
      </p:nvGrpSpPr>
      <p:grpSpPr>
        <a:xfrm>
          <a:off x="0" y="0"/>
          <a:ext cx="0" cy="0"/>
          <a:chOff x="0" y="0"/>
          <a:chExt cx="0" cy="0"/>
        </a:xfrm>
      </p:grpSpPr>
      <p:sp>
        <p:nvSpPr>
          <p:cNvPr id="2" name="Freeform 2"/>
          <p:cNvSpPr/>
          <p:nvPr/>
        </p:nvSpPr>
        <p:spPr>
          <a:xfrm>
            <a:off x="9290314" y="1423141"/>
            <a:ext cx="8736739" cy="8665013"/>
          </a:xfrm>
          <a:custGeom>
            <a:avLst/>
            <a:gdLst/>
            <a:ahLst/>
            <a:cxnLst/>
            <a:rect l="l" t="t" r="r" b="b"/>
            <a:pathLst>
              <a:path w="8736739" h="8665013">
                <a:moveTo>
                  <a:pt x="0" y="0"/>
                </a:moveTo>
                <a:lnTo>
                  <a:pt x="8736740" y="0"/>
                </a:lnTo>
                <a:lnTo>
                  <a:pt x="8736740" y="8665013"/>
                </a:lnTo>
                <a:lnTo>
                  <a:pt x="0" y="8665013"/>
                </a:lnTo>
                <a:lnTo>
                  <a:pt x="0" y="0"/>
                </a:lnTo>
                <a:close/>
              </a:path>
            </a:pathLst>
          </a:custGeom>
          <a:blipFill>
            <a:blip r:embed="rId2"/>
            <a:stretch>
              <a:fillRect l="-6922" t="-1474" r="-1996" b="-8345"/>
            </a:stretch>
          </a:blipFill>
        </p:spPr>
      </p:sp>
      <p:sp>
        <p:nvSpPr>
          <p:cNvPr id="3" name="TextBox 3"/>
          <p:cNvSpPr txBox="1"/>
          <p:nvPr/>
        </p:nvSpPr>
        <p:spPr>
          <a:xfrm>
            <a:off x="2736301" y="241721"/>
            <a:ext cx="14522999" cy="1009652"/>
          </a:xfrm>
          <a:prstGeom prst="rect">
            <a:avLst/>
          </a:prstGeom>
        </p:spPr>
        <p:txBody>
          <a:bodyPr lIns="0" tIns="0" rIns="0" bIns="0" rtlCol="0" anchor="t">
            <a:spAutoFit/>
          </a:bodyPr>
          <a:lstStyle/>
          <a:p>
            <a:pPr algn="ctr">
              <a:lnSpc>
                <a:spcPts val="8399"/>
              </a:lnSpc>
            </a:pPr>
            <a:r>
              <a:rPr lang="en-US" sz="5999" b="1">
                <a:solidFill>
                  <a:srgbClr val="FFFFFF"/>
                </a:solidFill>
                <a:latin typeface="Canva Sans Bold"/>
                <a:ea typeface="Canva Sans Bold"/>
                <a:cs typeface="Canva Sans Bold"/>
                <a:sym typeface="Canva Sans Bold"/>
              </a:rPr>
              <a:t>Software Requirements</a:t>
            </a:r>
          </a:p>
        </p:txBody>
      </p:sp>
      <p:sp>
        <p:nvSpPr>
          <p:cNvPr id="4" name="TextBox 4"/>
          <p:cNvSpPr txBox="1"/>
          <p:nvPr/>
        </p:nvSpPr>
        <p:spPr>
          <a:xfrm>
            <a:off x="387888" y="1404304"/>
            <a:ext cx="8756112" cy="8807755"/>
          </a:xfrm>
          <a:prstGeom prst="rect">
            <a:avLst/>
          </a:prstGeom>
        </p:spPr>
        <p:txBody>
          <a:bodyPr lIns="0" tIns="0" rIns="0" bIns="0" rtlCol="0" anchor="t">
            <a:spAutoFit/>
          </a:bodyPr>
          <a:lstStyle/>
          <a:p>
            <a:pPr algn="l">
              <a:lnSpc>
                <a:spcPts val="4350"/>
              </a:lnSpc>
            </a:pPr>
            <a:r>
              <a:rPr lang="en-US" sz="2544">
                <a:solidFill>
                  <a:srgbClr val="FFFFFF"/>
                </a:solidFill>
                <a:latin typeface="Public Sans"/>
                <a:ea typeface="Public Sans"/>
                <a:cs typeface="Public Sans"/>
                <a:sym typeface="Public Sans"/>
              </a:rPr>
              <a:t>Programming Languages</a:t>
            </a:r>
          </a:p>
          <a:p>
            <a:pPr marL="549316" lvl="1" indent="-274658" algn="l">
              <a:lnSpc>
                <a:spcPts val="4350"/>
              </a:lnSpc>
              <a:buFont typeface="Arial"/>
              <a:buChar char="•"/>
            </a:pPr>
            <a:r>
              <a:rPr lang="en-US" sz="2544">
                <a:solidFill>
                  <a:srgbClr val="FFFFFF"/>
                </a:solidFill>
                <a:latin typeface="Public Sans"/>
                <a:ea typeface="Public Sans"/>
                <a:cs typeface="Public Sans"/>
                <a:sym typeface="Public Sans"/>
              </a:rPr>
              <a:t>Python 3.10+ , JavaScript </a:t>
            </a:r>
          </a:p>
          <a:p>
            <a:pPr algn="l">
              <a:lnSpc>
                <a:spcPts val="4350"/>
              </a:lnSpc>
            </a:pPr>
            <a:r>
              <a:rPr lang="en-US" sz="2544">
                <a:solidFill>
                  <a:srgbClr val="FFFFFF"/>
                </a:solidFill>
                <a:latin typeface="Public Sans"/>
                <a:ea typeface="Public Sans"/>
                <a:cs typeface="Public Sans"/>
                <a:sym typeface="Public Sans"/>
              </a:rPr>
              <a:t>Backend</a:t>
            </a:r>
          </a:p>
          <a:p>
            <a:pPr marL="549316" lvl="1" indent="-274658" algn="l">
              <a:lnSpc>
                <a:spcPts val="4350"/>
              </a:lnSpc>
              <a:buFont typeface="Arial"/>
              <a:buChar char="•"/>
            </a:pPr>
            <a:r>
              <a:rPr lang="en-US" sz="2544">
                <a:solidFill>
                  <a:srgbClr val="FFFFFF"/>
                </a:solidFill>
                <a:latin typeface="Public Sans"/>
                <a:ea typeface="Public Sans"/>
                <a:cs typeface="Public Sans"/>
                <a:sym typeface="Public Sans"/>
              </a:rPr>
              <a:t>Django 5.3,Django REST Framework </a:t>
            </a:r>
          </a:p>
          <a:p>
            <a:pPr marL="549316" lvl="1" indent="-274658" algn="l">
              <a:lnSpc>
                <a:spcPts val="4350"/>
              </a:lnSpc>
              <a:buFont typeface="Arial"/>
              <a:buChar char="•"/>
            </a:pPr>
            <a:r>
              <a:rPr lang="en-US" sz="2544">
                <a:solidFill>
                  <a:srgbClr val="FFFFFF"/>
                </a:solidFill>
                <a:latin typeface="Public Sans"/>
                <a:ea typeface="Public Sans"/>
                <a:cs typeface="Public Sans"/>
                <a:sym typeface="Public Sans"/>
              </a:rPr>
              <a:t>django-cors-headers </a:t>
            </a:r>
          </a:p>
          <a:p>
            <a:pPr algn="l">
              <a:lnSpc>
                <a:spcPts val="4350"/>
              </a:lnSpc>
            </a:pPr>
            <a:r>
              <a:rPr lang="en-US" sz="2544">
                <a:solidFill>
                  <a:srgbClr val="FFFFFF"/>
                </a:solidFill>
                <a:latin typeface="Public Sans"/>
                <a:ea typeface="Public Sans"/>
                <a:cs typeface="Public Sans"/>
                <a:sym typeface="Public Sans"/>
              </a:rPr>
              <a:t>Frontend</a:t>
            </a:r>
          </a:p>
          <a:p>
            <a:pPr marL="549316" lvl="1" indent="-274658" algn="l">
              <a:lnSpc>
                <a:spcPts val="4350"/>
              </a:lnSpc>
              <a:buFont typeface="Arial"/>
              <a:buChar char="•"/>
            </a:pPr>
            <a:r>
              <a:rPr lang="en-US" sz="2544">
                <a:solidFill>
                  <a:srgbClr val="FFFFFF"/>
                </a:solidFill>
                <a:latin typeface="Public Sans"/>
                <a:ea typeface="Public Sans"/>
                <a:cs typeface="Public Sans"/>
                <a:sym typeface="Public Sans"/>
              </a:rPr>
              <a:t>React.js , Axios </a:t>
            </a:r>
          </a:p>
          <a:p>
            <a:pPr algn="l">
              <a:lnSpc>
                <a:spcPts val="4350"/>
              </a:lnSpc>
            </a:pPr>
            <a:r>
              <a:rPr lang="en-US" sz="2544">
                <a:solidFill>
                  <a:srgbClr val="FFFFFF"/>
                </a:solidFill>
                <a:latin typeface="Public Sans"/>
                <a:ea typeface="Public Sans"/>
                <a:cs typeface="Public Sans"/>
                <a:sym typeface="Public Sans"/>
              </a:rPr>
              <a:t>Database</a:t>
            </a:r>
          </a:p>
          <a:p>
            <a:pPr marL="549316" lvl="1" indent="-274658" algn="l">
              <a:lnSpc>
                <a:spcPts val="4350"/>
              </a:lnSpc>
              <a:buFont typeface="Arial"/>
              <a:buChar char="•"/>
            </a:pPr>
            <a:r>
              <a:rPr lang="en-US" sz="2544">
                <a:solidFill>
                  <a:srgbClr val="FFFFFF"/>
                </a:solidFill>
                <a:latin typeface="Public Sans"/>
                <a:ea typeface="Public Sans"/>
                <a:cs typeface="Public Sans"/>
                <a:sym typeface="Public Sans"/>
              </a:rPr>
              <a:t>SQLite </a:t>
            </a:r>
          </a:p>
          <a:p>
            <a:pPr algn="l">
              <a:lnSpc>
                <a:spcPts val="4350"/>
              </a:lnSpc>
            </a:pPr>
            <a:r>
              <a:rPr lang="en-US" sz="2544">
                <a:solidFill>
                  <a:srgbClr val="FFFFFF"/>
                </a:solidFill>
                <a:latin typeface="Public Sans"/>
                <a:ea typeface="Public Sans"/>
                <a:cs typeface="Public Sans"/>
                <a:sym typeface="Public Sans"/>
              </a:rPr>
              <a:t>Development Tools</a:t>
            </a:r>
          </a:p>
          <a:p>
            <a:pPr marL="549316" lvl="1" indent="-274658" algn="l">
              <a:lnSpc>
                <a:spcPts val="4350"/>
              </a:lnSpc>
              <a:buFont typeface="Arial"/>
              <a:buChar char="•"/>
            </a:pPr>
            <a:r>
              <a:rPr lang="en-US" sz="2544">
                <a:solidFill>
                  <a:srgbClr val="FFFFFF"/>
                </a:solidFill>
                <a:latin typeface="Public Sans"/>
                <a:ea typeface="Public Sans"/>
                <a:cs typeface="Public Sans"/>
                <a:sym typeface="Public Sans"/>
              </a:rPr>
              <a:t>Node.js 18+ and npm</a:t>
            </a:r>
          </a:p>
          <a:p>
            <a:pPr marL="549316" lvl="1" indent="-274658" algn="l">
              <a:lnSpc>
                <a:spcPts val="4350"/>
              </a:lnSpc>
              <a:buFont typeface="Arial"/>
              <a:buChar char="•"/>
            </a:pPr>
            <a:r>
              <a:rPr lang="en-US" sz="2544">
                <a:solidFill>
                  <a:srgbClr val="FFFFFF"/>
                </a:solidFill>
                <a:latin typeface="Public Sans"/>
                <a:ea typeface="Public Sans"/>
                <a:cs typeface="Public Sans"/>
                <a:sym typeface="Public Sans"/>
              </a:rPr>
              <a:t>Code Editor </a:t>
            </a:r>
          </a:p>
          <a:p>
            <a:pPr algn="l">
              <a:lnSpc>
                <a:spcPts val="4350"/>
              </a:lnSpc>
            </a:pPr>
            <a:r>
              <a:rPr lang="en-US" sz="2544">
                <a:solidFill>
                  <a:srgbClr val="FFFFFF"/>
                </a:solidFill>
                <a:latin typeface="Public Sans"/>
                <a:ea typeface="Public Sans"/>
                <a:cs typeface="Public Sans"/>
                <a:sym typeface="Public Sans"/>
              </a:rPr>
              <a:t>Testing &amp; Deployment</a:t>
            </a:r>
          </a:p>
          <a:p>
            <a:pPr marL="549316" lvl="1" indent="-274658" algn="l">
              <a:lnSpc>
                <a:spcPts val="4350"/>
              </a:lnSpc>
              <a:buFont typeface="Arial"/>
              <a:buChar char="•"/>
            </a:pPr>
            <a:r>
              <a:rPr lang="en-US" sz="2544">
                <a:solidFill>
                  <a:srgbClr val="FFFFFF"/>
                </a:solidFill>
                <a:latin typeface="Public Sans"/>
                <a:ea typeface="Public Sans"/>
                <a:cs typeface="Public Sans"/>
                <a:sym typeface="Public Sans"/>
              </a:rPr>
              <a:t>Django Admin for backend testing</a:t>
            </a:r>
          </a:p>
          <a:p>
            <a:pPr marL="549316" lvl="1" indent="-274658" algn="l">
              <a:lnSpc>
                <a:spcPts val="4350"/>
              </a:lnSpc>
              <a:buFont typeface="Arial"/>
              <a:buChar char="•"/>
            </a:pPr>
            <a:r>
              <a:rPr lang="en-US" sz="2544">
                <a:solidFill>
                  <a:srgbClr val="FFFFFF"/>
                </a:solidFill>
                <a:latin typeface="Public Sans"/>
                <a:ea typeface="Public Sans"/>
                <a:cs typeface="Public Sans"/>
                <a:sym typeface="Public Sans"/>
              </a:rPr>
              <a:t>Browserfor frontend testing</a:t>
            </a:r>
          </a:p>
          <a:p>
            <a:pPr marL="549316" lvl="1" indent="-274658" algn="l">
              <a:lnSpc>
                <a:spcPts val="4350"/>
              </a:lnSpc>
              <a:buFont typeface="Arial"/>
              <a:buChar char="•"/>
            </a:pPr>
            <a:r>
              <a:rPr lang="en-US" sz="2544">
                <a:solidFill>
                  <a:srgbClr val="FFFFFF"/>
                </a:solidFill>
                <a:latin typeface="Public Sans"/>
                <a:ea typeface="Public Sans"/>
                <a:cs typeface="Public Sans"/>
                <a:sym typeface="Public Sans"/>
              </a:rPr>
              <a:t>Localhost server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11230"/>
        </a:solidFill>
        <a:effectLst/>
      </p:bgPr>
    </p:bg>
    <p:spTree>
      <p:nvGrpSpPr>
        <p:cNvPr id="1" name=""/>
        <p:cNvGrpSpPr/>
        <p:nvPr/>
      </p:nvGrpSpPr>
      <p:grpSpPr>
        <a:xfrm>
          <a:off x="0" y="0"/>
          <a:ext cx="0" cy="0"/>
          <a:chOff x="0" y="0"/>
          <a:chExt cx="0" cy="0"/>
        </a:xfrm>
      </p:grpSpPr>
      <p:sp>
        <p:nvSpPr>
          <p:cNvPr id="2" name="TextBox 2"/>
          <p:cNvSpPr txBox="1"/>
          <p:nvPr/>
        </p:nvSpPr>
        <p:spPr>
          <a:xfrm>
            <a:off x="379796" y="1513205"/>
            <a:ext cx="8764204" cy="7193915"/>
          </a:xfrm>
          <a:prstGeom prst="rect">
            <a:avLst/>
          </a:prstGeom>
        </p:spPr>
        <p:txBody>
          <a:bodyPr lIns="0" tIns="0" rIns="0" bIns="0" rtlCol="0" anchor="t">
            <a:spAutoFit/>
          </a:bodyPr>
          <a:lstStyle/>
          <a:p>
            <a:pPr algn="l">
              <a:lnSpc>
                <a:spcPts val="4059"/>
              </a:lnSpc>
              <a:spcBef>
                <a:spcPct val="0"/>
              </a:spcBef>
            </a:pPr>
            <a:r>
              <a:rPr lang="en-US" sz="2899">
                <a:solidFill>
                  <a:srgbClr val="FFFFFF"/>
                </a:solidFill>
                <a:latin typeface="Public Sans"/>
                <a:ea typeface="Public Sans"/>
                <a:cs typeface="Public Sans"/>
                <a:sym typeface="Public Sans"/>
              </a:rPr>
              <a:t>Software used: Python 3.8</a:t>
            </a:r>
          </a:p>
          <a:p>
            <a:pPr algn="l">
              <a:lnSpc>
                <a:spcPts val="4059"/>
              </a:lnSpc>
              <a:spcBef>
                <a:spcPct val="0"/>
              </a:spcBef>
            </a:pPr>
            <a:endParaRPr lang="en-US" sz="2899">
              <a:solidFill>
                <a:srgbClr val="FFFFFF"/>
              </a:solidFill>
              <a:latin typeface="Public Sans"/>
              <a:ea typeface="Public Sans"/>
              <a:cs typeface="Public Sans"/>
              <a:sym typeface="Public Sans"/>
            </a:endParaRPr>
          </a:p>
          <a:p>
            <a:pPr algn="l">
              <a:lnSpc>
                <a:spcPts val="4059"/>
              </a:lnSpc>
              <a:spcBef>
                <a:spcPct val="0"/>
              </a:spcBef>
            </a:pPr>
            <a:r>
              <a:rPr lang="en-US" sz="2899">
                <a:solidFill>
                  <a:srgbClr val="FFFFFF"/>
                </a:solidFill>
                <a:latin typeface="Public Sans"/>
                <a:ea typeface="Public Sans"/>
                <a:cs typeface="Public Sans"/>
                <a:sym typeface="Public Sans"/>
              </a:rPr>
              <a:t>Knowledge Required:</a:t>
            </a:r>
          </a:p>
          <a:p>
            <a:pPr marL="626109" lvl="1" indent="-313054" algn="l">
              <a:lnSpc>
                <a:spcPts val="4059"/>
              </a:lnSpc>
              <a:buAutoNum type="arabicPeriod"/>
            </a:pPr>
            <a:r>
              <a:rPr lang="en-US" sz="2899">
                <a:solidFill>
                  <a:srgbClr val="FFFFFF"/>
                </a:solidFill>
                <a:latin typeface="Public Sans"/>
                <a:ea typeface="Public Sans"/>
                <a:cs typeface="Public Sans"/>
                <a:sym typeface="Public Sans"/>
              </a:rPr>
              <a:t>Object-Oriented Programming </a:t>
            </a:r>
          </a:p>
          <a:p>
            <a:pPr marL="626109" lvl="1" indent="-313054" algn="l">
              <a:lnSpc>
                <a:spcPts val="4059"/>
              </a:lnSpc>
              <a:buAutoNum type="arabicPeriod"/>
            </a:pPr>
            <a:r>
              <a:rPr lang="en-US" sz="2899">
                <a:solidFill>
                  <a:srgbClr val="FFFFFF"/>
                </a:solidFill>
                <a:latin typeface="Public Sans"/>
                <a:ea typeface="Public Sans"/>
                <a:cs typeface="Public Sans"/>
                <a:sym typeface="Public Sans"/>
              </a:rPr>
              <a:t>File handling</a:t>
            </a:r>
          </a:p>
          <a:p>
            <a:pPr marL="626109" lvl="1" indent="-313054" algn="l">
              <a:lnSpc>
                <a:spcPts val="4059"/>
              </a:lnSpc>
              <a:buAutoNum type="arabicPeriod"/>
            </a:pPr>
            <a:r>
              <a:rPr lang="en-US" sz="2899">
                <a:solidFill>
                  <a:srgbClr val="FFFFFF"/>
                </a:solidFill>
                <a:latin typeface="Public Sans"/>
                <a:ea typeface="Public Sans"/>
                <a:cs typeface="Public Sans"/>
                <a:sym typeface="Public Sans"/>
              </a:rPr>
              <a:t>Dictionaries and Lists in Python?</a:t>
            </a:r>
          </a:p>
          <a:p>
            <a:pPr algn="l">
              <a:lnSpc>
                <a:spcPts val="4059"/>
              </a:lnSpc>
              <a:spcBef>
                <a:spcPct val="0"/>
              </a:spcBef>
            </a:pPr>
            <a:endParaRPr lang="en-US" sz="2899">
              <a:solidFill>
                <a:srgbClr val="FFFFFF"/>
              </a:solidFill>
              <a:latin typeface="Public Sans"/>
              <a:ea typeface="Public Sans"/>
              <a:cs typeface="Public Sans"/>
              <a:sym typeface="Public Sans"/>
            </a:endParaRPr>
          </a:p>
          <a:p>
            <a:pPr algn="l">
              <a:lnSpc>
                <a:spcPts val="4059"/>
              </a:lnSpc>
              <a:spcBef>
                <a:spcPct val="0"/>
              </a:spcBef>
            </a:pPr>
            <a:r>
              <a:rPr lang="en-US" sz="2899">
                <a:solidFill>
                  <a:srgbClr val="FFFFFF"/>
                </a:solidFill>
                <a:latin typeface="Public Sans"/>
                <a:ea typeface="Public Sans"/>
                <a:cs typeface="Public Sans"/>
                <a:sym typeface="Public Sans"/>
              </a:rPr>
              <a:t>Files Used:</a:t>
            </a:r>
          </a:p>
          <a:p>
            <a:pPr marL="626109" lvl="1" indent="-313054" algn="l">
              <a:lnSpc>
                <a:spcPts val="4059"/>
              </a:lnSpc>
              <a:buAutoNum type="arabicPeriod"/>
            </a:pPr>
            <a:r>
              <a:rPr lang="en-US" sz="2899">
                <a:solidFill>
                  <a:srgbClr val="FFFFFF"/>
                </a:solidFill>
                <a:latin typeface="Public Sans"/>
                <a:ea typeface="Public Sans"/>
                <a:cs typeface="Public Sans"/>
                <a:sym typeface="Public Sans"/>
              </a:rPr>
              <a:t>books.txt : store book data?</a:t>
            </a:r>
          </a:p>
          <a:p>
            <a:pPr marL="626109" lvl="1" indent="-313054" algn="l">
              <a:lnSpc>
                <a:spcPts val="4059"/>
              </a:lnSpc>
              <a:buAutoNum type="arabicPeriod"/>
            </a:pPr>
            <a:r>
              <a:rPr lang="en-US" sz="2899">
                <a:solidFill>
                  <a:srgbClr val="FFFFFF"/>
                </a:solidFill>
                <a:latin typeface="Public Sans"/>
                <a:ea typeface="Public Sans"/>
                <a:cs typeface="Public Sans"/>
                <a:sym typeface="Public Sans"/>
              </a:rPr>
              <a:t>members.txt : store member data</a:t>
            </a:r>
          </a:p>
          <a:p>
            <a:pPr algn="l">
              <a:lnSpc>
                <a:spcPts val="4059"/>
              </a:lnSpc>
              <a:spcBef>
                <a:spcPct val="0"/>
              </a:spcBef>
            </a:pPr>
            <a:endParaRPr lang="en-US" sz="2899">
              <a:solidFill>
                <a:srgbClr val="FFFFFF"/>
              </a:solidFill>
              <a:latin typeface="Public Sans"/>
              <a:ea typeface="Public Sans"/>
              <a:cs typeface="Public Sans"/>
              <a:sym typeface="Public Sans"/>
            </a:endParaRPr>
          </a:p>
          <a:p>
            <a:pPr algn="l">
              <a:lnSpc>
                <a:spcPts val="4059"/>
              </a:lnSpc>
              <a:spcBef>
                <a:spcPct val="0"/>
              </a:spcBef>
            </a:pPr>
            <a:r>
              <a:rPr lang="en-US" sz="2899">
                <a:solidFill>
                  <a:srgbClr val="FFFFFF"/>
                </a:solidFill>
                <a:latin typeface="Public Sans"/>
                <a:ea typeface="Public Sans"/>
                <a:cs typeface="Public Sans"/>
                <a:sym typeface="Public Sans"/>
              </a:rPr>
              <a:t>Modules Used:</a:t>
            </a:r>
          </a:p>
          <a:p>
            <a:pPr marL="626109" lvl="1" indent="-313054" algn="l">
              <a:lnSpc>
                <a:spcPts val="4059"/>
              </a:lnSpc>
              <a:buAutoNum type="arabicPeriod"/>
            </a:pPr>
            <a:r>
              <a:rPr lang="en-US" sz="2899">
                <a:solidFill>
                  <a:srgbClr val="FFFFFF"/>
                </a:solidFill>
                <a:latin typeface="Public Sans"/>
                <a:ea typeface="Public Sans"/>
                <a:cs typeface="Public Sans"/>
                <a:sym typeface="Public Sans"/>
              </a:rPr>
              <a:t>os : check file existence?</a:t>
            </a:r>
          </a:p>
          <a:p>
            <a:pPr marL="626109" lvl="1" indent="-313054" algn="l">
              <a:lnSpc>
                <a:spcPts val="4059"/>
              </a:lnSpc>
              <a:buAutoNum type="arabicPeriod"/>
            </a:pPr>
            <a:r>
              <a:rPr lang="en-US" sz="2899">
                <a:solidFill>
                  <a:srgbClr val="FFFFFF"/>
                </a:solidFill>
                <a:latin typeface="Public Sans"/>
                <a:ea typeface="Public Sans"/>
                <a:cs typeface="Public Sans"/>
                <a:sym typeface="Public Sans"/>
              </a:rPr>
              <a:t>typing : add type annotations</a:t>
            </a:r>
          </a:p>
        </p:txBody>
      </p:sp>
      <p:sp>
        <p:nvSpPr>
          <p:cNvPr id="3" name="Freeform 3"/>
          <p:cNvSpPr/>
          <p:nvPr/>
        </p:nvSpPr>
        <p:spPr>
          <a:xfrm>
            <a:off x="9144000" y="1579880"/>
            <a:ext cx="9144000" cy="8498951"/>
          </a:xfrm>
          <a:custGeom>
            <a:avLst/>
            <a:gdLst/>
            <a:ahLst/>
            <a:cxnLst/>
            <a:rect l="l" t="t" r="r" b="b"/>
            <a:pathLst>
              <a:path w="9144000" h="8498951">
                <a:moveTo>
                  <a:pt x="0" y="0"/>
                </a:moveTo>
                <a:lnTo>
                  <a:pt x="9144000" y="0"/>
                </a:lnTo>
                <a:lnTo>
                  <a:pt x="9144000" y="8498951"/>
                </a:lnTo>
                <a:lnTo>
                  <a:pt x="0" y="8498951"/>
                </a:lnTo>
                <a:lnTo>
                  <a:pt x="0" y="0"/>
                </a:lnTo>
                <a:close/>
              </a:path>
            </a:pathLst>
          </a:custGeom>
          <a:blipFill>
            <a:blip r:embed="rId2"/>
            <a:stretch>
              <a:fillRect t="-4412" b="-3177"/>
            </a:stretch>
          </a:blipFill>
        </p:spPr>
      </p:sp>
      <p:sp>
        <p:nvSpPr>
          <p:cNvPr id="4" name="TextBox 4"/>
          <p:cNvSpPr txBox="1"/>
          <p:nvPr/>
        </p:nvSpPr>
        <p:spPr>
          <a:xfrm>
            <a:off x="921044" y="279187"/>
            <a:ext cx="16338256" cy="936625"/>
          </a:xfrm>
          <a:prstGeom prst="rect">
            <a:avLst/>
          </a:prstGeom>
        </p:spPr>
        <p:txBody>
          <a:bodyPr lIns="0" tIns="0" rIns="0" bIns="0" rtlCol="0" anchor="t">
            <a:spAutoFit/>
          </a:bodyPr>
          <a:lstStyle/>
          <a:p>
            <a:pPr algn="ctr">
              <a:lnSpc>
                <a:spcPts val="7699"/>
              </a:lnSpc>
              <a:spcBef>
                <a:spcPct val="0"/>
              </a:spcBef>
            </a:pPr>
            <a:r>
              <a:rPr lang="en-US" sz="5499" b="1">
                <a:solidFill>
                  <a:srgbClr val="FFFFFF"/>
                </a:solidFill>
                <a:latin typeface="Public Sans Bold"/>
                <a:ea typeface="Public Sans Bold"/>
                <a:cs typeface="Public Sans Bold"/>
                <a:sym typeface="Public Sans Bold"/>
              </a:rPr>
              <a:t>         Software Requirements-Python bakend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11230"/>
        </a:solidFill>
        <a:effectLst/>
      </p:bgPr>
    </p:bg>
    <p:spTree>
      <p:nvGrpSpPr>
        <p:cNvPr id="1" name=""/>
        <p:cNvGrpSpPr/>
        <p:nvPr/>
      </p:nvGrpSpPr>
      <p:grpSpPr>
        <a:xfrm>
          <a:off x="0" y="0"/>
          <a:ext cx="0" cy="0"/>
          <a:chOff x="0" y="0"/>
          <a:chExt cx="0" cy="0"/>
        </a:xfrm>
      </p:grpSpPr>
      <p:sp>
        <p:nvSpPr>
          <p:cNvPr id="2" name="Freeform 2"/>
          <p:cNvSpPr/>
          <p:nvPr/>
        </p:nvSpPr>
        <p:spPr>
          <a:xfrm>
            <a:off x="6766957" y="1028700"/>
            <a:ext cx="11173370" cy="9052024"/>
          </a:xfrm>
          <a:custGeom>
            <a:avLst/>
            <a:gdLst/>
            <a:ahLst/>
            <a:cxnLst/>
            <a:rect l="l" t="t" r="r" b="b"/>
            <a:pathLst>
              <a:path w="11173370" h="9052024">
                <a:moveTo>
                  <a:pt x="0" y="0"/>
                </a:moveTo>
                <a:lnTo>
                  <a:pt x="11173370" y="0"/>
                </a:lnTo>
                <a:lnTo>
                  <a:pt x="11173370" y="9052024"/>
                </a:lnTo>
                <a:lnTo>
                  <a:pt x="0" y="9052024"/>
                </a:lnTo>
                <a:lnTo>
                  <a:pt x="0" y="0"/>
                </a:lnTo>
                <a:close/>
              </a:path>
            </a:pathLst>
          </a:custGeom>
          <a:blipFill>
            <a:blip r:embed="rId2"/>
            <a:stretch>
              <a:fillRect l="-4209" t="-13761" r="-3111" b="-18710"/>
            </a:stretch>
          </a:blipFill>
        </p:spPr>
      </p:sp>
      <p:sp>
        <p:nvSpPr>
          <p:cNvPr id="3" name="TextBox 3"/>
          <p:cNvSpPr txBox="1"/>
          <p:nvPr/>
        </p:nvSpPr>
        <p:spPr>
          <a:xfrm>
            <a:off x="555303" y="3930952"/>
            <a:ext cx="5531346" cy="1212548"/>
          </a:xfrm>
          <a:prstGeom prst="rect">
            <a:avLst/>
          </a:prstGeom>
        </p:spPr>
        <p:txBody>
          <a:bodyPr lIns="0" tIns="0" rIns="0" bIns="0" rtlCol="0" anchor="t">
            <a:spAutoFit/>
          </a:bodyPr>
          <a:lstStyle/>
          <a:p>
            <a:pPr algn="ctr">
              <a:lnSpc>
                <a:spcPts val="9816"/>
              </a:lnSpc>
              <a:spcBef>
                <a:spcPct val="0"/>
              </a:spcBef>
            </a:pPr>
            <a:r>
              <a:rPr lang="en-US" sz="7011" b="1">
                <a:solidFill>
                  <a:srgbClr val="FFFFFF"/>
                </a:solidFill>
                <a:latin typeface="Public Sans Bold"/>
                <a:ea typeface="Public Sans Bold"/>
                <a:cs typeface="Public Sans Bold"/>
                <a:sym typeface="Public Sans Bold"/>
              </a:rPr>
              <a:t>Key Features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11230"/>
        </a:solidFill>
        <a:effectLst/>
      </p:bgPr>
    </p:bg>
    <p:spTree>
      <p:nvGrpSpPr>
        <p:cNvPr id="1" name=""/>
        <p:cNvGrpSpPr/>
        <p:nvPr/>
      </p:nvGrpSpPr>
      <p:grpSpPr>
        <a:xfrm>
          <a:off x="0" y="0"/>
          <a:ext cx="0" cy="0"/>
          <a:chOff x="0" y="0"/>
          <a:chExt cx="0" cy="0"/>
        </a:xfrm>
      </p:grpSpPr>
      <p:sp>
        <p:nvSpPr>
          <p:cNvPr id="2" name="TextBox 2"/>
          <p:cNvSpPr txBox="1"/>
          <p:nvPr/>
        </p:nvSpPr>
        <p:spPr>
          <a:xfrm>
            <a:off x="1028700" y="1009650"/>
            <a:ext cx="11348896" cy="1095375"/>
          </a:xfrm>
          <a:prstGeom prst="rect">
            <a:avLst/>
          </a:prstGeom>
        </p:spPr>
        <p:txBody>
          <a:bodyPr lIns="0" tIns="0" rIns="0" bIns="0" rtlCol="0" anchor="t">
            <a:spAutoFit/>
          </a:bodyPr>
          <a:lstStyle/>
          <a:p>
            <a:pPr algn="l">
              <a:lnSpc>
                <a:spcPts val="8520"/>
              </a:lnSpc>
            </a:pPr>
            <a:r>
              <a:rPr lang="en-US" sz="7100" b="1">
                <a:solidFill>
                  <a:srgbClr val="EFEFEF"/>
                </a:solidFill>
                <a:latin typeface="Public Sans Bold"/>
                <a:ea typeface="Public Sans Bold"/>
                <a:cs typeface="Public Sans Bold"/>
                <a:sym typeface="Public Sans Bold"/>
              </a:rPr>
              <a:t>Key Features</a:t>
            </a:r>
          </a:p>
        </p:txBody>
      </p:sp>
      <p:sp>
        <p:nvSpPr>
          <p:cNvPr id="3" name="TextBox 3"/>
          <p:cNvSpPr txBox="1"/>
          <p:nvPr/>
        </p:nvSpPr>
        <p:spPr>
          <a:xfrm>
            <a:off x="10879628" y="2912194"/>
            <a:ext cx="6494185" cy="2085976"/>
          </a:xfrm>
          <a:prstGeom prst="rect">
            <a:avLst/>
          </a:prstGeom>
        </p:spPr>
        <p:txBody>
          <a:bodyPr lIns="0" tIns="0" rIns="0" bIns="0" rtlCol="0" anchor="t">
            <a:spAutoFit/>
          </a:bodyPr>
          <a:lstStyle/>
          <a:p>
            <a:pPr algn="l">
              <a:lnSpc>
                <a:spcPts val="4199"/>
              </a:lnSpc>
            </a:pPr>
            <a:r>
              <a:rPr lang="en-US" sz="2999">
                <a:solidFill>
                  <a:srgbClr val="EFEFEF"/>
                </a:solidFill>
                <a:latin typeface="Public Sans"/>
                <a:ea typeface="Public Sans"/>
                <a:cs typeface="Public Sans"/>
                <a:sym typeface="Public Sans"/>
              </a:rPr>
              <a:t>Track book availability in real time.Automate book and member management with CRUD functionality.</a:t>
            </a:r>
          </a:p>
        </p:txBody>
      </p:sp>
      <p:sp>
        <p:nvSpPr>
          <p:cNvPr id="4" name="AutoShape 4"/>
          <p:cNvSpPr/>
          <p:nvPr/>
        </p:nvSpPr>
        <p:spPr>
          <a:xfrm>
            <a:off x="926880" y="5195887"/>
            <a:ext cx="16230600" cy="0"/>
          </a:xfrm>
          <a:prstGeom prst="line">
            <a:avLst/>
          </a:prstGeom>
          <a:ln w="9525" cap="flat">
            <a:solidFill>
              <a:srgbClr val="EFEFEF"/>
            </a:solidFill>
            <a:prstDash val="solid"/>
            <a:headEnd type="none" w="sm" len="sm"/>
            <a:tailEnd type="none" w="sm" len="sm"/>
          </a:ln>
        </p:spPr>
      </p:sp>
      <p:sp>
        <p:nvSpPr>
          <p:cNvPr id="5" name="AutoShape 5"/>
          <p:cNvSpPr/>
          <p:nvPr/>
        </p:nvSpPr>
        <p:spPr>
          <a:xfrm>
            <a:off x="926880" y="7673372"/>
            <a:ext cx="16230600" cy="0"/>
          </a:xfrm>
          <a:prstGeom prst="line">
            <a:avLst/>
          </a:prstGeom>
          <a:ln w="9525" cap="flat">
            <a:solidFill>
              <a:srgbClr val="EFEFEF"/>
            </a:solidFill>
            <a:prstDash val="solid"/>
            <a:headEnd type="none" w="sm" len="sm"/>
            <a:tailEnd type="none" w="sm" len="sm"/>
          </a:ln>
        </p:spPr>
      </p:sp>
      <p:sp>
        <p:nvSpPr>
          <p:cNvPr id="6" name="TextBox 6"/>
          <p:cNvSpPr txBox="1"/>
          <p:nvPr/>
        </p:nvSpPr>
        <p:spPr>
          <a:xfrm>
            <a:off x="10879628" y="5939822"/>
            <a:ext cx="5888358" cy="1038226"/>
          </a:xfrm>
          <a:prstGeom prst="rect">
            <a:avLst/>
          </a:prstGeom>
        </p:spPr>
        <p:txBody>
          <a:bodyPr lIns="0" tIns="0" rIns="0" bIns="0" rtlCol="0" anchor="t">
            <a:spAutoFit/>
          </a:bodyPr>
          <a:lstStyle/>
          <a:p>
            <a:pPr algn="l">
              <a:lnSpc>
                <a:spcPts val="4199"/>
              </a:lnSpc>
            </a:pPr>
            <a:r>
              <a:rPr lang="en-US" sz="2999">
                <a:solidFill>
                  <a:srgbClr val="EFEFEF"/>
                </a:solidFill>
                <a:latin typeface="Public Sans"/>
                <a:ea typeface="Public Sans"/>
                <a:cs typeface="Public Sans"/>
                <a:sym typeface="Public Sans"/>
              </a:rPr>
              <a:t>Powerful Django Admin Panel for librarians to manage everything.</a:t>
            </a:r>
          </a:p>
        </p:txBody>
      </p:sp>
      <p:sp>
        <p:nvSpPr>
          <p:cNvPr id="7" name="TextBox 7"/>
          <p:cNvSpPr txBox="1"/>
          <p:nvPr/>
        </p:nvSpPr>
        <p:spPr>
          <a:xfrm>
            <a:off x="10879628" y="8314412"/>
            <a:ext cx="5735674" cy="1562101"/>
          </a:xfrm>
          <a:prstGeom prst="rect">
            <a:avLst/>
          </a:prstGeom>
        </p:spPr>
        <p:txBody>
          <a:bodyPr lIns="0" tIns="0" rIns="0" bIns="0" rtlCol="0" anchor="t">
            <a:spAutoFit/>
          </a:bodyPr>
          <a:lstStyle/>
          <a:p>
            <a:pPr algn="l">
              <a:lnSpc>
                <a:spcPts val="4199"/>
              </a:lnSpc>
            </a:pPr>
            <a:r>
              <a:rPr lang="en-US" sz="2999">
                <a:solidFill>
                  <a:srgbClr val="EFEFEF"/>
                </a:solidFill>
                <a:latin typeface="Public Sans"/>
                <a:ea typeface="Public Sans"/>
                <a:cs typeface="Public Sans"/>
                <a:sym typeface="Public Sans"/>
              </a:rPr>
              <a:t>Modern, responsive UI built with React.</a:t>
            </a:r>
          </a:p>
          <a:p>
            <a:pPr algn="l">
              <a:lnSpc>
                <a:spcPts val="4199"/>
              </a:lnSpc>
            </a:pPr>
            <a:endParaRPr lang="en-US" sz="2999">
              <a:solidFill>
                <a:srgbClr val="EFEFEF"/>
              </a:solidFill>
              <a:latin typeface="Public Sans"/>
              <a:ea typeface="Public Sans"/>
              <a:cs typeface="Public Sans"/>
              <a:sym typeface="Public Sans"/>
            </a:endParaRPr>
          </a:p>
        </p:txBody>
      </p:sp>
      <p:sp>
        <p:nvSpPr>
          <p:cNvPr id="8" name="TextBox 8"/>
          <p:cNvSpPr txBox="1"/>
          <p:nvPr/>
        </p:nvSpPr>
        <p:spPr>
          <a:xfrm>
            <a:off x="1838125" y="8314412"/>
            <a:ext cx="6867190" cy="1038225"/>
          </a:xfrm>
          <a:prstGeom prst="rect">
            <a:avLst/>
          </a:prstGeom>
        </p:spPr>
        <p:txBody>
          <a:bodyPr lIns="0" tIns="0" rIns="0" bIns="0" rtlCol="0" anchor="t">
            <a:spAutoFit/>
          </a:bodyPr>
          <a:lstStyle/>
          <a:p>
            <a:pPr marL="0" lvl="0" indent="0" algn="l">
              <a:lnSpc>
                <a:spcPts val="4199"/>
              </a:lnSpc>
            </a:pPr>
            <a:r>
              <a:rPr lang="en-US" sz="2999">
                <a:solidFill>
                  <a:srgbClr val="EFEFEF"/>
                </a:solidFill>
                <a:latin typeface="Public Sans"/>
                <a:ea typeface="Public Sans"/>
                <a:cs typeface="Public Sans"/>
                <a:sym typeface="Public Sans"/>
              </a:rPr>
              <a:t>B</a:t>
            </a:r>
            <a:r>
              <a:rPr lang="en-US" sz="2999" u="none">
                <a:solidFill>
                  <a:srgbClr val="EFEFEF"/>
                </a:solidFill>
                <a:latin typeface="Public Sans"/>
                <a:ea typeface="Public Sans"/>
                <a:cs typeface="Public Sans"/>
                <a:sym typeface="Public Sans"/>
              </a:rPr>
              <a:t>orrow and return book workflows with validations.</a:t>
            </a:r>
          </a:p>
        </p:txBody>
      </p:sp>
      <p:sp>
        <p:nvSpPr>
          <p:cNvPr id="9" name="Freeform 9"/>
          <p:cNvSpPr/>
          <p:nvPr/>
        </p:nvSpPr>
        <p:spPr>
          <a:xfrm flipH="1">
            <a:off x="1028700" y="3283173"/>
            <a:ext cx="264583" cy="439142"/>
          </a:xfrm>
          <a:custGeom>
            <a:avLst/>
            <a:gdLst/>
            <a:ahLst/>
            <a:cxnLst/>
            <a:rect l="l" t="t" r="r" b="b"/>
            <a:pathLst>
              <a:path w="264583" h="439142">
                <a:moveTo>
                  <a:pt x="264583" y="0"/>
                </a:moveTo>
                <a:lnTo>
                  <a:pt x="0" y="0"/>
                </a:lnTo>
                <a:lnTo>
                  <a:pt x="0" y="439142"/>
                </a:lnTo>
                <a:lnTo>
                  <a:pt x="264583" y="439142"/>
                </a:lnTo>
                <a:lnTo>
                  <a:pt x="264583"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flipH="1">
            <a:off x="1028700" y="6183767"/>
            <a:ext cx="264583" cy="439142"/>
          </a:xfrm>
          <a:custGeom>
            <a:avLst/>
            <a:gdLst/>
            <a:ahLst/>
            <a:cxnLst/>
            <a:rect l="l" t="t" r="r" b="b"/>
            <a:pathLst>
              <a:path w="264583" h="439142">
                <a:moveTo>
                  <a:pt x="264583" y="0"/>
                </a:moveTo>
                <a:lnTo>
                  <a:pt x="0" y="0"/>
                </a:lnTo>
                <a:lnTo>
                  <a:pt x="0" y="439143"/>
                </a:lnTo>
                <a:lnTo>
                  <a:pt x="264583" y="439143"/>
                </a:lnTo>
                <a:lnTo>
                  <a:pt x="264583"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Freeform 11"/>
          <p:cNvSpPr/>
          <p:nvPr/>
        </p:nvSpPr>
        <p:spPr>
          <a:xfrm flipH="1">
            <a:off x="1028700" y="8552954"/>
            <a:ext cx="264583" cy="439142"/>
          </a:xfrm>
          <a:custGeom>
            <a:avLst/>
            <a:gdLst/>
            <a:ahLst/>
            <a:cxnLst/>
            <a:rect l="l" t="t" r="r" b="b"/>
            <a:pathLst>
              <a:path w="264583" h="439142">
                <a:moveTo>
                  <a:pt x="264583" y="0"/>
                </a:moveTo>
                <a:lnTo>
                  <a:pt x="0" y="0"/>
                </a:lnTo>
                <a:lnTo>
                  <a:pt x="0" y="439142"/>
                </a:lnTo>
                <a:lnTo>
                  <a:pt x="264583" y="439142"/>
                </a:lnTo>
                <a:lnTo>
                  <a:pt x="264583"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flipH="1">
            <a:off x="10290592" y="6183767"/>
            <a:ext cx="264583" cy="439142"/>
          </a:xfrm>
          <a:custGeom>
            <a:avLst/>
            <a:gdLst/>
            <a:ahLst/>
            <a:cxnLst/>
            <a:rect l="l" t="t" r="r" b="b"/>
            <a:pathLst>
              <a:path w="264583" h="439142">
                <a:moveTo>
                  <a:pt x="264584" y="0"/>
                </a:moveTo>
                <a:lnTo>
                  <a:pt x="0" y="0"/>
                </a:lnTo>
                <a:lnTo>
                  <a:pt x="0" y="439143"/>
                </a:lnTo>
                <a:lnTo>
                  <a:pt x="264584" y="439143"/>
                </a:lnTo>
                <a:lnTo>
                  <a:pt x="264584"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flipH="1">
            <a:off x="10290592" y="8427720"/>
            <a:ext cx="264583" cy="439142"/>
          </a:xfrm>
          <a:custGeom>
            <a:avLst/>
            <a:gdLst/>
            <a:ahLst/>
            <a:cxnLst/>
            <a:rect l="l" t="t" r="r" b="b"/>
            <a:pathLst>
              <a:path w="264583" h="439142">
                <a:moveTo>
                  <a:pt x="264584" y="0"/>
                </a:moveTo>
                <a:lnTo>
                  <a:pt x="0" y="0"/>
                </a:lnTo>
                <a:lnTo>
                  <a:pt x="0" y="439142"/>
                </a:lnTo>
                <a:lnTo>
                  <a:pt x="264584" y="439142"/>
                </a:lnTo>
                <a:lnTo>
                  <a:pt x="264584"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4" name="Freeform 14"/>
          <p:cNvSpPr/>
          <p:nvPr/>
        </p:nvSpPr>
        <p:spPr>
          <a:xfrm flipH="1">
            <a:off x="10290592" y="3283173"/>
            <a:ext cx="264583" cy="439142"/>
          </a:xfrm>
          <a:custGeom>
            <a:avLst/>
            <a:gdLst/>
            <a:ahLst/>
            <a:cxnLst/>
            <a:rect l="l" t="t" r="r" b="b"/>
            <a:pathLst>
              <a:path w="264583" h="439142">
                <a:moveTo>
                  <a:pt x="264584" y="0"/>
                </a:moveTo>
                <a:lnTo>
                  <a:pt x="0" y="0"/>
                </a:lnTo>
                <a:lnTo>
                  <a:pt x="0" y="439142"/>
                </a:lnTo>
                <a:lnTo>
                  <a:pt x="264584" y="439142"/>
                </a:lnTo>
                <a:lnTo>
                  <a:pt x="264584"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TextBox 15"/>
          <p:cNvSpPr txBox="1"/>
          <p:nvPr/>
        </p:nvSpPr>
        <p:spPr>
          <a:xfrm>
            <a:off x="1838125" y="5939822"/>
            <a:ext cx="5587380" cy="1038225"/>
          </a:xfrm>
          <a:prstGeom prst="rect">
            <a:avLst/>
          </a:prstGeom>
        </p:spPr>
        <p:txBody>
          <a:bodyPr lIns="0" tIns="0" rIns="0" bIns="0" rtlCol="0" anchor="t">
            <a:spAutoFit/>
          </a:bodyPr>
          <a:lstStyle/>
          <a:p>
            <a:pPr algn="l">
              <a:lnSpc>
                <a:spcPts val="4199"/>
              </a:lnSpc>
              <a:spcBef>
                <a:spcPct val="0"/>
              </a:spcBef>
            </a:pPr>
            <a:r>
              <a:rPr lang="en-US" sz="2999">
                <a:solidFill>
                  <a:srgbClr val="EFEFEF"/>
                </a:solidFill>
                <a:latin typeface="Public Sans"/>
                <a:ea typeface="Public Sans"/>
                <a:cs typeface="Public Sans"/>
                <a:sym typeface="Public Sans"/>
              </a:rPr>
              <a:t>Register and manage members </a:t>
            </a:r>
          </a:p>
          <a:p>
            <a:pPr algn="l">
              <a:lnSpc>
                <a:spcPts val="4199"/>
              </a:lnSpc>
              <a:spcBef>
                <a:spcPct val="0"/>
              </a:spcBef>
            </a:pPr>
            <a:r>
              <a:rPr lang="en-US" sz="2999">
                <a:solidFill>
                  <a:srgbClr val="EFEFEF"/>
                </a:solidFill>
                <a:latin typeface="Public Sans"/>
                <a:ea typeface="Public Sans"/>
                <a:cs typeface="Public Sans"/>
                <a:sym typeface="Public Sans"/>
              </a:rPr>
              <a:t>with unique IDs.</a:t>
            </a:r>
          </a:p>
        </p:txBody>
      </p:sp>
      <p:sp>
        <p:nvSpPr>
          <p:cNvPr id="16" name="TextBox 16"/>
          <p:cNvSpPr txBox="1"/>
          <p:nvPr/>
        </p:nvSpPr>
        <p:spPr>
          <a:xfrm>
            <a:off x="1838125" y="2950294"/>
            <a:ext cx="6354217" cy="1038225"/>
          </a:xfrm>
          <a:prstGeom prst="rect">
            <a:avLst/>
          </a:prstGeom>
        </p:spPr>
        <p:txBody>
          <a:bodyPr lIns="0" tIns="0" rIns="0" bIns="0" rtlCol="0" anchor="t">
            <a:spAutoFit/>
          </a:bodyPr>
          <a:lstStyle/>
          <a:p>
            <a:pPr algn="l">
              <a:lnSpc>
                <a:spcPts val="4199"/>
              </a:lnSpc>
              <a:spcBef>
                <a:spcPct val="0"/>
              </a:spcBef>
            </a:pPr>
            <a:r>
              <a:rPr lang="en-US" sz="2999">
                <a:solidFill>
                  <a:srgbClr val="EFEFEF"/>
                </a:solidFill>
                <a:latin typeface="Public Sans"/>
                <a:ea typeface="Public Sans"/>
                <a:cs typeface="Public Sans"/>
                <a:sym typeface="Public Sans"/>
              </a:rPr>
              <a:t>Add and manage books with details </a:t>
            </a:r>
          </a:p>
          <a:p>
            <a:pPr algn="l">
              <a:lnSpc>
                <a:spcPts val="4199"/>
              </a:lnSpc>
              <a:spcBef>
                <a:spcPct val="0"/>
              </a:spcBef>
            </a:pPr>
            <a:r>
              <a:rPr lang="en-US" sz="2999">
                <a:solidFill>
                  <a:srgbClr val="EFEFEF"/>
                </a:solidFill>
                <a:latin typeface="Public Sans"/>
                <a:ea typeface="Public Sans"/>
                <a:cs typeface="Public Sans"/>
                <a:sym typeface="Public Sans"/>
              </a:rPr>
              <a:t>(ID, Title, Author, ISBN).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11230"/>
        </a:solidFill>
        <a:effectLst/>
      </p:bgPr>
    </p:bg>
    <p:spTree>
      <p:nvGrpSpPr>
        <p:cNvPr id="1" name=""/>
        <p:cNvGrpSpPr/>
        <p:nvPr/>
      </p:nvGrpSpPr>
      <p:grpSpPr>
        <a:xfrm>
          <a:off x="0" y="0"/>
          <a:ext cx="0" cy="0"/>
          <a:chOff x="0" y="0"/>
          <a:chExt cx="0" cy="0"/>
        </a:xfrm>
      </p:grpSpPr>
      <p:sp>
        <p:nvSpPr>
          <p:cNvPr id="2" name="TextBox 2"/>
          <p:cNvSpPr txBox="1"/>
          <p:nvPr/>
        </p:nvSpPr>
        <p:spPr>
          <a:xfrm>
            <a:off x="1028700" y="1009650"/>
            <a:ext cx="11348896" cy="1095375"/>
          </a:xfrm>
          <a:prstGeom prst="rect">
            <a:avLst/>
          </a:prstGeom>
        </p:spPr>
        <p:txBody>
          <a:bodyPr lIns="0" tIns="0" rIns="0" bIns="0" rtlCol="0" anchor="t">
            <a:spAutoFit/>
          </a:bodyPr>
          <a:lstStyle/>
          <a:p>
            <a:pPr algn="l">
              <a:lnSpc>
                <a:spcPts val="8520"/>
              </a:lnSpc>
            </a:pPr>
            <a:r>
              <a:rPr lang="en-US" sz="7100" b="1">
                <a:solidFill>
                  <a:srgbClr val="EFEFEF"/>
                </a:solidFill>
                <a:latin typeface="Public Sans Bold"/>
                <a:ea typeface="Public Sans Bold"/>
                <a:cs typeface="Public Sans Bold"/>
                <a:sym typeface="Public Sans Bold"/>
              </a:rPr>
              <a:t>Objectives</a:t>
            </a:r>
          </a:p>
        </p:txBody>
      </p:sp>
      <p:sp>
        <p:nvSpPr>
          <p:cNvPr id="3" name="TextBox 3"/>
          <p:cNvSpPr txBox="1"/>
          <p:nvPr/>
        </p:nvSpPr>
        <p:spPr>
          <a:xfrm>
            <a:off x="10897407" y="2949873"/>
            <a:ext cx="7243422" cy="1038226"/>
          </a:xfrm>
          <a:prstGeom prst="rect">
            <a:avLst/>
          </a:prstGeom>
        </p:spPr>
        <p:txBody>
          <a:bodyPr lIns="0" tIns="0" rIns="0" bIns="0" rtlCol="0" anchor="t">
            <a:spAutoFit/>
          </a:bodyPr>
          <a:lstStyle/>
          <a:p>
            <a:pPr algn="l">
              <a:lnSpc>
                <a:spcPts val="4199"/>
              </a:lnSpc>
            </a:pPr>
            <a:r>
              <a:rPr lang="en-US" sz="2999">
                <a:solidFill>
                  <a:srgbClr val="EFEFEF"/>
                </a:solidFill>
                <a:latin typeface="Public Sans"/>
                <a:ea typeface="Public Sans"/>
                <a:cs typeface="Public Sans"/>
                <a:sym typeface="Public Sans"/>
              </a:rPr>
              <a:t>Create secure APIs to handle books, members, and transactions.</a:t>
            </a:r>
          </a:p>
        </p:txBody>
      </p:sp>
      <p:sp>
        <p:nvSpPr>
          <p:cNvPr id="4" name="AutoShape 4"/>
          <p:cNvSpPr/>
          <p:nvPr/>
        </p:nvSpPr>
        <p:spPr>
          <a:xfrm>
            <a:off x="563452" y="5143500"/>
            <a:ext cx="17308875" cy="0"/>
          </a:xfrm>
          <a:prstGeom prst="line">
            <a:avLst/>
          </a:prstGeom>
          <a:ln w="9525" cap="flat">
            <a:solidFill>
              <a:srgbClr val="EFEFEF"/>
            </a:solidFill>
            <a:prstDash val="solid"/>
            <a:headEnd type="none" w="sm" len="sm"/>
            <a:tailEnd type="none" w="sm" len="sm"/>
          </a:ln>
        </p:spPr>
      </p:sp>
      <p:sp>
        <p:nvSpPr>
          <p:cNvPr id="5" name="AutoShape 5"/>
          <p:cNvSpPr/>
          <p:nvPr/>
        </p:nvSpPr>
        <p:spPr>
          <a:xfrm>
            <a:off x="563452" y="7678135"/>
            <a:ext cx="17308875" cy="0"/>
          </a:xfrm>
          <a:prstGeom prst="line">
            <a:avLst/>
          </a:prstGeom>
          <a:ln w="9525" cap="flat">
            <a:solidFill>
              <a:srgbClr val="EFEFEF"/>
            </a:solidFill>
            <a:prstDash val="solid"/>
            <a:headEnd type="none" w="sm" len="sm"/>
            <a:tailEnd type="none" w="sm" len="sm"/>
          </a:ln>
        </p:spPr>
      </p:sp>
      <p:sp>
        <p:nvSpPr>
          <p:cNvPr id="6" name="TextBox 6"/>
          <p:cNvSpPr txBox="1"/>
          <p:nvPr/>
        </p:nvSpPr>
        <p:spPr>
          <a:xfrm>
            <a:off x="11029699" y="5630260"/>
            <a:ext cx="6842628" cy="1562101"/>
          </a:xfrm>
          <a:prstGeom prst="rect">
            <a:avLst/>
          </a:prstGeom>
        </p:spPr>
        <p:txBody>
          <a:bodyPr lIns="0" tIns="0" rIns="0" bIns="0" rtlCol="0" anchor="t">
            <a:spAutoFit/>
          </a:bodyPr>
          <a:lstStyle/>
          <a:p>
            <a:pPr algn="l">
              <a:lnSpc>
                <a:spcPts val="4199"/>
              </a:lnSpc>
            </a:pPr>
            <a:r>
              <a:rPr lang="en-US" sz="2999">
                <a:solidFill>
                  <a:srgbClr val="EFEFEF"/>
                </a:solidFill>
                <a:latin typeface="Public Sans"/>
                <a:ea typeface="Public Sans"/>
                <a:cs typeface="Public Sans"/>
                <a:sym typeface="Public Sans"/>
              </a:rPr>
              <a:t>Write clean and maintainable code, applying object-oriented principles and best practices.</a:t>
            </a:r>
          </a:p>
        </p:txBody>
      </p:sp>
      <p:sp>
        <p:nvSpPr>
          <p:cNvPr id="7" name="TextBox 7"/>
          <p:cNvSpPr txBox="1"/>
          <p:nvPr/>
        </p:nvSpPr>
        <p:spPr>
          <a:xfrm>
            <a:off x="1238668" y="8197247"/>
            <a:ext cx="8355852" cy="1038225"/>
          </a:xfrm>
          <a:prstGeom prst="rect">
            <a:avLst/>
          </a:prstGeom>
        </p:spPr>
        <p:txBody>
          <a:bodyPr lIns="0" tIns="0" rIns="0" bIns="0" rtlCol="0" anchor="t">
            <a:spAutoFit/>
          </a:bodyPr>
          <a:lstStyle/>
          <a:p>
            <a:pPr marL="0" lvl="0" indent="0" algn="l">
              <a:lnSpc>
                <a:spcPts val="4199"/>
              </a:lnSpc>
            </a:pPr>
            <a:r>
              <a:rPr lang="en-US" sz="2999">
                <a:solidFill>
                  <a:srgbClr val="EFEFEF"/>
                </a:solidFill>
                <a:latin typeface="Public Sans"/>
                <a:ea typeface="Public Sans"/>
                <a:cs typeface="Public Sans"/>
                <a:sym typeface="Public Sans"/>
              </a:rPr>
              <a:t>P</a:t>
            </a:r>
            <a:r>
              <a:rPr lang="en-US" sz="2999" u="none">
                <a:solidFill>
                  <a:srgbClr val="EFEFEF"/>
                </a:solidFill>
                <a:latin typeface="Public Sans"/>
                <a:ea typeface="Public Sans"/>
                <a:cs typeface="Public Sans"/>
                <a:sym typeface="Public Sans"/>
              </a:rPr>
              <a:t>rovide an responsive web interface that is simple for librarians and members to use.</a:t>
            </a:r>
          </a:p>
        </p:txBody>
      </p:sp>
      <p:sp>
        <p:nvSpPr>
          <p:cNvPr id="8" name="Freeform 8"/>
          <p:cNvSpPr/>
          <p:nvPr/>
        </p:nvSpPr>
        <p:spPr>
          <a:xfrm flipH="1">
            <a:off x="764117" y="3282752"/>
            <a:ext cx="264583" cy="439142"/>
          </a:xfrm>
          <a:custGeom>
            <a:avLst/>
            <a:gdLst/>
            <a:ahLst/>
            <a:cxnLst/>
            <a:rect l="l" t="t" r="r" b="b"/>
            <a:pathLst>
              <a:path w="264583" h="439142">
                <a:moveTo>
                  <a:pt x="264583" y="0"/>
                </a:moveTo>
                <a:lnTo>
                  <a:pt x="0" y="0"/>
                </a:lnTo>
                <a:lnTo>
                  <a:pt x="0" y="439143"/>
                </a:lnTo>
                <a:lnTo>
                  <a:pt x="264583" y="439143"/>
                </a:lnTo>
                <a:lnTo>
                  <a:pt x="264583"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flipH="1">
            <a:off x="764117" y="6005505"/>
            <a:ext cx="264583" cy="439142"/>
          </a:xfrm>
          <a:custGeom>
            <a:avLst/>
            <a:gdLst/>
            <a:ahLst/>
            <a:cxnLst/>
            <a:rect l="l" t="t" r="r" b="b"/>
            <a:pathLst>
              <a:path w="264583" h="439142">
                <a:moveTo>
                  <a:pt x="264583" y="0"/>
                </a:moveTo>
                <a:lnTo>
                  <a:pt x="0" y="0"/>
                </a:lnTo>
                <a:lnTo>
                  <a:pt x="0" y="439142"/>
                </a:lnTo>
                <a:lnTo>
                  <a:pt x="264583" y="439142"/>
                </a:lnTo>
                <a:lnTo>
                  <a:pt x="264583"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flipH="1">
            <a:off x="764117" y="8330597"/>
            <a:ext cx="264583" cy="439142"/>
          </a:xfrm>
          <a:custGeom>
            <a:avLst/>
            <a:gdLst/>
            <a:ahLst/>
            <a:cxnLst/>
            <a:rect l="l" t="t" r="r" b="b"/>
            <a:pathLst>
              <a:path w="264583" h="439142">
                <a:moveTo>
                  <a:pt x="264583" y="0"/>
                </a:moveTo>
                <a:lnTo>
                  <a:pt x="0" y="0"/>
                </a:lnTo>
                <a:lnTo>
                  <a:pt x="0" y="439143"/>
                </a:lnTo>
                <a:lnTo>
                  <a:pt x="264583" y="439143"/>
                </a:lnTo>
                <a:lnTo>
                  <a:pt x="264583"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Freeform 11"/>
          <p:cNvSpPr/>
          <p:nvPr/>
        </p:nvSpPr>
        <p:spPr>
          <a:xfrm flipH="1">
            <a:off x="10502891" y="6005505"/>
            <a:ext cx="264583" cy="439142"/>
          </a:xfrm>
          <a:custGeom>
            <a:avLst/>
            <a:gdLst/>
            <a:ahLst/>
            <a:cxnLst/>
            <a:rect l="l" t="t" r="r" b="b"/>
            <a:pathLst>
              <a:path w="264583" h="439142">
                <a:moveTo>
                  <a:pt x="264584" y="0"/>
                </a:moveTo>
                <a:lnTo>
                  <a:pt x="0" y="0"/>
                </a:lnTo>
                <a:lnTo>
                  <a:pt x="0" y="439142"/>
                </a:lnTo>
                <a:lnTo>
                  <a:pt x="264584" y="439142"/>
                </a:lnTo>
                <a:lnTo>
                  <a:pt x="264584"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p:cNvSpPr/>
          <p:nvPr/>
        </p:nvSpPr>
        <p:spPr>
          <a:xfrm flipH="1">
            <a:off x="10502891" y="8427720"/>
            <a:ext cx="264583" cy="439142"/>
          </a:xfrm>
          <a:custGeom>
            <a:avLst/>
            <a:gdLst/>
            <a:ahLst/>
            <a:cxnLst/>
            <a:rect l="l" t="t" r="r" b="b"/>
            <a:pathLst>
              <a:path w="264583" h="439142">
                <a:moveTo>
                  <a:pt x="264584" y="0"/>
                </a:moveTo>
                <a:lnTo>
                  <a:pt x="0" y="0"/>
                </a:lnTo>
                <a:lnTo>
                  <a:pt x="0" y="439142"/>
                </a:lnTo>
                <a:lnTo>
                  <a:pt x="264584" y="439142"/>
                </a:lnTo>
                <a:lnTo>
                  <a:pt x="264584"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Freeform 13"/>
          <p:cNvSpPr/>
          <p:nvPr/>
        </p:nvSpPr>
        <p:spPr>
          <a:xfrm flipH="1">
            <a:off x="10402450" y="3063181"/>
            <a:ext cx="264583" cy="439142"/>
          </a:xfrm>
          <a:custGeom>
            <a:avLst/>
            <a:gdLst/>
            <a:ahLst/>
            <a:cxnLst/>
            <a:rect l="l" t="t" r="r" b="b"/>
            <a:pathLst>
              <a:path w="264583" h="439142">
                <a:moveTo>
                  <a:pt x="264584" y="0"/>
                </a:moveTo>
                <a:lnTo>
                  <a:pt x="0" y="0"/>
                </a:lnTo>
                <a:lnTo>
                  <a:pt x="0" y="439142"/>
                </a:lnTo>
                <a:lnTo>
                  <a:pt x="264584" y="439142"/>
                </a:lnTo>
                <a:lnTo>
                  <a:pt x="264584"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4" name="TextBox 14"/>
          <p:cNvSpPr txBox="1"/>
          <p:nvPr/>
        </p:nvSpPr>
        <p:spPr>
          <a:xfrm>
            <a:off x="1238668" y="5858367"/>
            <a:ext cx="8539535" cy="1038225"/>
          </a:xfrm>
          <a:prstGeom prst="rect">
            <a:avLst/>
          </a:prstGeom>
        </p:spPr>
        <p:txBody>
          <a:bodyPr lIns="0" tIns="0" rIns="0" bIns="0" rtlCol="0" anchor="t">
            <a:spAutoFit/>
          </a:bodyPr>
          <a:lstStyle/>
          <a:p>
            <a:pPr algn="l">
              <a:lnSpc>
                <a:spcPts val="4199"/>
              </a:lnSpc>
              <a:spcBef>
                <a:spcPct val="0"/>
              </a:spcBef>
            </a:pPr>
            <a:r>
              <a:rPr lang="en-US" sz="2999">
                <a:solidFill>
                  <a:srgbClr val="EFEFEF"/>
                </a:solidFill>
                <a:latin typeface="Public Sans"/>
                <a:ea typeface="Public Sans"/>
                <a:cs typeface="Public Sans"/>
                <a:sym typeface="Public Sans"/>
              </a:rPr>
              <a:t>Use SQLite to safely store and manage all</a:t>
            </a:r>
          </a:p>
          <a:p>
            <a:pPr algn="l">
              <a:lnSpc>
                <a:spcPts val="4199"/>
              </a:lnSpc>
              <a:spcBef>
                <a:spcPct val="0"/>
              </a:spcBef>
            </a:pPr>
            <a:r>
              <a:rPr lang="en-US" sz="2999">
                <a:solidFill>
                  <a:srgbClr val="EFEFEF"/>
                </a:solidFill>
                <a:latin typeface="Public Sans"/>
                <a:ea typeface="Public Sans"/>
                <a:cs typeface="Public Sans"/>
                <a:sym typeface="Public Sans"/>
              </a:rPr>
              <a:t> library data, ensuring accuracy and persistence.</a:t>
            </a:r>
          </a:p>
        </p:txBody>
      </p:sp>
      <p:sp>
        <p:nvSpPr>
          <p:cNvPr id="15" name="TextBox 15"/>
          <p:cNvSpPr txBox="1"/>
          <p:nvPr/>
        </p:nvSpPr>
        <p:spPr>
          <a:xfrm>
            <a:off x="1238668" y="2996506"/>
            <a:ext cx="7592913" cy="1562100"/>
          </a:xfrm>
          <a:prstGeom prst="rect">
            <a:avLst/>
          </a:prstGeom>
        </p:spPr>
        <p:txBody>
          <a:bodyPr lIns="0" tIns="0" rIns="0" bIns="0" rtlCol="0" anchor="t">
            <a:spAutoFit/>
          </a:bodyPr>
          <a:lstStyle/>
          <a:p>
            <a:pPr algn="l">
              <a:lnSpc>
                <a:spcPts val="4199"/>
              </a:lnSpc>
              <a:spcBef>
                <a:spcPct val="0"/>
              </a:spcBef>
            </a:pPr>
            <a:r>
              <a:rPr lang="en-US" sz="2999">
                <a:solidFill>
                  <a:srgbClr val="EFEFEF"/>
                </a:solidFill>
                <a:latin typeface="Public Sans"/>
                <a:ea typeface="Public Sans"/>
                <a:cs typeface="Public Sans"/>
                <a:sym typeface="Public Sans"/>
              </a:rPr>
              <a:t>Build a Library Management System</a:t>
            </a:r>
          </a:p>
          <a:p>
            <a:pPr algn="l">
              <a:lnSpc>
                <a:spcPts val="4199"/>
              </a:lnSpc>
              <a:spcBef>
                <a:spcPct val="0"/>
              </a:spcBef>
            </a:pPr>
            <a:r>
              <a:rPr lang="en-US" sz="2999">
                <a:solidFill>
                  <a:srgbClr val="EFEFEF"/>
                </a:solidFill>
                <a:latin typeface="Public Sans"/>
                <a:ea typeface="Public Sans"/>
                <a:cs typeface="Public Sans"/>
                <a:sym typeface="Public Sans"/>
              </a:rPr>
              <a:t> using Django for the backend and React.js </a:t>
            </a:r>
          </a:p>
          <a:p>
            <a:pPr algn="l">
              <a:lnSpc>
                <a:spcPts val="4199"/>
              </a:lnSpc>
              <a:spcBef>
                <a:spcPct val="0"/>
              </a:spcBef>
            </a:pPr>
            <a:r>
              <a:rPr lang="en-US" sz="2999">
                <a:solidFill>
                  <a:srgbClr val="EFEFEF"/>
                </a:solidFill>
                <a:latin typeface="Public Sans"/>
                <a:ea typeface="Public Sans"/>
                <a:cs typeface="Public Sans"/>
                <a:sym typeface="Public Sans"/>
              </a:rPr>
              <a:t>for the frontend.</a:t>
            </a:r>
          </a:p>
        </p:txBody>
      </p:sp>
      <p:sp>
        <p:nvSpPr>
          <p:cNvPr id="16" name="TextBox 16"/>
          <p:cNvSpPr txBox="1"/>
          <p:nvPr/>
        </p:nvSpPr>
        <p:spPr>
          <a:xfrm>
            <a:off x="11029699" y="8263922"/>
            <a:ext cx="6064076" cy="1038225"/>
          </a:xfrm>
          <a:prstGeom prst="rect">
            <a:avLst/>
          </a:prstGeom>
        </p:spPr>
        <p:txBody>
          <a:bodyPr lIns="0" tIns="0" rIns="0" bIns="0" rtlCol="0" anchor="t">
            <a:spAutoFit/>
          </a:bodyPr>
          <a:lstStyle/>
          <a:p>
            <a:pPr algn="l">
              <a:lnSpc>
                <a:spcPts val="4199"/>
              </a:lnSpc>
              <a:spcBef>
                <a:spcPct val="0"/>
              </a:spcBef>
            </a:pPr>
            <a:r>
              <a:rPr lang="en-US" sz="2999">
                <a:solidFill>
                  <a:srgbClr val="EFEFEF"/>
                </a:solidFill>
                <a:latin typeface="Public Sans"/>
                <a:ea typeface="Public Sans"/>
                <a:cs typeface="Public Sans"/>
                <a:sym typeface="Public Sans"/>
              </a:rPr>
              <a:t>Make the system scalable for</a:t>
            </a:r>
          </a:p>
          <a:p>
            <a:pPr algn="l">
              <a:lnSpc>
                <a:spcPts val="4199"/>
              </a:lnSpc>
              <a:spcBef>
                <a:spcPct val="0"/>
              </a:spcBef>
            </a:pPr>
            <a:r>
              <a:rPr lang="en-US" sz="2999">
                <a:solidFill>
                  <a:srgbClr val="EFEFEF"/>
                </a:solidFill>
                <a:latin typeface="Public Sans"/>
                <a:ea typeface="Public Sans"/>
                <a:cs typeface="Public Sans"/>
                <a:sym typeface="Public Sans"/>
              </a:rPr>
              <a:t> adding new features in the future.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111230"/>
        </a:solidFill>
        <a:effectLst/>
      </p:bgPr>
    </p:bg>
    <p:spTree>
      <p:nvGrpSpPr>
        <p:cNvPr id="1" name=""/>
        <p:cNvGrpSpPr/>
        <p:nvPr/>
      </p:nvGrpSpPr>
      <p:grpSpPr>
        <a:xfrm>
          <a:off x="0" y="0"/>
          <a:ext cx="0" cy="0"/>
          <a:chOff x="0" y="0"/>
          <a:chExt cx="0" cy="0"/>
        </a:xfrm>
      </p:grpSpPr>
      <p:grpSp>
        <p:nvGrpSpPr>
          <p:cNvPr id="2" name="Group 2"/>
          <p:cNvGrpSpPr/>
          <p:nvPr/>
        </p:nvGrpSpPr>
        <p:grpSpPr>
          <a:xfrm>
            <a:off x="8964522" y="2066398"/>
            <a:ext cx="8980415" cy="8032293"/>
            <a:chOff x="0" y="0"/>
            <a:chExt cx="11973887" cy="10709723"/>
          </a:xfrm>
        </p:grpSpPr>
        <p:pic>
          <p:nvPicPr>
            <p:cNvPr id="3" name="Picture 3"/>
            <p:cNvPicPr>
              <a:picLocks noChangeAspect="1"/>
            </p:cNvPicPr>
            <p:nvPr/>
          </p:nvPicPr>
          <p:blipFill>
            <a:blip r:embed="rId2"/>
            <a:srcRect b="11" t="11"/>
            <a:stretch>
              <a:fillRect/>
            </a:stretch>
          </p:blipFill>
          <p:spPr>
            <a:xfrm>
              <a:off x="0" y="0"/>
              <a:ext cx="11973887" cy="10709723"/>
            </a:xfrm>
            <a:prstGeom prst="rect">
              <a:avLst/>
            </a:prstGeom>
          </p:spPr>
        </p:pic>
      </p:grpSp>
      <p:grpSp>
        <p:nvGrpSpPr>
          <p:cNvPr id="4" name="Group 4"/>
          <p:cNvGrpSpPr/>
          <p:nvPr/>
        </p:nvGrpSpPr>
        <p:grpSpPr>
          <a:xfrm>
            <a:off x="326825" y="1131315"/>
            <a:ext cx="8397296" cy="9155685"/>
            <a:chOff x="0" y="0"/>
            <a:chExt cx="11196394" cy="12207580"/>
          </a:xfrm>
        </p:grpSpPr>
        <p:sp>
          <p:nvSpPr>
            <p:cNvPr id="5" name="TextBox 5"/>
            <p:cNvSpPr txBox="1"/>
            <p:nvPr/>
          </p:nvSpPr>
          <p:spPr>
            <a:xfrm>
              <a:off x="0" y="-47625"/>
              <a:ext cx="11196394" cy="739781"/>
            </a:xfrm>
            <a:prstGeom prst="rect">
              <a:avLst/>
            </a:prstGeom>
          </p:spPr>
          <p:txBody>
            <a:bodyPr anchor="t" bIns="0" lIns="0" rIns="0" rtlCol="0" tIns="0">
              <a:spAutoFit/>
            </a:bodyPr>
            <a:lstStyle/>
            <a:p>
              <a:pPr algn="l">
                <a:lnSpc>
                  <a:spcPts val="4468"/>
                </a:lnSpc>
              </a:pPr>
              <a:endParaRPr/>
            </a:p>
          </p:txBody>
        </p:sp>
        <p:sp>
          <p:nvSpPr>
            <p:cNvPr id="6" name="TextBox 6"/>
            <p:cNvSpPr txBox="1"/>
            <p:nvPr/>
          </p:nvSpPr>
          <p:spPr>
            <a:xfrm>
              <a:off x="0" y="1280879"/>
              <a:ext cx="11196394" cy="10599268"/>
            </a:xfrm>
            <a:prstGeom prst="rect">
              <a:avLst/>
            </a:prstGeom>
          </p:spPr>
          <p:txBody>
            <a:bodyPr anchor="t" bIns="0" lIns="0" rIns="0" rtlCol="0" tIns="0">
              <a:spAutoFit/>
            </a:bodyPr>
            <a:lstStyle/>
            <a:p>
              <a:pPr algn="l" indent="-323099" lvl="1" marL="646199">
                <a:lnSpc>
                  <a:spcPts val="6435"/>
                </a:lnSpc>
                <a:buAutoNum type="arabicPeriod"/>
              </a:pPr>
              <a:r>
                <a:rPr lang="en-US" sz="2993">
                  <a:solidFill>
                    <a:srgbClr val="EFEFEF"/>
                  </a:solidFill>
                  <a:latin typeface="Public Sans"/>
                  <a:ea typeface="Public Sans"/>
                  <a:cs typeface="Public Sans"/>
                  <a:sym typeface="Public Sans"/>
                </a:rPr>
                <a:t> React (Frontend) → Displays forms &amp; lists, makes API calls using Axios.</a:t>
              </a:r>
            </a:p>
            <a:p>
              <a:pPr algn="l" indent="-323099" lvl="1" marL="646199">
                <a:lnSpc>
                  <a:spcPts val="6435"/>
                </a:lnSpc>
                <a:buAutoNum type="arabicPeriod"/>
              </a:pPr>
              <a:r>
                <a:rPr lang="en-US" sz="2993">
                  <a:solidFill>
                    <a:srgbClr val="EFEFEF"/>
                  </a:solidFill>
                  <a:latin typeface="Public Sans"/>
                  <a:ea typeface="Public Sans"/>
                  <a:cs typeface="Public Sans"/>
                  <a:sym typeface="Public Sans"/>
                </a:rPr>
                <a:t> Django REST API (Backend) → Exposes /api/books/, /api/members/, /borrow/, /return/ endpoints.</a:t>
              </a:r>
            </a:p>
            <a:p>
              <a:pPr algn="l" indent="-323099" lvl="1" marL="646199">
                <a:lnSpc>
                  <a:spcPts val="6435"/>
                </a:lnSpc>
                <a:buAutoNum type="arabicPeriod"/>
              </a:pPr>
              <a:r>
                <a:rPr lang="en-US" sz="2993">
                  <a:solidFill>
                    <a:srgbClr val="EFEFEF"/>
                  </a:solidFill>
                  <a:latin typeface="Public Sans"/>
                  <a:ea typeface="Public Sans"/>
                  <a:cs typeface="Public Sans"/>
                  <a:sym typeface="Public Sans"/>
                </a:rPr>
                <a:t> SQLite Database → Stores book/member records and borrow-return relations.</a:t>
              </a:r>
            </a:p>
            <a:p>
              <a:pPr algn="l" indent="-323099" lvl="1" marL="646199">
                <a:lnSpc>
                  <a:spcPts val="6435"/>
                </a:lnSpc>
                <a:buAutoNum type="arabicPeriod"/>
              </a:pPr>
              <a:r>
                <a:rPr lang="en-US" sz="2993">
                  <a:solidFill>
                    <a:srgbClr val="EFEFEF"/>
                  </a:solidFill>
                  <a:latin typeface="Public Sans"/>
                  <a:ea typeface="Public Sans"/>
                  <a:cs typeface="Public Sans"/>
                  <a:sym typeface="Public Sans"/>
                </a:rPr>
                <a:t> Flow: User → React → Axios → Django API → SQLite → Response → React UI.</a:t>
              </a:r>
            </a:p>
            <a:p>
              <a:pPr algn="l">
                <a:lnSpc>
                  <a:spcPts val="6435"/>
                </a:lnSpc>
              </a:pPr>
              <a:endParaRPr lang="en-US" sz="2993">
                <a:solidFill>
                  <a:srgbClr val="EFEFEF"/>
                </a:solidFill>
                <a:latin typeface="Public Sans"/>
                <a:ea typeface="Public Sans"/>
                <a:cs typeface="Public Sans"/>
                <a:sym typeface="Public Sans"/>
              </a:endParaRPr>
            </a:p>
          </p:txBody>
        </p:sp>
      </p:grpSp>
      <p:sp>
        <p:nvSpPr>
          <p:cNvPr id="7" name="TextBox 7"/>
          <p:cNvSpPr txBox="1"/>
          <p:nvPr/>
        </p:nvSpPr>
        <p:spPr>
          <a:xfrm>
            <a:off x="3859915" y="552265"/>
            <a:ext cx="9728412" cy="1229363"/>
          </a:xfrm>
          <a:prstGeom prst="rect">
            <a:avLst/>
          </a:prstGeom>
        </p:spPr>
        <p:txBody>
          <a:bodyPr anchor="t" bIns="0" lIns="0" rIns="0" rtlCol="0" tIns="0">
            <a:spAutoFit/>
          </a:bodyPr>
          <a:lstStyle/>
          <a:p>
            <a:pPr algn="ctr">
              <a:lnSpc>
                <a:spcPts val="9939"/>
              </a:lnSpc>
              <a:spcBef>
                <a:spcPct val="0"/>
              </a:spcBef>
            </a:pPr>
            <a:r>
              <a:rPr b="1" lang="en-US" sz="7099">
                <a:solidFill>
                  <a:srgbClr val="EFEFEF"/>
                </a:solidFill>
                <a:latin typeface="Public Sans Bold"/>
                <a:ea typeface="Public Sans Bold"/>
                <a:cs typeface="Public Sans Bold"/>
                <a:sym typeface="Public Sans Bold"/>
              </a:rPr>
              <a:t>Design Flow</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11230"/>
        </a:solidFill>
        <a:effectLst/>
      </p:bgPr>
    </p:bg>
    <p:spTree>
      <p:nvGrpSpPr>
        <p:cNvPr id="1" name=""/>
        <p:cNvGrpSpPr/>
        <p:nvPr/>
      </p:nvGrpSpPr>
      <p:grpSpPr>
        <a:xfrm>
          <a:off x="0" y="0"/>
          <a:ext cx="0" cy="0"/>
          <a:chOff x="0" y="0"/>
          <a:chExt cx="0" cy="0"/>
        </a:xfrm>
      </p:grpSpPr>
      <p:sp>
        <p:nvSpPr>
          <p:cNvPr id="2" name="Freeform 2"/>
          <p:cNvSpPr/>
          <p:nvPr/>
        </p:nvSpPr>
        <p:spPr>
          <a:xfrm flipH="1">
            <a:off x="10030491" y="1987862"/>
            <a:ext cx="264583" cy="439142"/>
          </a:xfrm>
          <a:custGeom>
            <a:avLst/>
            <a:gdLst/>
            <a:ahLst/>
            <a:cxnLst/>
            <a:rect l="l" t="t" r="r" b="b"/>
            <a:pathLst>
              <a:path w="264583" h="439142">
                <a:moveTo>
                  <a:pt x="264583" y="0"/>
                </a:moveTo>
                <a:lnTo>
                  <a:pt x="0" y="0"/>
                </a:lnTo>
                <a:lnTo>
                  <a:pt x="0" y="439143"/>
                </a:lnTo>
                <a:lnTo>
                  <a:pt x="264583" y="439143"/>
                </a:lnTo>
                <a:lnTo>
                  <a:pt x="264583"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10096774" y="5687184"/>
            <a:ext cx="264583" cy="439142"/>
          </a:xfrm>
          <a:custGeom>
            <a:avLst/>
            <a:gdLst/>
            <a:ahLst/>
            <a:cxnLst/>
            <a:rect l="l" t="t" r="r" b="b"/>
            <a:pathLst>
              <a:path w="264583" h="439142">
                <a:moveTo>
                  <a:pt x="264583" y="0"/>
                </a:moveTo>
                <a:lnTo>
                  <a:pt x="0" y="0"/>
                </a:lnTo>
                <a:lnTo>
                  <a:pt x="0" y="439143"/>
                </a:lnTo>
                <a:lnTo>
                  <a:pt x="264583" y="439143"/>
                </a:lnTo>
                <a:lnTo>
                  <a:pt x="264583"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a:off x="10162783" y="9133202"/>
            <a:ext cx="264583" cy="439142"/>
          </a:xfrm>
          <a:custGeom>
            <a:avLst/>
            <a:gdLst/>
            <a:ahLst/>
            <a:cxnLst/>
            <a:rect l="l" t="t" r="r" b="b"/>
            <a:pathLst>
              <a:path w="264583" h="439142">
                <a:moveTo>
                  <a:pt x="264583" y="0"/>
                </a:moveTo>
                <a:lnTo>
                  <a:pt x="0" y="0"/>
                </a:lnTo>
                <a:lnTo>
                  <a:pt x="0" y="439142"/>
                </a:lnTo>
                <a:lnTo>
                  <a:pt x="264583" y="439142"/>
                </a:lnTo>
                <a:lnTo>
                  <a:pt x="264583"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AutoShape 5"/>
          <p:cNvSpPr/>
          <p:nvPr/>
        </p:nvSpPr>
        <p:spPr>
          <a:xfrm>
            <a:off x="10229065" y="4920135"/>
            <a:ext cx="7030235" cy="0"/>
          </a:xfrm>
          <a:prstGeom prst="line">
            <a:avLst/>
          </a:prstGeom>
          <a:ln w="9525" cap="flat">
            <a:solidFill>
              <a:srgbClr val="EFEFEF"/>
            </a:solidFill>
            <a:prstDash val="solid"/>
            <a:headEnd type="none" w="sm" len="sm"/>
            <a:tailEnd type="none" w="sm" len="sm"/>
          </a:ln>
        </p:spPr>
      </p:sp>
      <p:sp>
        <p:nvSpPr>
          <p:cNvPr id="6" name="AutoShape 6"/>
          <p:cNvSpPr/>
          <p:nvPr/>
        </p:nvSpPr>
        <p:spPr>
          <a:xfrm>
            <a:off x="10162783" y="8623614"/>
            <a:ext cx="7030235" cy="0"/>
          </a:xfrm>
          <a:prstGeom prst="line">
            <a:avLst/>
          </a:prstGeom>
          <a:ln w="9525" cap="flat">
            <a:solidFill>
              <a:srgbClr val="EFEFEF"/>
            </a:solidFill>
            <a:prstDash val="solid"/>
            <a:headEnd type="none" w="sm" len="sm"/>
            <a:tailEnd type="none" w="sm" len="sm"/>
          </a:ln>
        </p:spPr>
      </p:sp>
      <p:sp>
        <p:nvSpPr>
          <p:cNvPr id="7" name="AutoShape 7"/>
          <p:cNvSpPr/>
          <p:nvPr/>
        </p:nvSpPr>
        <p:spPr>
          <a:xfrm>
            <a:off x="10295074" y="2840985"/>
            <a:ext cx="7030235" cy="0"/>
          </a:xfrm>
          <a:prstGeom prst="line">
            <a:avLst/>
          </a:prstGeom>
          <a:ln w="9525" cap="flat">
            <a:solidFill>
              <a:srgbClr val="EFEFEF"/>
            </a:solidFill>
            <a:prstDash val="solid"/>
            <a:headEnd type="none" w="sm" len="sm"/>
            <a:tailEnd type="none" w="sm" len="sm"/>
          </a:ln>
        </p:spPr>
      </p:sp>
      <p:sp>
        <p:nvSpPr>
          <p:cNvPr id="8" name="Freeform 8"/>
          <p:cNvSpPr/>
          <p:nvPr/>
        </p:nvSpPr>
        <p:spPr>
          <a:xfrm flipH="1">
            <a:off x="10162783" y="7354409"/>
            <a:ext cx="264583" cy="439142"/>
          </a:xfrm>
          <a:custGeom>
            <a:avLst/>
            <a:gdLst/>
            <a:ahLst/>
            <a:cxnLst/>
            <a:rect l="l" t="t" r="r" b="b"/>
            <a:pathLst>
              <a:path w="264583" h="439142">
                <a:moveTo>
                  <a:pt x="264583" y="0"/>
                </a:moveTo>
                <a:lnTo>
                  <a:pt x="0" y="0"/>
                </a:lnTo>
                <a:lnTo>
                  <a:pt x="0" y="439142"/>
                </a:lnTo>
                <a:lnTo>
                  <a:pt x="264583" y="439142"/>
                </a:lnTo>
                <a:lnTo>
                  <a:pt x="264583"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AutoShape 9"/>
          <p:cNvSpPr/>
          <p:nvPr/>
        </p:nvSpPr>
        <p:spPr>
          <a:xfrm>
            <a:off x="10162783" y="6842672"/>
            <a:ext cx="7030235" cy="0"/>
          </a:xfrm>
          <a:prstGeom prst="line">
            <a:avLst/>
          </a:prstGeom>
          <a:ln w="9525" cap="flat">
            <a:solidFill>
              <a:srgbClr val="EFEFEF"/>
            </a:solidFill>
            <a:prstDash val="solid"/>
            <a:headEnd type="none" w="sm" len="sm"/>
            <a:tailEnd type="none" w="sm" len="sm"/>
          </a:ln>
        </p:spPr>
      </p:sp>
      <p:sp>
        <p:nvSpPr>
          <p:cNvPr id="10" name="Freeform 10"/>
          <p:cNvSpPr/>
          <p:nvPr/>
        </p:nvSpPr>
        <p:spPr>
          <a:xfrm flipH="1">
            <a:off x="10030491" y="3647555"/>
            <a:ext cx="264583" cy="439142"/>
          </a:xfrm>
          <a:custGeom>
            <a:avLst/>
            <a:gdLst/>
            <a:ahLst/>
            <a:cxnLst/>
            <a:rect l="l" t="t" r="r" b="b"/>
            <a:pathLst>
              <a:path w="264583" h="439142">
                <a:moveTo>
                  <a:pt x="264583" y="0"/>
                </a:moveTo>
                <a:lnTo>
                  <a:pt x="0" y="0"/>
                </a:lnTo>
                <a:lnTo>
                  <a:pt x="0" y="439142"/>
                </a:lnTo>
                <a:lnTo>
                  <a:pt x="264583" y="439142"/>
                </a:lnTo>
                <a:lnTo>
                  <a:pt x="264583"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1" name="Freeform 11"/>
          <p:cNvSpPr/>
          <p:nvPr/>
        </p:nvSpPr>
        <p:spPr>
          <a:xfrm>
            <a:off x="455861" y="1987862"/>
            <a:ext cx="8688139" cy="7924169"/>
          </a:xfrm>
          <a:custGeom>
            <a:avLst/>
            <a:gdLst/>
            <a:ahLst/>
            <a:cxnLst/>
            <a:rect l="l" t="t" r="r" b="b"/>
            <a:pathLst>
              <a:path w="8688139" h="7924169">
                <a:moveTo>
                  <a:pt x="0" y="0"/>
                </a:moveTo>
                <a:lnTo>
                  <a:pt x="8688139" y="0"/>
                </a:lnTo>
                <a:lnTo>
                  <a:pt x="8688139" y="7924169"/>
                </a:lnTo>
                <a:lnTo>
                  <a:pt x="0" y="7924169"/>
                </a:lnTo>
                <a:lnTo>
                  <a:pt x="0" y="0"/>
                </a:lnTo>
                <a:close/>
              </a:path>
            </a:pathLst>
          </a:custGeom>
          <a:blipFill>
            <a:blip r:embed="rId4"/>
            <a:stretch>
              <a:fillRect l="-4393" t="-19958" r="-6514" b="-1642"/>
            </a:stretch>
          </a:blipFill>
        </p:spPr>
      </p:sp>
      <p:sp>
        <p:nvSpPr>
          <p:cNvPr id="12" name="TextBox 12"/>
          <p:cNvSpPr txBox="1"/>
          <p:nvPr/>
        </p:nvSpPr>
        <p:spPr>
          <a:xfrm>
            <a:off x="5971822" y="482912"/>
            <a:ext cx="6759063" cy="1095375"/>
          </a:xfrm>
          <a:prstGeom prst="rect">
            <a:avLst/>
          </a:prstGeom>
        </p:spPr>
        <p:txBody>
          <a:bodyPr lIns="0" tIns="0" rIns="0" bIns="0" rtlCol="0" anchor="t">
            <a:spAutoFit/>
          </a:bodyPr>
          <a:lstStyle/>
          <a:p>
            <a:pPr algn="l">
              <a:lnSpc>
                <a:spcPts val="8520"/>
              </a:lnSpc>
            </a:pPr>
            <a:r>
              <a:rPr lang="en-US" sz="7100" b="1">
                <a:solidFill>
                  <a:srgbClr val="EFEFEF"/>
                </a:solidFill>
                <a:latin typeface="Public Sans Bold"/>
                <a:ea typeface="Public Sans Bold"/>
                <a:cs typeface="Public Sans Bold"/>
                <a:sym typeface="Public Sans Bold"/>
              </a:rPr>
              <a:t>Project Flow </a:t>
            </a:r>
          </a:p>
        </p:txBody>
      </p:sp>
      <p:sp>
        <p:nvSpPr>
          <p:cNvPr id="13" name="TextBox 13"/>
          <p:cNvSpPr txBox="1"/>
          <p:nvPr/>
        </p:nvSpPr>
        <p:spPr>
          <a:xfrm>
            <a:off x="11103749" y="1921187"/>
            <a:ext cx="6089268" cy="457835"/>
          </a:xfrm>
          <a:prstGeom prst="rect">
            <a:avLst/>
          </a:prstGeom>
        </p:spPr>
        <p:txBody>
          <a:bodyPr lIns="0" tIns="0" rIns="0" bIns="0" rtlCol="0" anchor="t">
            <a:spAutoFit/>
          </a:bodyPr>
          <a:lstStyle/>
          <a:p>
            <a:pPr algn="l">
              <a:lnSpc>
                <a:spcPts val="3639"/>
              </a:lnSpc>
            </a:pPr>
            <a:r>
              <a:rPr lang="en-US" sz="2599">
                <a:solidFill>
                  <a:srgbClr val="EFEFEF"/>
                </a:solidFill>
                <a:latin typeface="Public Sans"/>
                <a:ea typeface="Public Sans"/>
                <a:cs typeface="Public Sans"/>
                <a:sym typeface="Public Sans"/>
              </a:rPr>
              <a:t>Add Book ➝ Saved in DB ➝ UI updates.</a:t>
            </a:r>
          </a:p>
        </p:txBody>
      </p:sp>
      <p:sp>
        <p:nvSpPr>
          <p:cNvPr id="14" name="TextBox 14"/>
          <p:cNvSpPr txBox="1"/>
          <p:nvPr/>
        </p:nvSpPr>
        <p:spPr>
          <a:xfrm>
            <a:off x="11103749" y="5415900"/>
            <a:ext cx="6089268" cy="915035"/>
          </a:xfrm>
          <a:prstGeom prst="rect">
            <a:avLst/>
          </a:prstGeom>
        </p:spPr>
        <p:txBody>
          <a:bodyPr lIns="0" tIns="0" rIns="0" bIns="0" rtlCol="0" anchor="t">
            <a:spAutoFit/>
          </a:bodyPr>
          <a:lstStyle/>
          <a:p>
            <a:pPr algn="l">
              <a:lnSpc>
                <a:spcPts val="3639"/>
              </a:lnSpc>
            </a:pPr>
            <a:r>
              <a:rPr lang="en-US" sz="2599">
                <a:solidFill>
                  <a:srgbClr val="EFEFEF"/>
                </a:solidFill>
                <a:latin typeface="Public Sans"/>
                <a:ea typeface="Public Sans"/>
                <a:cs typeface="Public Sans"/>
                <a:sym typeface="Public Sans"/>
              </a:rPr>
              <a:t>Borrow Book ➝ System validates availability ➝ Status updated.</a:t>
            </a:r>
          </a:p>
        </p:txBody>
      </p:sp>
      <p:sp>
        <p:nvSpPr>
          <p:cNvPr id="15" name="TextBox 15"/>
          <p:cNvSpPr txBox="1"/>
          <p:nvPr/>
        </p:nvSpPr>
        <p:spPr>
          <a:xfrm>
            <a:off x="11103749" y="8767445"/>
            <a:ext cx="6089268" cy="915035"/>
          </a:xfrm>
          <a:prstGeom prst="rect">
            <a:avLst/>
          </a:prstGeom>
        </p:spPr>
        <p:txBody>
          <a:bodyPr lIns="0" tIns="0" rIns="0" bIns="0" rtlCol="0" anchor="t">
            <a:spAutoFit/>
          </a:bodyPr>
          <a:lstStyle/>
          <a:p>
            <a:pPr algn="l">
              <a:lnSpc>
                <a:spcPts val="3639"/>
              </a:lnSpc>
            </a:pPr>
            <a:r>
              <a:rPr lang="en-US" sz="2599">
                <a:solidFill>
                  <a:srgbClr val="EFEFEF"/>
                </a:solidFill>
                <a:latin typeface="Public Sans"/>
                <a:ea typeface="Public Sans"/>
                <a:cs typeface="Public Sans"/>
                <a:sym typeface="Public Sans"/>
              </a:rPr>
              <a:t>Admin ➝ Full control over Books/Members in /admin/.</a:t>
            </a:r>
          </a:p>
        </p:txBody>
      </p:sp>
      <p:sp>
        <p:nvSpPr>
          <p:cNvPr id="16" name="TextBox 16"/>
          <p:cNvSpPr txBox="1"/>
          <p:nvPr/>
        </p:nvSpPr>
        <p:spPr>
          <a:xfrm>
            <a:off x="11103749" y="7242288"/>
            <a:ext cx="5821114" cy="915035"/>
          </a:xfrm>
          <a:prstGeom prst="rect">
            <a:avLst/>
          </a:prstGeom>
        </p:spPr>
        <p:txBody>
          <a:bodyPr lIns="0" tIns="0" rIns="0" bIns="0" rtlCol="0" anchor="t">
            <a:spAutoFit/>
          </a:bodyPr>
          <a:lstStyle/>
          <a:p>
            <a:pPr algn="l">
              <a:lnSpc>
                <a:spcPts val="3640"/>
              </a:lnSpc>
              <a:spcBef>
                <a:spcPct val="0"/>
              </a:spcBef>
            </a:pPr>
            <a:r>
              <a:rPr lang="en-US" sz="2600">
                <a:solidFill>
                  <a:srgbClr val="EFEFEF"/>
                </a:solidFill>
                <a:latin typeface="Public Sans"/>
                <a:ea typeface="Public Sans"/>
                <a:cs typeface="Public Sans"/>
                <a:sym typeface="Public Sans"/>
              </a:rPr>
              <a:t>Return Book ➝ Book marked available</a:t>
            </a:r>
          </a:p>
          <a:p>
            <a:pPr algn="l">
              <a:lnSpc>
                <a:spcPts val="3640"/>
              </a:lnSpc>
              <a:spcBef>
                <a:spcPct val="0"/>
              </a:spcBef>
            </a:pPr>
            <a:r>
              <a:rPr lang="en-US" sz="2600">
                <a:solidFill>
                  <a:srgbClr val="EFEFEF"/>
                </a:solidFill>
                <a:latin typeface="Public Sans"/>
                <a:ea typeface="Public Sans"/>
                <a:cs typeface="Public Sans"/>
                <a:sym typeface="Public Sans"/>
              </a:rPr>
              <a:t> ➝ Member updated.</a:t>
            </a:r>
          </a:p>
        </p:txBody>
      </p:sp>
      <p:sp>
        <p:nvSpPr>
          <p:cNvPr id="17" name="TextBox 17"/>
          <p:cNvSpPr txBox="1"/>
          <p:nvPr/>
        </p:nvSpPr>
        <p:spPr>
          <a:xfrm>
            <a:off x="11103749" y="3438362"/>
            <a:ext cx="6092651" cy="915035"/>
          </a:xfrm>
          <a:prstGeom prst="rect">
            <a:avLst/>
          </a:prstGeom>
        </p:spPr>
        <p:txBody>
          <a:bodyPr lIns="0" tIns="0" rIns="0" bIns="0" rtlCol="0" anchor="t">
            <a:spAutoFit/>
          </a:bodyPr>
          <a:lstStyle/>
          <a:p>
            <a:pPr algn="l">
              <a:lnSpc>
                <a:spcPts val="3640"/>
              </a:lnSpc>
              <a:spcBef>
                <a:spcPct val="0"/>
              </a:spcBef>
            </a:pPr>
            <a:r>
              <a:rPr lang="en-US" sz="2600">
                <a:solidFill>
                  <a:srgbClr val="EFEFEF"/>
                </a:solidFill>
                <a:latin typeface="Public Sans"/>
                <a:ea typeface="Public Sans"/>
                <a:cs typeface="Public Sans"/>
                <a:sym typeface="Public Sans"/>
              </a:rPr>
              <a:t>Add Member ➝ Member record created </a:t>
            </a:r>
          </a:p>
          <a:p>
            <a:pPr algn="l">
              <a:lnSpc>
                <a:spcPts val="3640"/>
              </a:lnSpc>
              <a:spcBef>
                <a:spcPct val="0"/>
              </a:spcBef>
            </a:pPr>
            <a:r>
              <a:rPr lang="en-US" sz="2600">
                <a:solidFill>
                  <a:srgbClr val="EFEFEF"/>
                </a:solidFill>
                <a:latin typeface="Public Sans"/>
                <a:ea typeface="Public Sans"/>
                <a:cs typeface="Public Sans"/>
                <a:sym typeface="Public Sans"/>
              </a:rPr>
              <a:t>➝ UI shows new member.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11230"/>
        </a:solidFill>
        <a:effectLst/>
      </p:bgPr>
    </p:bg>
    <p:spTree>
      <p:nvGrpSpPr>
        <p:cNvPr id="1" name=""/>
        <p:cNvGrpSpPr/>
        <p:nvPr/>
      </p:nvGrpSpPr>
      <p:grpSpPr>
        <a:xfrm>
          <a:off x="0" y="0"/>
          <a:ext cx="0" cy="0"/>
          <a:chOff x="0" y="0"/>
          <a:chExt cx="0" cy="0"/>
        </a:xfrm>
      </p:grpSpPr>
      <p:sp>
        <p:nvSpPr>
          <p:cNvPr id="2" name="Freeform 2"/>
          <p:cNvSpPr/>
          <p:nvPr/>
        </p:nvSpPr>
        <p:spPr>
          <a:xfrm>
            <a:off x="0" y="64774"/>
            <a:ext cx="18288000" cy="10157451"/>
          </a:xfrm>
          <a:custGeom>
            <a:avLst/>
            <a:gdLst/>
            <a:ahLst/>
            <a:cxnLst/>
            <a:rect l="l" t="t" r="r" b="b"/>
            <a:pathLst>
              <a:path w="18288000" h="10157451">
                <a:moveTo>
                  <a:pt x="0" y="0"/>
                </a:moveTo>
                <a:lnTo>
                  <a:pt x="18288000" y="0"/>
                </a:lnTo>
                <a:lnTo>
                  <a:pt x="18288000" y="10157452"/>
                </a:lnTo>
                <a:lnTo>
                  <a:pt x="0" y="10157452"/>
                </a:lnTo>
                <a:lnTo>
                  <a:pt x="0" y="0"/>
                </a:lnTo>
                <a:close/>
              </a:path>
            </a:pathLst>
          </a:custGeom>
          <a:blipFill>
            <a:blip r:embed="rId2"/>
            <a:stretch>
              <a:fillRect t="-1053" b="-18976"/>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11230"/>
        </a:solidFill>
        <a:effectLst/>
      </p:bgPr>
    </p:bg>
    <p:spTree>
      <p:nvGrpSpPr>
        <p:cNvPr id="1" name=""/>
        <p:cNvGrpSpPr/>
        <p:nvPr/>
      </p:nvGrpSpPr>
      <p:grpSpPr>
        <a:xfrm>
          <a:off x="0" y="0"/>
          <a:ext cx="0" cy="0"/>
          <a:chOff x="0" y="0"/>
          <a:chExt cx="0" cy="0"/>
        </a:xfrm>
      </p:grpSpPr>
      <p:sp>
        <p:nvSpPr>
          <p:cNvPr id="2" name="Freeform 2"/>
          <p:cNvSpPr/>
          <p:nvPr/>
        </p:nvSpPr>
        <p:spPr>
          <a:xfrm>
            <a:off x="7980011" y="0"/>
            <a:ext cx="10307989" cy="10243608"/>
          </a:xfrm>
          <a:custGeom>
            <a:avLst/>
            <a:gdLst/>
            <a:ahLst/>
            <a:cxnLst/>
            <a:rect l="l" t="t" r="r" b="b"/>
            <a:pathLst>
              <a:path w="10307989" h="10243608">
                <a:moveTo>
                  <a:pt x="0" y="0"/>
                </a:moveTo>
                <a:lnTo>
                  <a:pt x="10307989" y="0"/>
                </a:lnTo>
                <a:lnTo>
                  <a:pt x="10307989" y="10243608"/>
                </a:lnTo>
                <a:lnTo>
                  <a:pt x="0" y="10243608"/>
                </a:lnTo>
                <a:lnTo>
                  <a:pt x="0" y="0"/>
                </a:lnTo>
                <a:close/>
              </a:path>
            </a:pathLst>
          </a:custGeom>
          <a:blipFill>
            <a:blip r:embed="rId2"/>
            <a:stretch>
              <a:fillRect l="-1325" r="-1325" b="-3296"/>
            </a:stretch>
          </a:blipFill>
        </p:spPr>
      </p:sp>
      <p:grpSp>
        <p:nvGrpSpPr>
          <p:cNvPr id="3" name="Group 3"/>
          <p:cNvGrpSpPr/>
          <p:nvPr/>
        </p:nvGrpSpPr>
        <p:grpSpPr>
          <a:xfrm>
            <a:off x="141084" y="4446278"/>
            <a:ext cx="7705329" cy="2068903"/>
            <a:chOff x="0" y="0"/>
            <a:chExt cx="2029387" cy="544896"/>
          </a:xfrm>
        </p:grpSpPr>
        <p:sp>
          <p:nvSpPr>
            <p:cNvPr id="4" name="Freeform 4"/>
            <p:cNvSpPr/>
            <p:nvPr/>
          </p:nvSpPr>
          <p:spPr>
            <a:xfrm>
              <a:off x="0" y="0"/>
              <a:ext cx="2029387" cy="544896"/>
            </a:xfrm>
            <a:custGeom>
              <a:avLst/>
              <a:gdLst/>
              <a:ahLst/>
              <a:cxnLst/>
              <a:rect l="l" t="t" r="r" b="b"/>
              <a:pathLst>
                <a:path w="2029387" h="544896">
                  <a:moveTo>
                    <a:pt x="17081" y="0"/>
                  </a:moveTo>
                  <a:lnTo>
                    <a:pt x="2012306" y="0"/>
                  </a:lnTo>
                  <a:cubicBezTo>
                    <a:pt x="2016837" y="0"/>
                    <a:pt x="2021181" y="1800"/>
                    <a:pt x="2024384" y="5003"/>
                  </a:cubicBezTo>
                  <a:cubicBezTo>
                    <a:pt x="2027588" y="8206"/>
                    <a:pt x="2029387" y="12551"/>
                    <a:pt x="2029387" y="17081"/>
                  </a:cubicBezTo>
                  <a:lnTo>
                    <a:pt x="2029387" y="527815"/>
                  </a:lnTo>
                  <a:cubicBezTo>
                    <a:pt x="2029387" y="537249"/>
                    <a:pt x="2021740" y="544896"/>
                    <a:pt x="2012306" y="544896"/>
                  </a:cubicBezTo>
                  <a:lnTo>
                    <a:pt x="17081" y="544896"/>
                  </a:lnTo>
                  <a:cubicBezTo>
                    <a:pt x="12551" y="544896"/>
                    <a:pt x="8206" y="543097"/>
                    <a:pt x="5003" y="539893"/>
                  </a:cubicBezTo>
                  <a:cubicBezTo>
                    <a:pt x="1800" y="536690"/>
                    <a:pt x="0" y="532346"/>
                    <a:pt x="0" y="527815"/>
                  </a:cubicBezTo>
                  <a:lnTo>
                    <a:pt x="0" y="17081"/>
                  </a:lnTo>
                  <a:cubicBezTo>
                    <a:pt x="0" y="12551"/>
                    <a:pt x="1800" y="8206"/>
                    <a:pt x="5003" y="5003"/>
                  </a:cubicBezTo>
                  <a:cubicBezTo>
                    <a:pt x="8206" y="1800"/>
                    <a:pt x="12551" y="0"/>
                    <a:pt x="17081" y="0"/>
                  </a:cubicBezTo>
                  <a:close/>
                </a:path>
              </a:pathLst>
            </a:custGeom>
            <a:solidFill>
              <a:srgbClr val="94949D"/>
            </a:solidFill>
          </p:spPr>
        </p:sp>
        <p:sp>
          <p:nvSpPr>
            <p:cNvPr id="5" name="TextBox 5"/>
            <p:cNvSpPr txBox="1"/>
            <p:nvPr/>
          </p:nvSpPr>
          <p:spPr>
            <a:xfrm>
              <a:off x="0" y="-95250"/>
              <a:ext cx="2029387" cy="640146"/>
            </a:xfrm>
            <a:prstGeom prst="rect">
              <a:avLst/>
            </a:prstGeom>
          </p:spPr>
          <p:txBody>
            <a:bodyPr lIns="50800" tIns="50800" rIns="50800" bIns="50800" rtlCol="0" anchor="ctr"/>
            <a:lstStyle/>
            <a:p>
              <a:pPr algn="ctr">
                <a:lnSpc>
                  <a:spcPts val="7699"/>
                </a:lnSpc>
                <a:spcBef>
                  <a:spcPct val="0"/>
                </a:spcBef>
              </a:pPr>
              <a:r>
                <a:rPr lang="en-US" sz="5499" b="1">
                  <a:solidFill>
                    <a:srgbClr val="FFFFFF"/>
                  </a:solidFill>
                  <a:latin typeface="Canva Sans Bold"/>
                  <a:ea typeface="Canva Sans Bold"/>
                  <a:cs typeface="Canva Sans Bold"/>
                  <a:sym typeface="Canva Sans Bold"/>
                </a:rPr>
                <a:t>Architecture Diagram</a:t>
              </a: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353642"/>
        </a:solidFill>
        <a:effectLst/>
      </p:bgPr>
    </p:bg>
    <p:spTree>
      <p:nvGrpSpPr>
        <p:cNvPr id="1" name=""/>
        <p:cNvGrpSpPr/>
        <p:nvPr/>
      </p:nvGrpSpPr>
      <p:grpSpPr>
        <a:xfrm>
          <a:off x="0" y="0"/>
          <a:ext cx="0" cy="0"/>
          <a:chOff x="0" y="0"/>
          <a:chExt cx="0" cy="0"/>
        </a:xfrm>
      </p:grpSpPr>
      <p:sp>
        <p:nvSpPr>
          <p:cNvPr id="2" name="AutoShape 2"/>
          <p:cNvSpPr/>
          <p:nvPr/>
        </p:nvSpPr>
        <p:spPr>
          <a:xfrm>
            <a:off x="0" y="5143500"/>
            <a:ext cx="18288000" cy="5143500"/>
          </a:xfrm>
          <a:prstGeom prst="rect">
            <a:avLst/>
          </a:prstGeom>
          <a:solidFill>
            <a:srgbClr val="252634"/>
          </a:solidFill>
        </p:spPr>
      </p:sp>
      <p:sp>
        <p:nvSpPr>
          <p:cNvPr id="3" name="Freeform 3"/>
          <p:cNvSpPr/>
          <p:nvPr/>
        </p:nvSpPr>
        <p:spPr>
          <a:xfrm>
            <a:off x="0" y="5143500"/>
            <a:ext cx="5038274" cy="5143500"/>
          </a:xfrm>
          <a:custGeom>
            <a:avLst/>
            <a:gdLst/>
            <a:ahLst/>
            <a:cxnLst/>
            <a:rect l="l" t="t" r="r" b="b"/>
            <a:pathLst>
              <a:path w="5038274" h="5143500">
                <a:moveTo>
                  <a:pt x="0" y="0"/>
                </a:moveTo>
                <a:lnTo>
                  <a:pt x="5038274" y="0"/>
                </a:lnTo>
                <a:lnTo>
                  <a:pt x="5038274" y="5143500"/>
                </a:lnTo>
                <a:lnTo>
                  <a:pt x="0" y="5143500"/>
                </a:lnTo>
                <a:lnTo>
                  <a:pt x="0" y="0"/>
                </a:lnTo>
                <a:close/>
              </a:path>
            </a:pathLst>
          </a:custGeom>
          <a:blipFill>
            <a:blip r:embed="rId2"/>
            <a:stretch>
              <a:fillRect l="-1044" r="-1044"/>
            </a:stretch>
          </a:blipFill>
        </p:spPr>
      </p:sp>
      <p:sp>
        <p:nvSpPr>
          <p:cNvPr id="4" name="Freeform 4"/>
          <p:cNvSpPr/>
          <p:nvPr/>
        </p:nvSpPr>
        <p:spPr>
          <a:xfrm>
            <a:off x="12802533" y="0"/>
            <a:ext cx="5485467" cy="5143500"/>
          </a:xfrm>
          <a:custGeom>
            <a:avLst/>
            <a:gdLst/>
            <a:ahLst/>
            <a:cxnLst/>
            <a:rect l="l" t="t" r="r" b="b"/>
            <a:pathLst>
              <a:path w="5485467" h="5143500">
                <a:moveTo>
                  <a:pt x="0" y="0"/>
                </a:moveTo>
                <a:lnTo>
                  <a:pt x="5485467" y="0"/>
                </a:lnTo>
                <a:lnTo>
                  <a:pt x="5485467" y="5143500"/>
                </a:lnTo>
                <a:lnTo>
                  <a:pt x="0" y="5143500"/>
                </a:lnTo>
                <a:lnTo>
                  <a:pt x="0" y="0"/>
                </a:lnTo>
                <a:close/>
              </a:path>
            </a:pathLst>
          </a:custGeom>
          <a:blipFill>
            <a:blip r:embed="rId3"/>
            <a:stretch>
              <a:fillRect b="-6648"/>
            </a:stretch>
          </a:blipFill>
        </p:spPr>
      </p:sp>
      <p:sp>
        <p:nvSpPr>
          <p:cNvPr id="5" name="TextBox 5"/>
          <p:cNvSpPr txBox="1"/>
          <p:nvPr/>
        </p:nvSpPr>
        <p:spPr>
          <a:xfrm>
            <a:off x="412651" y="-50800"/>
            <a:ext cx="12389882" cy="1492249"/>
          </a:xfrm>
          <a:prstGeom prst="rect">
            <a:avLst/>
          </a:prstGeom>
        </p:spPr>
        <p:txBody>
          <a:bodyPr lIns="0" tIns="0" rIns="0" bIns="0" rtlCol="0" anchor="t">
            <a:spAutoFit/>
          </a:bodyPr>
          <a:lstStyle/>
          <a:p>
            <a:pPr algn="l">
              <a:lnSpc>
                <a:spcPts val="6020"/>
              </a:lnSpc>
            </a:pPr>
            <a:r>
              <a:rPr lang="en-US" sz="4300" b="1">
                <a:solidFill>
                  <a:srgbClr val="EFEFEF"/>
                </a:solidFill>
                <a:latin typeface="Public Sans Bold"/>
                <a:ea typeface="Public Sans Bold"/>
                <a:cs typeface="Public Sans Bold"/>
                <a:sym typeface="Public Sans Bold"/>
              </a:rPr>
              <a:t>CORE MODELS</a:t>
            </a:r>
          </a:p>
          <a:p>
            <a:pPr algn="l">
              <a:lnSpc>
                <a:spcPts val="5880"/>
              </a:lnSpc>
            </a:pPr>
            <a:r>
              <a:rPr lang="en-US" sz="4200" b="1">
                <a:solidFill>
                  <a:srgbClr val="EFEFEF"/>
                </a:solidFill>
                <a:latin typeface="Public Sans Bold"/>
                <a:ea typeface="Public Sans Bold"/>
                <a:cs typeface="Public Sans Bold"/>
                <a:sym typeface="Public Sans Bold"/>
              </a:rPr>
              <a:t>CLASS 1: Book</a:t>
            </a:r>
          </a:p>
        </p:txBody>
      </p:sp>
      <p:sp>
        <p:nvSpPr>
          <p:cNvPr id="6" name="TextBox 6"/>
          <p:cNvSpPr txBox="1"/>
          <p:nvPr/>
        </p:nvSpPr>
        <p:spPr>
          <a:xfrm>
            <a:off x="412651" y="1370032"/>
            <a:ext cx="10555862" cy="4115435"/>
          </a:xfrm>
          <a:prstGeom prst="rect">
            <a:avLst/>
          </a:prstGeom>
        </p:spPr>
        <p:txBody>
          <a:bodyPr lIns="0" tIns="0" rIns="0" bIns="0" rtlCol="0" anchor="t">
            <a:spAutoFit/>
          </a:bodyPr>
          <a:lstStyle/>
          <a:p>
            <a:pPr algn="l">
              <a:lnSpc>
                <a:spcPts val="3639"/>
              </a:lnSpc>
            </a:pPr>
            <a:r>
              <a:rPr lang="en-US" sz="2599">
                <a:solidFill>
                  <a:srgbClr val="EFEFEF"/>
                </a:solidFill>
                <a:latin typeface="Public Sans"/>
                <a:ea typeface="Public Sans"/>
                <a:cs typeface="Public Sans"/>
                <a:sym typeface="Public Sans"/>
              </a:rPr>
              <a:t>1.  Represents a book in the library.</a:t>
            </a:r>
          </a:p>
          <a:p>
            <a:pPr algn="l">
              <a:lnSpc>
                <a:spcPts val="3639"/>
              </a:lnSpc>
            </a:pPr>
            <a:r>
              <a:rPr lang="en-US" sz="2599">
                <a:solidFill>
                  <a:srgbClr val="EFEFEF"/>
                </a:solidFill>
                <a:latin typeface="Public Sans"/>
                <a:ea typeface="Public Sans"/>
                <a:cs typeface="Public Sans"/>
                <a:sym typeface="Public Sans"/>
              </a:rPr>
              <a:t>2. Attributes:</a:t>
            </a:r>
          </a:p>
          <a:p>
            <a:pPr algn="l">
              <a:lnSpc>
                <a:spcPts val="3639"/>
              </a:lnSpc>
            </a:pPr>
            <a:r>
              <a:rPr lang="en-US" sz="2599">
                <a:solidFill>
                  <a:srgbClr val="EFEFEF"/>
                </a:solidFill>
                <a:latin typeface="Public Sans"/>
                <a:ea typeface="Public Sans"/>
                <a:cs typeface="Public Sans"/>
                <a:sym typeface="Public Sans"/>
              </a:rPr>
              <a:t>      a. book_id : Unique book identifier (e.g., B001)</a:t>
            </a:r>
          </a:p>
          <a:p>
            <a:pPr algn="l">
              <a:lnSpc>
                <a:spcPts val="3639"/>
              </a:lnSpc>
            </a:pPr>
            <a:r>
              <a:rPr lang="en-US" sz="2599">
                <a:solidFill>
                  <a:srgbClr val="EFEFEF"/>
                </a:solidFill>
                <a:latin typeface="Public Sans"/>
                <a:ea typeface="Public Sans"/>
                <a:cs typeface="Public Sans"/>
                <a:sym typeface="Public Sans"/>
              </a:rPr>
              <a:t>      b. title : Title of the book</a:t>
            </a:r>
          </a:p>
          <a:p>
            <a:pPr algn="l">
              <a:lnSpc>
                <a:spcPts val="3639"/>
              </a:lnSpc>
            </a:pPr>
            <a:r>
              <a:rPr lang="en-US" sz="2599">
                <a:solidFill>
                  <a:srgbClr val="EFEFEF"/>
                </a:solidFill>
                <a:latin typeface="Public Sans"/>
                <a:ea typeface="Public Sans"/>
                <a:cs typeface="Public Sans"/>
                <a:sym typeface="Public Sans"/>
              </a:rPr>
              <a:t>      c. author : Author’s name</a:t>
            </a:r>
          </a:p>
          <a:p>
            <a:pPr algn="l">
              <a:lnSpc>
                <a:spcPts val="3639"/>
              </a:lnSpc>
            </a:pPr>
            <a:r>
              <a:rPr lang="en-US" sz="2599">
                <a:solidFill>
                  <a:srgbClr val="EFEFEF"/>
                </a:solidFill>
                <a:latin typeface="Public Sans"/>
                <a:ea typeface="Public Sans"/>
                <a:cs typeface="Public Sans"/>
                <a:sym typeface="Public Sans"/>
              </a:rPr>
              <a:t>      d. isbn : Unique ISBN number</a:t>
            </a:r>
          </a:p>
          <a:p>
            <a:pPr algn="l">
              <a:lnSpc>
                <a:spcPts val="3639"/>
              </a:lnSpc>
            </a:pPr>
            <a:r>
              <a:rPr lang="en-US" sz="2599">
                <a:solidFill>
                  <a:srgbClr val="EFEFEF"/>
                </a:solidFill>
                <a:latin typeface="Public Sans"/>
                <a:ea typeface="Public Sans"/>
                <a:cs typeface="Public Sans"/>
                <a:sym typeface="Public Sans"/>
              </a:rPr>
              <a:t>      available : Availability status (True = Available, False =   Issued)</a:t>
            </a:r>
          </a:p>
          <a:p>
            <a:pPr algn="l">
              <a:lnSpc>
                <a:spcPts val="3639"/>
              </a:lnSpc>
            </a:pPr>
            <a:r>
              <a:rPr lang="en-US" sz="2599">
                <a:solidFill>
                  <a:srgbClr val="EFEFEF"/>
                </a:solidFill>
                <a:latin typeface="Public Sans"/>
                <a:ea typeface="Public Sans"/>
                <a:cs typeface="Public Sans"/>
                <a:sym typeface="Public Sans"/>
              </a:rPr>
              <a:t>3.  __str__: Returns book details with status.</a:t>
            </a:r>
          </a:p>
          <a:p>
            <a:pPr algn="l">
              <a:lnSpc>
                <a:spcPts val="3639"/>
              </a:lnSpc>
            </a:pPr>
            <a:endParaRPr lang="en-US" sz="2599">
              <a:solidFill>
                <a:srgbClr val="EFEFEF"/>
              </a:solidFill>
              <a:latin typeface="Public Sans"/>
              <a:ea typeface="Public Sans"/>
              <a:cs typeface="Public Sans"/>
              <a:sym typeface="Public Sans"/>
            </a:endParaRPr>
          </a:p>
        </p:txBody>
      </p:sp>
      <p:grpSp>
        <p:nvGrpSpPr>
          <p:cNvPr id="7" name="Group 7"/>
          <p:cNvGrpSpPr/>
          <p:nvPr/>
        </p:nvGrpSpPr>
        <p:grpSpPr>
          <a:xfrm>
            <a:off x="5419982" y="5518487"/>
            <a:ext cx="12664936" cy="4333590"/>
            <a:chOff x="0" y="0"/>
            <a:chExt cx="16886581" cy="5778120"/>
          </a:xfrm>
        </p:grpSpPr>
        <p:sp>
          <p:nvSpPr>
            <p:cNvPr id="8" name="TextBox 8"/>
            <p:cNvSpPr txBox="1"/>
            <p:nvPr/>
          </p:nvSpPr>
          <p:spPr>
            <a:xfrm>
              <a:off x="0" y="-85725"/>
              <a:ext cx="16886581" cy="912071"/>
            </a:xfrm>
            <a:prstGeom prst="rect">
              <a:avLst/>
            </a:prstGeom>
          </p:spPr>
          <p:txBody>
            <a:bodyPr lIns="0" tIns="0" rIns="0" bIns="0" rtlCol="0" anchor="t">
              <a:spAutoFit/>
            </a:bodyPr>
            <a:lstStyle/>
            <a:p>
              <a:pPr algn="l">
                <a:lnSpc>
                  <a:spcPts val="5740"/>
                </a:lnSpc>
              </a:pPr>
              <a:r>
                <a:rPr lang="en-US" sz="4100" b="1">
                  <a:solidFill>
                    <a:srgbClr val="EFEFEF"/>
                  </a:solidFill>
                  <a:latin typeface="Public Sans Bold"/>
                  <a:ea typeface="Public Sans Bold"/>
                  <a:cs typeface="Public Sans Bold"/>
                  <a:sym typeface="Public Sans Bold"/>
                </a:rPr>
                <a:t>Class 2: Member</a:t>
              </a:r>
            </a:p>
          </p:txBody>
        </p:sp>
        <p:sp>
          <p:nvSpPr>
            <p:cNvPr id="9" name="TextBox 9"/>
            <p:cNvSpPr txBox="1"/>
            <p:nvPr/>
          </p:nvSpPr>
          <p:spPr>
            <a:xfrm>
              <a:off x="0" y="1438530"/>
              <a:ext cx="14386936" cy="4339590"/>
            </a:xfrm>
            <a:prstGeom prst="rect">
              <a:avLst/>
            </a:prstGeom>
          </p:spPr>
          <p:txBody>
            <a:bodyPr lIns="0" tIns="0" rIns="0" bIns="0" rtlCol="0" anchor="t">
              <a:spAutoFit/>
            </a:bodyPr>
            <a:lstStyle/>
            <a:p>
              <a:pPr marL="582928" lvl="1" indent="-291464" algn="l">
                <a:lnSpc>
                  <a:spcPts val="3779"/>
                </a:lnSpc>
                <a:buAutoNum type="arabicPeriod"/>
              </a:pPr>
              <a:r>
                <a:rPr lang="en-US" sz="2699">
                  <a:solidFill>
                    <a:srgbClr val="EFEFEF"/>
                  </a:solidFill>
                  <a:latin typeface="Public Sans"/>
                  <a:ea typeface="Public Sans"/>
                  <a:cs typeface="Public Sans"/>
                  <a:sym typeface="Public Sans"/>
                </a:rPr>
                <a:t>  Represents a library member.</a:t>
              </a:r>
            </a:p>
            <a:p>
              <a:pPr marL="582928" lvl="1" indent="-291464" algn="l">
                <a:lnSpc>
                  <a:spcPts val="3779"/>
                </a:lnSpc>
                <a:buAutoNum type="arabicPeriod"/>
              </a:pPr>
              <a:r>
                <a:rPr lang="en-US" sz="2699">
                  <a:solidFill>
                    <a:srgbClr val="EFEFEF"/>
                  </a:solidFill>
                  <a:latin typeface="Public Sans"/>
                  <a:ea typeface="Public Sans"/>
                  <a:cs typeface="Public Sans"/>
                  <a:sym typeface="Public Sans"/>
                </a:rPr>
                <a:t> Attributes:</a:t>
              </a:r>
            </a:p>
            <a:p>
              <a:pPr algn="l">
                <a:lnSpc>
                  <a:spcPts val="3779"/>
                </a:lnSpc>
              </a:pPr>
              <a:r>
                <a:rPr lang="en-US" sz="2699">
                  <a:solidFill>
                    <a:srgbClr val="EFEFEF"/>
                  </a:solidFill>
                  <a:latin typeface="Public Sans"/>
                  <a:ea typeface="Public Sans"/>
                  <a:cs typeface="Public Sans"/>
                  <a:sym typeface="Public Sans"/>
                </a:rPr>
                <a:t>         a.member_id :Unique member identifier (e.g., M001)</a:t>
              </a:r>
            </a:p>
            <a:p>
              <a:pPr algn="l">
                <a:lnSpc>
                  <a:spcPts val="3779"/>
                </a:lnSpc>
              </a:pPr>
              <a:r>
                <a:rPr lang="en-US" sz="2699">
                  <a:solidFill>
                    <a:srgbClr val="EFEFEF"/>
                  </a:solidFill>
                  <a:latin typeface="Public Sans"/>
                  <a:ea typeface="Public Sans"/>
                  <a:cs typeface="Public Sans"/>
                  <a:sym typeface="Public Sans"/>
                </a:rPr>
                <a:t>         b.name : Member’s full name</a:t>
              </a:r>
            </a:p>
            <a:p>
              <a:pPr algn="l">
                <a:lnSpc>
                  <a:spcPts val="3779"/>
                </a:lnSpc>
              </a:pPr>
              <a:r>
                <a:rPr lang="en-US" sz="2699">
                  <a:solidFill>
                    <a:srgbClr val="EFEFEF"/>
                  </a:solidFill>
                  <a:latin typeface="Public Sans"/>
                  <a:ea typeface="Public Sans"/>
                  <a:cs typeface="Public Sans"/>
                  <a:sym typeface="Public Sans"/>
                </a:rPr>
                <a:t>         c.borrowed_books : Many-to-Many relation with Book</a:t>
              </a:r>
            </a:p>
            <a:p>
              <a:pPr algn="l">
                <a:lnSpc>
                  <a:spcPts val="3779"/>
                </a:lnSpc>
              </a:pPr>
              <a:r>
                <a:rPr lang="en-US" sz="2699">
                  <a:solidFill>
                    <a:srgbClr val="EFEFEF"/>
                  </a:solidFill>
                  <a:latin typeface="Public Sans"/>
                  <a:ea typeface="Public Sans"/>
                  <a:cs typeface="Public Sans"/>
                  <a:sym typeface="Public Sans"/>
                </a:rPr>
                <a:t>    3. __str__: Returns member ID and name</a:t>
              </a:r>
            </a:p>
            <a:p>
              <a:pPr algn="l">
                <a:lnSpc>
                  <a:spcPts val="3359"/>
                </a:lnSpc>
              </a:pPr>
              <a:endParaRPr lang="en-US" sz="2699">
                <a:solidFill>
                  <a:srgbClr val="EFEFEF"/>
                </a:solidFill>
                <a:latin typeface="Public Sans"/>
                <a:ea typeface="Public Sans"/>
                <a:cs typeface="Public Sans"/>
                <a:sym typeface="Public Sans"/>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353642"/>
        </a:solidFill>
        <a:effectLst/>
      </p:bgPr>
    </p:bg>
    <p:spTree>
      <p:nvGrpSpPr>
        <p:cNvPr id="1" name=""/>
        <p:cNvGrpSpPr/>
        <p:nvPr/>
      </p:nvGrpSpPr>
      <p:grpSpPr>
        <a:xfrm>
          <a:off x="0" y="0"/>
          <a:ext cx="0" cy="0"/>
          <a:chOff x="0" y="0"/>
          <a:chExt cx="0" cy="0"/>
        </a:xfrm>
      </p:grpSpPr>
      <p:sp>
        <p:nvSpPr>
          <p:cNvPr id="2" name="AutoShape 2"/>
          <p:cNvSpPr/>
          <p:nvPr/>
        </p:nvSpPr>
        <p:spPr>
          <a:xfrm>
            <a:off x="0" y="5143500"/>
            <a:ext cx="18288000" cy="5143500"/>
          </a:xfrm>
          <a:prstGeom prst="rect">
            <a:avLst/>
          </a:prstGeom>
          <a:solidFill>
            <a:srgbClr val="252634"/>
          </a:solidFill>
        </p:spPr>
      </p:sp>
      <p:sp>
        <p:nvSpPr>
          <p:cNvPr id="3" name="Freeform 3"/>
          <p:cNvSpPr/>
          <p:nvPr/>
        </p:nvSpPr>
        <p:spPr>
          <a:xfrm>
            <a:off x="12969761" y="0"/>
            <a:ext cx="5318239" cy="5143500"/>
          </a:xfrm>
          <a:custGeom>
            <a:avLst/>
            <a:gdLst/>
            <a:ahLst/>
            <a:cxnLst/>
            <a:rect l="l" t="t" r="r" b="b"/>
            <a:pathLst>
              <a:path w="5318239" h="5143500">
                <a:moveTo>
                  <a:pt x="0" y="0"/>
                </a:moveTo>
                <a:lnTo>
                  <a:pt x="5318239" y="0"/>
                </a:lnTo>
                <a:lnTo>
                  <a:pt x="5318239" y="5143500"/>
                </a:lnTo>
                <a:lnTo>
                  <a:pt x="0" y="5143500"/>
                </a:lnTo>
                <a:lnTo>
                  <a:pt x="0" y="0"/>
                </a:lnTo>
                <a:close/>
              </a:path>
            </a:pathLst>
          </a:custGeom>
          <a:blipFill>
            <a:blip r:embed="rId2"/>
            <a:stretch>
              <a:fillRect l="-2982" t="-9564" r="-2982"/>
            </a:stretch>
          </a:blipFill>
        </p:spPr>
      </p:sp>
      <p:sp>
        <p:nvSpPr>
          <p:cNvPr id="4" name="Freeform 4"/>
          <p:cNvSpPr/>
          <p:nvPr/>
        </p:nvSpPr>
        <p:spPr>
          <a:xfrm>
            <a:off x="0" y="5143500"/>
            <a:ext cx="5803481" cy="5143500"/>
          </a:xfrm>
          <a:custGeom>
            <a:avLst/>
            <a:gdLst/>
            <a:ahLst/>
            <a:cxnLst/>
            <a:rect l="l" t="t" r="r" b="b"/>
            <a:pathLst>
              <a:path w="5803481" h="5143500">
                <a:moveTo>
                  <a:pt x="0" y="0"/>
                </a:moveTo>
                <a:lnTo>
                  <a:pt x="5803481" y="0"/>
                </a:lnTo>
                <a:lnTo>
                  <a:pt x="5803481" y="5143500"/>
                </a:lnTo>
                <a:lnTo>
                  <a:pt x="0" y="5143500"/>
                </a:lnTo>
                <a:lnTo>
                  <a:pt x="0" y="0"/>
                </a:lnTo>
                <a:close/>
              </a:path>
            </a:pathLst>
          </a:custGeom>
          <a:blipFill>
            <a:blip r:embed="rId3"/>
            <a:stretch>
              <a:fillRect t="-4668" b="-8163"/>
            </a:stretch>
          </a:blipFill>
        </p:spPr>
      </p:sp>
      <p:grpSp>
        <p:nvGrpSpPr>
          <p:cNvPr id="5" name="Group 5"/>
          <p:cNvGrpSpPr/>
          <p:nvPr/>
        </p:nvGrpSpPr>
        <p:grpSpPr>
          <a:xfrm>
            <a:off x="456816" y="211760"/>
            <a:ext cx="13119395" cy="4719981"/>
            <a:chOff x="0" y="0"/>
            <a:chExt cx="17492526" cy="6293307"/>
          </a:xfrm>
        </p:grpSpPr>
        <p:sp>
          <p:nvSpPr>
            <p:cNvPr id="6" name="TextBox 6"/>
            <p:cNvSpPr txBox="1"/>
            <p:nvPr/>
          </p:nvSpPr>
          <p:spPr>
            <a:xfrm>
              <a:off x="0" y="-85725"/>
              <a:ext cx="17492526" cy="1995805"/>
            </a:xfrm>
            <a:prstGeom prst="rect">
              <a:avLst/>
            </a:prstGeom>
          </p:spPr>
          <p:txBody>
            <a:bodyPr lIns="0" tIns="0" rIns="0" bIns="0" rtlCol="0" anchor="t">
              <a:spAutoFit/>
            </a:bodyPr>
            <a:lstStyle/>
            <a:p>
              <a:pPr algn="l">
                <a:lnSpc>
                  <a:spcPts val="6299"/>
                </a:lnSpc>
              </a:pPr>
              <a:r>
                <a:rPr lang="en-US" sz="4500" b="1">
                  <a:solidFill>
                    <a:srgbClr val="EFEFEF"/>
                  </a:solidFill>
                  <a:latin typeface="Public Sans Bold"/>
                  <a:ea typeface="Public Sans Bold"/>
                  <a:cs typeface="Public Sans Bold"/>
                  <a:sym typeface="Public Sans Bold"/>
                </a:rPr>
                <a:t>ADMIN CLASSES</a:t>
              </a:r>
            </a:p>
            <a:p>
              <a:pPr algn="l">
                <a:lnSpc>
                  <a:spcPts val="5880"/>
                </a:lnSpc>
              </a:pPr>
              <a:r>
                <a:rPr lang="en-US" sz="4200" b="1">
                  <a:solidFill>
                    <a:srgbClr val="EFEFEF"/>
                  </a:solidFill>
                  <a:latin typeface="Public Sans Bold"/>
                  <a:ea typeface="Public Sans Bold"/>
                  <a:cs typeface="Public Sans Bold"/>
                  <a:sym typeface="Public Sans Bold"/>
                </a:rPr>
                <a:t>CLASS 3: BookAdmin (Django Admin)</a:t>
              </a:r>
            </a:p>
          </p:txBody>
        </p:sp>
        <p:sp>
          <p:nvSpPr>
            <p:cNvPr id="7" name="TextBox 7"/>
            <p:cNvSpPr txBox="1"/>
            <p:nvPr/>
          </p:nvSpPr>
          <p:spPr>
            <a:xfrm>
              <a:off x="0" y="2365902"/>
              <a:ext cx="14903185" cy="3927406"/>
            </a:xfrm>
            <a:prstGeom prst="rect">
              <a:avLst/>
            </a:prstGeom>
          </p:spPr>
          <p:txBody>
            <a:bodyPr lIns="0" tIns="0" rIns="0" bIns="0" rtlCol="0" anchor="t">
              <a:spAutoFit/>
            </a:bodyPr>
            <a:lstStyle/>
            <a:p>
              <a:pPr marL="610938" lvl="1" indent="-305469" algn="l">
                <a:lnSpc>
                  <a:spcPts val="3961"/>
                </a:lnSpc>
                <a:buAutoNum type="arabicPeriod"/>
              </a:pPr>
              <a:r>
                <a:rPr lang="en-US" sz="2829">
                  <a:solidFill>
                    <a:srgbClr val="EFEFEF"/>
                  </a:solidFill>
                  <a:latin typeface="Public Sans"/>
                  <a:ea typeface="Public Sans"/>
                  <a:cs typeface="Public Sans"/>
                  <a:sym typeface="Public Sans"/>
                </a:rPr>
                <a:t> Purpose: Manages Book model in Django Admin.</a:t>
              </a:r>
            </a:p>
            <a:p>
              <a:pPr marL="610938" lvl="1" indent="-305469" algn="l">
                <a:lnSpc>
                  <a:spcPts val="3961"/>
                </a:lnSpc>
                <a:buAutoNum type="arabicPeriod"/>
              </a:pPr>
              <a:r>
                <a:rPr lang="en-US" sz="2829">
                  <a:solidFill>
                    <a:srgbClr val="EFEFEF"/>
                  </a:solidFill>
                  <a:latin typeface="Public Sans"/>
                  <a:ea typeface="Public Sans"/>
                  <a:cs typeface="Public Sans"/>
                  <a:sym typeface="Public Sans"/>
                </a:rPr>
                <a:t> Features:</a:t>
              </a:r>
            </a:p>
            <a:p>
              <a:pPr algn="l">
                <a:lnSpc>
                  <a:spcPts val="3961"/>
                </a:lnSpc>
              </a:pPr>
              <a:r>
                <a:rPr lang="en-US" sz="2829">
                  <a:solidFill>
                    <a:srgbClr val="EFEFEF"/>
                  </a:solidFill>
                  <a:latin typeface="Public Sans"/>
                  <a:ea typeface="Public Sans"/>
                  <a:cs typeface="Public Sans"/>
                  <a:sym typeface="Public Sans"/>
                </a:rPr>
                <a:t>           a. list_display : Shows book_id, title, author, isbn,  available</a:t>
              </a:r>
            </a:p>
            <a:p>
              <a:pPr algn="l">
                <a:lnSpc>
                  <a:spcPts val="3961"/>
                </a:lnSpc>
              </a:pPr>
              <a:r>
                <a:rPr lang="en-US" sz="2829">
                  <a:solidFill>
                    <a:srgbClr val="EFEFEF"/>
                  </a:solidFill>
                  <a:latin typeface="Public Sans"/>
                  <a:ea typeface="Public Sans"/>
                  <a:cs typeface="Public Sans"/>
                  <a:sym typeface="Public Sans"/>
                </a:rPr>
                <a:t>           b. search_fields : Search by ID, title, author, ISBN</a:t>
              </a:r>
            </a:p>
            <a:p>
              <a:pPr algn="l">
                <a:lnSpc>
                  <a:spcPts val="3961"/>
                </a:lnSpc>
              </a:pPr>
              <a:r>
                <a:rPr lang="en-US" sz="2829">
                  <a:solidFill>
                    <a:srgbClr val="EFEFEF"/>
                  </a:solidFill>
                  <a:latin typeface="Public Sans"/>
                  <a:ea typeface="Public Sans"/>
                  <a:cs typeface="Public Sans"/>
                  <a:sym typeface="Public Sans"/>
                </a:rPr>
                <a:t>    3. list_filter : Filter by availability</a:t>
              </a:r>
            </a:p>
            <a:p>
              <a:pPr algn="l">
                <a:lnSpc>
                  <a:spcPts val="3678"/>
                </a:lnSpc>
              </a:pPr>
              <a:endParaRPr lang="en-US" sz="2829">
                <a:solidFill>
                  <a:srgbClr val="EFEFEF"/>
                </a:solidFill>
                <a:latin typeface="Public Sans"/>
                <a:ea typeface="Public Sans"/>
                <a:cs typeface="Public Sans"/>
                <a:sym typeface="Public Sans"/>
              </a:endParaRPr>
            </a:p>
          </p:txBody>
        </p:sp>
      </p:grpSp>
      <p:grpSp>
        <p:nvGrpSpPr>
          <p:cNvPr id="8" name="Group 8"/>
          <p:cNvGrpSpPr/>
          <p:nvPr/>
        </p:nvGrpSpPr>
        <p:grpSpPr>
          <a:xfrm>
            <a:off x="6832303" y="5690714"/>
            <a:ext cx="12664936" cy="4403441"/>
            <a:chOff x="0" y="0"/>
            <a:chExt cx="16886581" cy="5871254"/>
          </a:xfrm>
        </p:grpSpPr>
        <p:sp>
          <p:nvSpPr>
            <p:cNvPr id="9" name="TextBox 9"/>
            <p:cNvSpPr txBox="1"/>
            <p:nvPr/>
          </p:nvSpPr>
          <p:spPr>
            <a:xfrm>
              <a:off x="0" y="-85725"/>
              <a:ext cx="16886581" cy="934085"/>
            </a:xfrm>
            <a:prstGeom prst="rect">
              <a:avLst/>
            </a:prstGeom>
          </p:spPr>
          <p:txBody>
            <a:bodyPr lIns="0" tIns="0" rIns="0" bIns="0" rtlCol="0" anchor="t">
              <a:spAutoFit/>
            </a:bodyPr>
            <a:lstStyle/>
            <a:p>
              <a:pPr algn="l">
                <a:lnSpc>
                  <a:spcPts val="5880"/>
                </a:lnSpc>
              </a:pPr>
              <a:r>
                <a:rPr lang="en-US" sz="4200" b="1">
                  <a:solidFill>
                    <a:srgbClr val="EFEFEF"/>
                  </a:solidFill>
                  <a:latin typeface="Public Sans Bold"/>
                  <a:ea typeface="Public Sans Bold"/>
                  <a:cs typeface="Public Sans Bold"/>
                  <a:sym typeface="Public Sans Bold"/>
                </a:rPr>
                <a:t>Class 4: MemberAdmin (Django Admin)</a:t>
              </a:r>
            </a:p>
          </p:txBody>
        </p:sp>
        <p:sp>
          <p:nvSpPr>
            <p:cNvPr id="10" name="TextBox 10"/>
            <p:cNvSpPr txBox="1"/>
            <p:nvPr/>
          </p:nvSpPr>
          <p:spPr>
            <a:xfrm>
              <a:off x="0" y="1460544"/>
              <a:ext cx="14386936" cy="4410710"/>
            </a:xfrm>
            <a:prstGeom prst="rect">
              <a:avLst/>
            </a:prstGeom>
          </p:spPr>
          <p:txBody>
            <a:bodyPr lIns="0" tIns="0" rIns="0" bIns="0" rtlCol="0" anchor="t">
              <a:spAutoFit/>
            </a:bodyPr>
            <a:lstStyle/>
            <a:p>
              <a:pPr marL="582930" lvl="1" indent="-291465" algn="l">
                <a:lnSpc>
                  <a:spcPts val="3779"/>
                </a:lnSpc>
                <a:buAutoNum type="arabicPeriod"/>
              </a:pPr>
              <a:r>
                <a:rPr lang="en-US" sz="2700">
                  <a:solidFill>
                    <a:srgbClr val="EFEFEF"/>
                  </a:solidFill>
                  <a:latin typeface="Public Sans"/>
                  <a:ea typeface="Public Sans"/>
                  <a:cs typeface="Public Sans"/>
                  <a:sym typeface="Public Sans"/>
                </a:rPr>
                <a:t> Purpose: Represents a library member.</a:t>
              </a:r>
            </a:p>
            <a:p>
              <a:pPr marL="582930" lvl="1" indent="-291465" algn="l">
                <a:lnSpc>
                  <a:spcPts val="3779"/>
                </a:lnSpc>
                <a:buAutoNum type="arabicPeriod"/>
              </a:pPr>
              <a:r>
                <a:rPr lang="en-US" sz="2700">
                  <a:solidFill>
                    <a:srgbClr val="EFEFEF"/>
                  </a:solidFill>
                  <a:latin typeface="Public Sans"/>
                  <a:ea typeface="Public Sans"/>
                  <a:cs typeface="Public Sans"/>
                  <a:sym typeface="Public Sans"/>
                </a:rPr>
                <a:t> Attributes:</a:t>
              </a:r>
            </a:p>
            <a:p>
              <a:pPr algn="l">
                <a:lnSpc>
                  <a:spcPts val="3779"/>
                </a:lnSpc>
              </a:pPr>
              <a:r>
                <a:rPr lang="en-US" sz="2700">
                  <a:solidFill>
                    <a:srgbClr val="EFEFEF"/>
                  </a:solidFill>
                  <a:latin typeface="Public Sans"/>
                  <a:ea typeface="Public Sans"/>
                  <a:cs typeface="Public Sans"/>
                  <a:sym typeface="Public Sans"/>
                </a:rPr>
                <a:t>         a.member_id :  Unique member identifier (e.g., M001)</a:t>
              </a:r>
            </a:p>
            <a:p>
              <a:pPr algn="l">
                <a:lnSpc>
                  <a:spcPts val="3779"/>
                </a:lnSpc>
              </a:pPr>
              <a:r>
                <a:rPr lang="en-US" sz="2700">
                  <a:solidFill>
                    <a:srgbClr val="EFEFEF"/>
                  </a:solidFill>
                  <a:latin typeface="Public Sans"/>
                  <a:ea typeface="Public Sans"/>
                  <a:cs typeface="Public Sans"/>
                  <a:sym typeface="Public Sans"/>
                </a:rPr>
                <a:t>         b.name : Member’s full name</a:t>
              </a:r>
            </a:p>
            <a:p>
              <a:pPr algn="l">
                <a:lnSpc>
                  <a:spcPts val="3779"/>
                </a:lnSpc>
              </a:pPr>
              <a:r>
                <a:rPr lang="en-US" sz="2700">
                  <a:solidFill>
                    <a:srgbClr val="EFEFEF"/>
                  </a:solidFill>
                  <a:latin typeface="Public Sans"/>
                  <a:ea typeface="Public Sans"/>
                  <a:cs typeface="Public Sans"/>
                  <a:sym typeface="Public Sans"/>
                </a:rPr>
                <a:t>         c.borrowed_books : Many-to-Many relation with Book</a:t>
              </a:r>
            </a:p>
            <a:p>
              <a:pPr algn="l">
                <a:lnSpc>
                  <a:spcPts val="3779"/>
                </a:lnSpc>
              </a:pPr>
              <a:r>
                <a:rPr lang="en-US" sz="2700">
                  <a:solidFill>
                    <a:srgbClr val="EFEFEF"/>
                  </a:solidFill>
                  <a:latin typeface="Public Sans"/>
                  <a:ea typeface="Public Sans"/>
                  <a:cs typeface="Public Sans"/>
                  <a:sym typeface="Public Sans"/>
                </a:rPr>
                <a:t>    3. __str__: Returns member ID and name</a:t>
              </a:r>
            </a:p>
            <a:p>
              <a:pPr algn="l">
                <a:lnSpc>
                  <a:spcPts val="3779"/>
                </a:lnSpc>
              </a:pPr>
              <a:endParaRPr lang="en-US" sz="2700">
                <a:solidFill>
                  <a:srgbClr val="EFEFEF"/>
                </a:solidFill>
                <a:latin typeface="Public Sans"/>
                <a:ea typeface="Public Sans"/>
                <a:cs typeface="Public Sans"/>
                <a:sym typeface="Public Sans"/>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11230"/>
        </a:solidFill>
        <a:effectLst/>
      </p:bgPr>
    </p:bg>
    <p:spTree>
      <p:nvGrpSpPr>
        <p:cNvPr id="1" name=""/>
        <p:cNvGrpSpPr/>
        <p:nvPr/>
      </p:nvGrpSpPr>
      <p:grpSpPr>
        <a:xfrm>
          <a:off x="0" y="0"/>
          <a:ext cx="0" cy="0"/>
          <a:chOff x="0" y="0"/>
          <a:chExt cx="0" cy="0"/>
        </a:xfrm>
      </p:grpSpPr>
      <p:sp>
        <p:nvSpPr>
          <p:cNvPr id="2" name="AutoShape 2"/>
          <p:cNvSpPr/>
          <p:nvPr/>
        </p:nvSpPr>
        <p:spPr>
          <a:xfrm>
            <a:off x="0" y="0"/>
            <a:ext cx="9144000" cy="10287000"/>
          </a:xfrm>
          <a:prstGeom prst="rect">
            <a:avLst/>
          </a:prstGeom>
          <a:solidFill>
            <a:srgbClr val="111230"/>
          </a:solidFill>
        </p:spPr>
      </p:sp>
      <p:sp>
        <p:nvSpPr>
          <p:cNvPr id="3" name="Freeform 3"/>
          <p:cNvSpPr/>
          <p:nvPr/>
        </p:nvSpPr>
        <p:spPr>
          <a:xfrm>
            <a:off x="151026" y="2124881"/>
            <a:ext cx="8841947" cy="7801408"/>
          </a:xfrm>
          <a:custGeom>
            <a:avLst/>
            <a:gdLst/>
            <a:ahLst/>
            <a:cxnLst/>
            <a:rect l="l" t="t" r="r" b="b"/>
            <a:pathLst>
              <a:path w="8841947" h="7801408">
                <a:moveTo>
                  <a:pt x="0" y="0"/>
                </a:moveTo>
                <a:lnTo>
                  <a:pt x="8841948" y="0"/>
                </a:lnTo>
                <a:lnTo>
                  <a:pt x="8841948" y="7801408"/>
                </a:lnTo>
                <a:lnTo>
                  <a:pt x="0" y="7801408"/>
                </a:lnTo>
                <a:lnTo>
                  <a:pt x="0" y="0"/>
                </a:lnTo>
                <a:close/>
              </a:path>
            </a:pathLst>
          </a:custGeom>
          <a:blipFill>
            <a:blip r:embed="rId2"/>
            <a:stretch>
              <a:fillRect l="-1512" t="-7094" r="-1512" b="-9671"/>
            </a:stretch>
          </a:blipFill>
        </p:spPr>
      </p:sp>
      <p:sp>
        <p:nvSpPr>
          <p:cNvPr id="4" name="TextBox 4"/>
          <p:cNvSpPr txBox="1"/>
          <p:nvPr/>
        </p:nvSpPr>
        <p:spPr>
          <a:xfrm>
            <a:off x="4009512" y="471559"/>
            <a:ext cx="10665261" cy="1095233"/>
          </a:xfrm>
          <a:prstGeom prst="rect">
            <a:avLst/>
          </a:prstGeom>
        </p:spPr>
        <p:txBody>
          <a:bodyPr lIns="0" tIns="0" rIns="0" bIns="0" rtlCol="0" anchor="t">
            <a:spAutoFit/>
          </a:bodyPr>
          <a:lstStyle/>
          <a:p>
            <a:pPr algn="l">
              <a:lnSpc>
                <a:spcPts val="8518"/>
              </a:lnSpc>
            </a:pPr>
            <a:r>
              <a:rPr lang="en-US" sz="7099" b="1">
                <a:solidFill>
                  <a:srgbClr val="EFEFEF"/>
                </a:solidFill>
                <a:latin typeface="Public Sans Bold"/>
                <a:ea typeface="Public Sans Bold"/>
                <a:cs typeface="Public Sans Bold"/>
                <a:sym typeface="Public Sans Bold"/>
              </a:rPr>
              <a:t>Tech Stack (Frontend)</a:t>
            </a:r>
          </a:p>
        </p:txBody>
      </p:sp>
      <p:sp>
        <p:nvSpPr>
          <p:cNvPr id="5" name="TextBox 5"/>
          <p:cNvSpPr txBox="1"/>
          <p:nvPr/>
        </p:nvSpPr>
        <p:spPr>
          <a:xfrm>
            <a:off x="9144000" y="2099322"/>
            <a:ext cx="9144000" cy="7825444"/>
          </a:xfrm>
          <a:prstGeom prst="rect">
            <a:avLst/>
          </a:prstGeom>
        </p:spPr>
        <p:txBody>
          <a:bodyPr lIns="0" tIns="0" rIns="0" bIns="0" rtlCol="0" anchor="t">
            <a:spAutoFit/>
          </a:bodyPr>
          <a:lstStyle/>
          <a:p>
            <a:pPr marL="754057" lvl="1" indent="-377029" algn="just">
              <a:lnSpc>
                <a:spcPts val="7823"/>
              </a:lnSpc>
              <a:buAutoNum type="arabicPeriod"/>
            </a:pPr>
            <a:r>
              <a:rPr lang="en-US" sz="3492">
                <a:solidFill>
                  <a:srgbClr val="EFEFEF"/>
                </a:solidFill>
                <a:latin typeface="Public Sans"/>
                <a:ea typeface="Public Sans"/>
                <a:cs typeface="Public Sans"/>
                <a:sym typeface="Public Sans"/>
              </a:rPr>
              <a:t> ReactJS: Modern, c</a:t>
            </a:r>
            <a:r>
              <a:rPr lang="en-US" sz="3492" u="none">
                <a:solidFill>
                  <a:srgbClr val="EFEFEF"/>
                </a:solidFill>
                <a:latin typeface="Public Sans"/>
                <a:ea typeface="Public Sans"/>
                <a:cs typeface="Public Sans"/>
                <a:sym typeface="Public Sans"/>
              </a:rPr>
              <a:t>omponent-based UI library.</a:t>
            </a:r>
          </a:p>
          <a:p>
            <a:pPr marL="754057" lvl="1" indent="-377029" algn="just">
              <a:lnSpc>
                <a:spcPts val="7823"/>
              </a:lnSpc>
              <a:buAutoNum type="arabicPeriod"/>
            </a:pPr>
            <a:r>
              <a:rPr lang="en-US" sz="3492" u="none">
                <a:solidFill>
                  <a:srgbClr val="EFEFEF"/>
                </a:solidFill>
                <a:latin typeface="Public Sans"/>
                <a:ea typeface="Public Sans"/>
                <a:cs typeface="Public Sans"/>
                <a:sym typeface="Public Sans"/>
              </a:rPr>
              <a:t> Axios: Handles API requests between React and Django.</a:t>
            </a:r>
          </a:p>
          <a:p>
            <a:pPr marL="754057" lvl="1" indent="-377029" algn="just">
              <a:lnSpc>
                <a:spcPts val="7823"/>
              </a:lnSpc>
              <a:buAutoNum type="arabicPeriod"/>
            </a:pPr>
            <a:r>
              <a:rPr lang="en-US" sz="3492" u="none">
                <a:solidFill>
                  <a:srgbClr val="EFEFEF"/>
                </a:solidFill>
                <a:latin typeface="Public Sans"/>
                <a:ea typeface="Public Sans"/>
                <a:cs typeface="Public Sans"/>
                <a:sym typeface="Public Sans"/>
              </a:rPr>
              <a:t> CSS : Used for styling UI elements.</a:t>
            </a:r>
          </a:p>
          <a:p>
            <a:pPr marL="754057" lvl="1" indent="-377029" algn="just">
              <a:lnSpc>
                <a:spcPts val="7823"/>
              </a:lnSpc>
              <a:buAutoNum type="arabicPeriod"/>
            </a:pPr>
            <a:r>
              <a:rPr lang="en-US" sz="3492" u="none">
                <a:solidFill>
                  <a:srgbClr val="EFEFEF"/>
                </a:solidFill>
                <a:latin typeface="Public Sans"/>
                <a:ea typeface="Public Sans"/>
                <a:cs typeface="Public Sans"/>
                <a:sym typeface="Public Sans"/>
              </a:rPr>
              <a:t> Provides an interactive, fast, and user-friendly interface.</a:t>
            </a:r>
          </a:p>
          <a:p>
            <a:pPr algn="just">
              <a:lnSpc>
                <a:spcPts val="7823"/>
              </a:lnSpc>
            </a:pPr>
            <a:endParaRPr lang="en-US" sz="3492" u="none">
              <a:solidFill>
                <a:srgbClr val="EFEFEF"/>
              </a:solidFill>
              <a:latin typeface="Public Sans"/>
              <a:ea typeface="Public Sans"/>
              <a:cs typeface="Public Sans"/>
              <a:sym typeface="Public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11230"/>
        </a:solidFill>
        <a:effectLst/>
      </p:bgPr>
    </p:bg>
    <p:spTree>
      <p:nvGrpSpPr>
        <p:cNvPr id="1" name=""/>
        <p:cNvGrpSpPr/>
        <p:nvPr/>
      </p:nvGrpSpPr>
      <p:grpSpPr>
        <a:xfrm>
          <a:off x="0" y="0"/>
          <a:ext cx="0" cy="0"/>
          <a:chOff x="0" y="0"/>
          <a:chExt cx="0" cy="0"/>
        </a:xfrm>
      </p:grpSpPr>
      <p:grpSp>
        <p:nvGrpSpPr>
          <p:cNvPr id="2" name="Group 2"/>
          <p:cNvGrpSpPr/>
          <p:nvPr/>
        </p:nvGrpSpPr>
        <p:grpSpPr>
          <a:xfrm>
            <a:off x="0" y="1240552"/>
            <a:ext cx="9688761" cy="8798338"/>
            <a:chOff x="0" y="0"/>
            <a:chExt cx="2551773" cy="2317258"/>
          </a:xfrm>
        </p:grpSpPr>
        <p:sp>
          <p:nvSpPr>
            <p:cNvPr id="3" name="Freeform 3"/>
            <p:cNvSpPr/>
            <p:nvPr/>
          </p:nvSpPr>
          <p:spPr>
            <a:xfrm>
              <a:off x="0" y="0"/>
              <a:ext cx="2551773" cy="2317258"/>
            </a:xfrm>
            <a:custGeom>
              <a:avLst/>
              <a:gdLst/>
              <a:ahLst/>
              <a:cxnLst/>
              <a:rect l="l" t="t" r="r" b="b"/>
              <a:pathLst>
                <a:path w="2551773" h="2317258">
                  <a:moveTo>
                    <a:pt x="0" y="0"/>
                  </a:moveTo>
                  <a:lnTo>
                    <a:pt x="2551773" y="0"/>
                  </a:lnTo>
                  <a:lnTo>
                    <a:pt x="2551773" y="2317258"/>
                  </a:lnTo>
                  <a:lnTo>
                    <a:pt x="0" y="2317258"/>
                  </a:lnTo>
                  <a:close/>
                </a:path>
              </a:pathLst>
            </a:custGeom>
            <a:solidFill>
              <a:srgbClr val="111230"/>
            </a:solidFill>
          </p:spPr>
        </p:sp>
        <p:sp>
          <p:nvSpPr>
            <p:cNvPr id="4" name="TextBox 4"/>
            <p:cNvSpPr txBox="1"/>
            <p:nvPr/>
          </p:nvSpPr>
          <p:spPr>
            <a:xfrm>
              <a:off x="0" y="-38100"/>
              <a:ext cx="2551773" cy="2355358"/>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9338029" y="1490977"/>
            <a:ext cx="8677870" cy="8171750"/>
          </a:xfrm>
          <a:custGeom>
            <a:avLst/>
            <a:gdLst/>
            <a:ahLst/>
            <a:cxnLst/>
            <a:rect l="l" t="t" r="r" b="b"/>
            <a:pathLst>
              <a:path w="8677870" h="8171750">
                <a:moveTo>
                  <a:pt x="0" y="0"/>
                </a:moveTo>
                <a:lnTo>
                  <a:pt x="8677870" y="0"/>
                </a:lnTo>
                <a:lnTo>
                  <a:pt x="8677870" y="8171750"/>
                </a:lnTo>
                <a:lnTo>
                  <a:pt x="0" y="8171750"/>
                </a:lnTo>
                <a:lnTo>
                  <a:pt x="0" y="0"/>
                </a:lnTo>
                <a:close/>
              </a:path>
            </a:pathLst>
          </a:custGeom>
          <a:blipFill>
            <a:blip r:embed="rId2"/>
            <a:stretch>
              <a:fillRect l="-1874" t="-1680" b="-6503"/>
            </a:stretch>
          </a:blipFill>
        </p:spPr>
      </p:sp>
      <p:grpSp>
        <p:nvGrpSpPr>
          <p:cNvPr id="6" name="Group 6"/>
          <p:cNvGrpSpPr/>
          <p:nvPr/>
        </p:nvGrpSpPr>
        <p:grpSpPr>
          <a:xfrm>
            <a:off x="10464069" y="1028700"/>
            <a:ext cx="9741078" cy="3000175"/>
            <a:chOff x="0" y="0"/>
            <a:chExt cx="12988104" cy="4000233"/>
          </a:xfrm>
        </p:grpSpPr>
        <p:sp>
          <p:nvSpPr>
            <p:cNvPr id="7" name="TextBox 7"/>
            <p:cNvSpPr txBox="1"/>
            <p:nvPr/>
          </p:nvSpPr>
          <p:spPr>
            <a:xfrm>
              <a:off x="0" y="-19050"/>
              <a:ext cx="12988104" cy="1454150"/>
            </a:xfrm>
            <a:prstGeom prst="rect">
              <a:avLst/>
            </a:prstGeom>
          </p:spPr>
          <p:txBody>
            <a:bodyPr lIns="0" tIns="0" rIns="0" bIns="0" rtlCol="0" anchor="t">
              <a:spAutoFit/>
            </a:bodyPr>
            <a:lstStyle/>
            <a:p>
              <a:pPr algn="l">
                <a:lnSpc>
                  <a:spcPts val="8520"/>
                </a:lnSpc>
              </a:pPr>
              <a:endParaRPr/>
            </a:p>
          </p:txBody>
        </p:sp>
        <p:sp>
          <p:nvSpPr>
            <p:cNvPr id="8" name="TextBox 8"/>
            <p:cNvSpPr txBox="1"/>
            <p:nvPr/>
          </p:nvSpPr>
          <p:spPr>
            <a:xfrm>
              <a:off x="0" y="3336658"/>
              <a:ext cx="12988104" cy="663575"/>
            </a:xfrm>
            <a:prstGeom prst="rect">
              <a:avLst/>
            </a:prstGeom>
          </p:spPr>
          <p:txBody>
            <a:bodyPr lIns="0" tIns="0" rIns="0" bIns="0" rtlCol="0" anchor="t">
              <a:spAutoFit/>
            </a:bodyPr>
            <a:lstStyle/>
            <a:p>
              <a:pPr marL="0" lvl="0" indent="0" algn="l">
                <a:lnSpc>
                  <a:spcPts val="4199"/>
                </a:lnSpc>
              </a:pPr>
              <a:endParaRPr/>
            </a:p>
          </p:txBody>
        </p:sp>
      </p:grpSp>
      <p:sp>
        <p:nvSpPr>
          <p:cNvPr id="9" name="TextBox 9"/>
          <p:cNvSpPr txBox="1"/>
          <p:nvPr/>
        </p:nvSpPr>
        <p:spPr>
          <a:xfrm>
            <a:off x="125709" y="1273814"/>
            <a:ext cx="9212320" cy="8388913"/>
          </a:xfrm>
          <a:prstGeom prst="rect">
            <a:avLst/>
          </a:prstGeom>
        </p:spPr>
        <p:txBody>
          <a:bodyPr lIns="0" tIns="0" rIns="0" bIns="0" rtlCol="0" anchor="t">
            <a:spAutoFit/>
          </a:bodyPr>
          <a:lstStyle/>
          <a:p>
            <a:pPr marL="713615" lvl="1" indent="-356807" algn="l">
              <a:lnSpc>
                <a:spcPts val="7436"/>
              </a:lnSpc>
              <a:buAutoNum type="arabicPeriod"/>
            </a:pPr>
            <a:r>
              <a:rPr lang="en-US" sz="3305">
                <a:solidFill>
                  <a:srgbClr val="FFFFFF"/>
                </a:solidFill>
                <a:latin typeface="Public Sans"/>
                <a:ea typeface="Public Sans"/>
                <a:cs typeface="Public Sans"/>
                <a:sym typeface="Public Sans"/>
              </a:rPr>
              <a:t> SQLite: Lightweight, serverless, and bundled with Django.</a:t>
            </a:r>
          </a:p>
          <a:p>
            <a:pPr marL="713615" lvl="1" indent="-356807" algn="l">
              <a:lnSpc>
                <a:spcPts val="7436"/>
              </a:lnSpc>
              <a:buAutoNum type="arabicPeriod"/>
            </a:pPr>
            <a:r>
              <a:rPr lang="en-US" sz="3305">
                <a:solidFill>
                  <a:srgbClr val="FFFFFF"/>
                </a:solidFill>
                <a:latin typeface="Public Sans"/>
                <a:ea typeface="Public Sans"/>
                <a:cs typeface="Public Sans"/>
                <a:sym typeface="Public Sans"/>
              </a:rPr>
              <a:t> Easy to configure and perfect for small-to-medium apps.</a:t>
            </a:r>
          </a:p>
          <a:p>
            <a:pPr marL="713615" lvl="1" indent="-356807" algn="l">
              <a:lnSpc>
                <a:spcPts val="7436"/>
              </a:lnSpc>
              <a:buAutoNum type="arabicPeriod"/>
            </a:pPr>
            <a:r>
              <a:rPr lang="en-US" sz="3305">
                <a:solidFill>
                  <a:srgbClr val="FFFFFF"/>
                </a:solidFill>
                <a:latin typeface="Public Sans"/>
                <a:ea typeface="Public Sans"/>
                <a:cs typeface="Public Sans"/>
                <a:sym typeface="Public Sans"/>
              </a:rPr>
              <a:t> Stores:</a:t>
            </a:r>
          </a:p>
          <a:p>
            <a:pPr algn="l">
              <a:lnSpc>
                <a:spcPts val="7436"/>
              </a:lnSpc>
            </a:pPr>
            <a:r>
              <a:rPr lang="en-US" sz="3305">
                <a:solidFill>
                  <a:srgbClr val="FFFFFF"/>
                </a:solidFill>
                <a:latin typeface="Public Sans"/>
                <a:ea typeface="Public Sans"/>
                <a:cs typeface="Public Sans"/>
                <a:sym typeface="Public Sans"/>
              </a:rPr>
              <a:t>        a. Book Records (Available/Issued).  </a:t>
            </a:r>
          </a:p>
          <a:p>
            <a:pPr algn="l">
              <a:lnSpc>
                <a:spcPts val="7436"/>
              </a:lnSpc>
            </a:pPr>
            <a:r>
              <a:rPr lang="en-US" sz="3305">
                <a:solidFill>
                  <a:srgbClr val="FFFFFF"/>
                </a:solidFill>
                <a:latin typeface="Public Sans"/>
                <a:ea typeface="Public Sans"/>
                <a:cs typeface="Public Sans"/>
                <a:sym typeface="Public Sans"/>
              </a:rPr>
              <a:t>        b. Member Records.</a:t>
            </a:r>
          </a:p>
          <a:p>
            <a:pPr algn="l">
              <a:lnSpc>
                <a:spcPts val="7436"/>
              </a:lnSpc>
            </a:pPr>
            <a:r>
              <a:rPr lang="en-US" sz="3305">
                <a:solidFill>
                  <a:srgbClr val="FFFFFF"/>
                </a:solidFill>
                <a:latin typeface="Public Sans"/>
                <a:ea typeface="Public Sans"/>
                <a:cs typeface="Public Sans"/>
                <a:sym typeface="Public Sans"/>
              </a:rPr>
              <a:t>   4.  Relationships (Borrowed books per        member).</a:t>
            </a:r>
          </a:p>
        </p:txBody>
      </p:sp>
      <p:sp>
        <p:nvSpPr>
          <p:cNvPr id="10" name="TextBox 10"/>
          <p:cNvSpPr txBox="1"/>
          <p:nvPr/>
        </p:nvSpPr>
        <p:spPr>
          <a:xfrm>
            <a:off x="2573449" y="19385"/>
            <a:ext cx="13987210" cy="1221167"/>
          </a:xfrm>
          <a:prstGeom prst="rect">
            <a:avLst/>
          </a:prstGeom>
        </p:spPr>
        <p:txBody>
          <a:bodyPr lIns="0" tIns="0" rIns="0" bIns="0" rtlCol="0" anchor="t">
            <a:spAutoFit/>
          </a:bodyPr>
          <a:lstStyle/>
          <a:p>
            <a:pPr algn="ctr">
              <a:lnSpc>
                <a:spcPts val="9866"/>
              </a:lnSpc>
              <a:spcBef>
                <a:spcPct val="0"/>
              </a:spcBef>
            </a:pPr>
            <a:r>
              <a:rPr lang="en-US" sz="7047" b="1">
                <a:solidFill>
                  <a:srgbClr val="FFFFFF"/>
                </a:solidFill>
                <a:latin typeface="Public Sans Bold"/>
                <a:ea typeface="Public Sans Bold"/>
                <a:cs typeface="Public Sans Bold"/>
                <a:sym typeface="Public Sans Bold"/>
              </a:rPr>
              <a:t>Tech Stack (Database)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11230"/>
        </a:solidFill>
        <a:effectLst/>
      </p:bgPr>
    </p:bg>
    <p:spTree>
      <p:nvGrpSpPr>
        <p:cNvPr id="1" name=""/>
        <p:cNvGrpSpPr/>
        <p:nvPr/>
      </p:nvGrpSpPr>
      <p:grpSpPr>
        <a:xfrm>
          <a:off x="0" y="0"/>
          <a:ext cx="0" cy="0"/>
          <a:chOff x="0" y="0"/>
          <a:chExt cx="0" cy="0"/>
        </a:xfrm>
      </p:grpSpPr>
      <p:sp>
        <p:nvSpPr>
          <p:cNvPr id="2" name="AutoShape 2"/>
          <p:cNvSpPr/>
          <p:nvPr/>
        </p:nvSpPr>
        <p:spPr>
          <a:xfrm>
            <a:off x="0" y="0"/>
            <a:ext cx="9144000" cy="10287000"/>
          </a:xfrm>
          <a:prstGeom prst="rect">
            <a:avLst/>
          </a:prstGeom>
          <a:solidFill>
            <a:srgbClr val="111230"/>
          </a:solidFill>
        </p:spPr>
      </p:sp>
      <p:sp>
        <p:nvSpPr>
          <p:cNvPr id="3" name="TextBox 3"/>
          <p:cNvSpPr txBox="1"/>
          <p:nvPr/>
        </p:nvSpPr>
        <p:spPr>
          <a:xfrm>
            <a:off x="4159527" y="146417"/>
            <a:ext cx="20191550" cy="1094194"/>
          </a:xfrm>
          <a:prstGeom prst="rect">
            <a:avLst/>
          </a:prstGeom>
        </p:spPr>
        <p:txBody>
          <a:bodyPr lIns="0" tIns="0" rIns="0" bIns="0" rtlCol="0" anchor="t">
            <a:spAutoFit/>
          </a:bodyPr>
          <a:lstStyle/>
          <a:p>
            <a:pPr algn="l">
              <a:lnSpc>
                <a:spcPts val="8510"/>
              </a:lnSpc>
            </a:pPr>
            <a:r>
              <a:rPr lang="en-US" sz="7092" b="1">
                <a:solidFill>
                  <a:srgbClr val="EFEFEF"/>
                </a:solidFill>
                <a:latin typeface="Public Sans Bold"/>
                <a:ea typeface="Public Sans Bold"/>
                <a:cs typeface="Public Sans Bold"/>
                <a:sym typeface="Public Sans Bold"/>
              </a:rPr>
              <a:t>Tech Stack (Backend)</a:t>
            </a:r>
          </a:p>
        </p:txBody>
      </p:sp>
      <p:sp>
        <p:nvSpPr>
          <p:cNvPr id="4" name="TextBox 4"/>
          <p:cNvSpPr txBox="1"/>
          <p:nvPr/>
        </p:nvSpPr>
        <p:spPr>
          <a:xfrm>
            <a:off x="9010402" y="-410371"/>
            <a:ext cx="8649048" cy="10841041"/>
          </a:xfrm>
          <a:prstGeom prst="rect">
            <a:avLst/>
          </a:prstGeom>
        </p:spPr>
        <p:txBody>
          <a:bodyPr lIns="0" tIns="0" rIns="0" bIns="0" rtlCol="0" anchor="t">
            <a:spAutoFit/>
          </a:bodyPr>
          <a:lstStyle/>
          <a:p>
            <a:pPr algn="l">
              <a:lnSpc>
                <a:spcPts val="6620"/>
              </a:lnSpc>
            </a:pPr>
            <a:r>
              <a:rPr lang="en-US" sz="3277">
                <a:solidFill>
                  <a:srgbClr val="EFEFEF"/>
                </a:solidFill>
                <a:latin typeface="Public Sans"/>
                <a:ea typeface="Public Sans"/>
                <a:cs typeface="Public Sans"/>
                <a:sym typeface="Public Sans"/>
              </a:rPr>
              <a:t>  </a:t>
            </a:r>
          </a:p>
          <a:p>
            <a:pPr algn="l">
              <a:lnSpc>
                <a:spcPts val="7341"/>
              </a:lnSpc>
            </a:pPr>
            <a:endParaRPr lang="en-US" sz="3277">
              <a:solidFill>
                <a:srgbClr val="EFEFEF"/>
              </a:solidFill>
              <a:latin typeface="Public Sans"/>
              <a:ea typeface="Public Sans"/>
              <a:cs typeface="Public Sans"/>
              <a:sym typeface="Public Sans"/>
            </a:endParaRPr>
          </a:p>
          <a:p>
            <a:pPr marL="707591" lvl="1" indent="-353796" algn="l">
              <a:lnSpc>
                <a:spcPts val="7341"/>
              </a:lnSpc>
              <a:buAutoNum type="arabicPeriod"/>
            </a:pPr>
            <a:r>
              <a:rPr lang="en-US" sz="3277">
                <a:solidFill>
                  <a:srgbClr val="EFEFEF"/>
                </a:solidFill>
                <a:latin typeface="Public Sans"/>
                <a:ea typeface="Public Sans"/>
                <a:cs typeface="Public Sans"/>
                <a:sym typeface="Public Sans"/>
              </a:rPr>
              <a:t> Django 5.3: Powerful Python fra</a:t>
            </a:r>
            <a:r>
              <a:rPr lang="en-US" sz="3277" u="none">
                <a:solidFill>
                  <a:srgbClr val="EFEFEF"/>
                </a:solidFill>
                <a:latin typeface="Public Sans"/>
                <a:ea typeface="Public Sans"/>
                <a:cs typeface="Public Sans"/>
                <a:sym typeface="Public Sans"/>
              </a:rPr>
              <a:t>mework for web apps.</a:t>
            </a:r>
          </a:p>
          <a:p>
            <a:pPr marL="707591" lvl="1" indent="-353796" algn="l">
              <a:lnSpc>
                <a:spcPts val="7341"/>
              </a:lnSpc>
              <a:buAutoNum type="arabicPeriod"/>
            </a:pPr>
            <a:r>
              <a:rPr lang="en-US" sz="3277" u="none">
                <a:solidFill>
                  <a:srgbClr val="EFEFEF"/>
                </a:solidFill>
                <a:latin typeface="Public Sans"/>
                <a:ea typeface="Public Sans"/>
                <a:cs typeface="Public Sans"/>
                <a:sym typeface="Public Sans"/>
              </a:rPr>
              <a:t> Django REST Framework: Simplifies API creation.</a:t>
            </a:r>
          </a:p>
          <a:p>
            <a:pPr marL="707591" lvl="1" indent="-353796" algn="l">
              <a:lnSpc>
                <a:spcPts val="7341"/>
              </a:lnSpc>
              <a:buAutoNum type="arabicPeriod"/>
            </a:pPr>
            <a:r>
              <a:rPr lang="en-US" sz="3277" u="none">
                <a:solidFill>
                  <a:srgbClr val="EFEFEF"/>
                </a:solidFill>
                <a:latin typeface="Public Sans"/>
                <a:ea typeface="Public Sans"/>
                <a:cs typeface="Public Sans"/>
                <a:sym typeface="Public Sans"/>
              </a:rPr>
              <a:t> Django CORS Headers: Enables communication between React and Django (cross-origin requests).</a:t>
            </a:r>
          </a:p>
          <a:p>
            <a:pPr marL="707591" lvl="1" indent="-353796" algn="l">
              <a:lnSpc>
                <a:spcPts val="7341"/>
              </a:lnSpc>
              <a:buAutoNum type="arabicPeriod"/>
            </a:pPr>
            <a:r>
              <a:rPr lang="en-US" sz="3277" u="none">
                <a:solidFill>
                  <a:srgbClr val="EFEFEF"/>
                </a:solidFill>
                <a:latin typeface="Public Sans"/>
                <a:ea typeface="Public Sans"/>
                <a:cs typeface="Public Sans"/>
                <a:sym typeface="Public Sans"/>
              </a:rPr>
              <a:t> Ensures security, validation, and API consistency.</a:t>
            </a:r>
          </a:p>
          <a:p>
            <a:pPr algn="l">
              <a:lnSpc>
                <a:spcPts val="6620"/>
              </a:lnSpc>
            </a:pPr>
            <a:endParaRPr lang="en-US" sz="3277" u="none">
              <a:solidFill>
                <a:srgbClr val="EFEFEF"/>
              </a:solidFill>
              <a:latin typeface="Public Sans"/>
              <a:ea typeface="Public Sans"/>
              <a:cs typeface="Public Sans"/>
              <a:sym typeface="Public Sans"/>
            </a:endParaRPr>
          </a:p>
        </p:txBody>
      </p:sp>
      <p:sp>
        <p:nvSpPr>
          <p:cNvPr id="5" name="Freeform 5"/>
          <p:cNvSpPr/>
          <p:nvPr/>
        </p:nvSpPr>
        <p:spPr>
          <a:xfrm>
            <a:off x="249622" y="1667913"/>
            <a:ext cx="8644757" cy="8469686"/>
          </a:xfrm>
          <a:custGeom>
            <a:avLst/>
            <a:gdLst/>
            <a:ahLst/>
            <a:cxnLst/>
            <a:rect l="l" t="t" r="r" b="b"/>
            <a:pathLst>
              <a:path w="8644757" h="8469686">
                <a:moveTo>
                  <a:pt x="0" y="0"/>
                </a:moveTo>
                <a:lnTo>
                  <a:pt x="8644756" y="0"/>
                </a:lnTo>
                <a:lnTo>
                  <a:pt x="8644756" y="8469686"/>
                </a:lnTo>
                <a:lnTo>
                  <a:pt x="0" y="8469686"/>
                </a:lnTo>
                <a:lnTo>
                  <a:pt x="0" y="0"/>
                </a:lnTo>
                <a:close/>
              </a:path>
            </a:pathLst>
          </a:custGeom>
          <a:blipFill>
            <a:blip r:embed="rId2"/>
            <a:stretch>
              <a:fillRect l="-6056" t="-6158" b="-2089"/>
            </a:stretch>
          </a:blipFill>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11230"/>
        </a:solidFill>
        <a:effectLst/>
      </p:bgPr>
    </p:bg>
    <p:spTree>
      <p:nvGrpSpPr>
        <p:cNvPr id="1" name=""/>
        <p:cNvGrpSpPr/>
        <p:nvPr/>
      </p:nvGrpSpPr>
      <p:grpSpPr>
        <a:xfrm>
          <a:off x="0" y="0"/>
          <a:ext cx="0" cy="0"/>
          <a:chOff x="0" y="0"/>
          <a:chExt cx="0" cy="0"/>
        </a:xfrm>
      </p:grpSpPr>
      <p:sp>
        <p:nvSpPr>
          <p:cNvPr id="2" name="Freeform 2"/>
          <p:cNvSpPr/>
          <p:nvPr/>
        </p:nvSpPr>
        <p:spPr>
          <a:xfrm>
            <a:off x="0" y="2290847"/>
            <a:ext cx="16370582" cy="8339056"/>
          </a:xfrm>
          <a:custGeom>
            <a:avLst/>
            <a:gdLst/>
            <a:ahLst/>
            <a:cxnLst/>
            <a:rect l="l" t="t" r="r" b="b"/>
            <a:pathLst>
              <a:path w="16370582" h="8339056">
                <a:moveTo>
                  <a:pt x="0" y="0"/>
                </a:moveTo>
                <a:lnTo>
                  <a:pt x="16370582" y="0"/>
                </a:lnTo>
                <a:lnTo>
                  <a:pt x="16370582" y="8339056"/>
                </a:lnTo>
                <a:lnTo>
                  <a:pt x="0" y="8339056"/>
                </a:lnTo>
                <a:lnTo>
                  <a:pt x="0" y="0"/>
                </a:lnTo>
                <a:close/>
              </a:path>
            </a:pathLst>
          </a:custGeom>
          <a:blipFill>
            <a:blip r:embed="rId2"/>
            <a:stretch>
              <a:fillRect l="-2970" t="-18805" r="-2970"/>
            </a:stretch>
          </a:blipFill>
        </p:spPr>
      </p:sp>
      <p:grpSp>
        <p:nvGrpSpPr>
          <p:cNvPr id="3" name="Group 3"/>
          <p:cNvGrpSpPr/>
          <p:nvPr/>
        </p:nvGrpSpPr>
        <p:grpSpPr>
          <a:xfrm>
            <a:off x="4043878" y="6282489"/>
            <a:ext cx="8282826" cy="1838488"/>
            <a:chOff x="0" y="0"/>
            <a:chExt cx="11043768" cy="2451317"/>
          </a:xfrm>
        </p:grpSpPr>
        <p:sp>
          <p:nvSpPr>
            <p:cNvPr id="4" name="TextBox 4"/>
            <p:cNvSpPr txBox="1"/>
            <p:nvPr/>
          </p:nvSpPr>
          <p:spPr>
            <a:xfrm>
              <a:off x="0" y="-19050"/>
              <a:ext cx="11043768" cy="1454150"/>
            </a:xfrm>
            <a:prstGeom prst="rect">
              <a:avLst/>
            </a:prstGeom>
          </p:spPr>
          <p:txBody>
            <a:bodyPr lIns="0" tIns="0" rIns="0" bIns="0" rtlCol="0" anchor="t">
              <a:spAutoFit/>
            </a:bodyPr>
            <a:lstStyle/>
            <a:p>
              <a:pPr algn="ctr">
                <a:lnSpc>
                  <a:spcPts val="8520"/>
                </a:lnSpc>
              </a:pPr>
              <a:r>
                <a:rPr lang="en-US" sz="7100" b="1">
                  <a:solidFill>
                    <a:srgbClr val="EFEFEF"/>
                  </a:solidFill>
                  <a:latin typeface="Public Sans Bold"/>
                  <a:ea typeface="Public Sans Bold"/>
                  <a:cs typeface="Public Sans Bold"/>
                  <a:sym typeface="Public Sans Bold"/>
                </a:rPr>
                <a:t>Backend</a:t>
              </a:r>
            </a:p>
          </p:txBody>
        </p:sp>
        <p:sp>
          <p:nvSpPr>
            <p:cNvPr id="5" name="TextBox 5"/>
            <p:cNvSpPr txBox="1"/>
            <p:nvPr/>
          </p:nvSpPr>
          <p:spPr>
            <a:xfrm>
              <a:off x="0" y="1787741"/>
              <a:ext cx="11043768" cy="663575"/>
            </a:xfrm>
            <a:prstGeom prst="rect">
              <a:avLst/>
            </a:prstGeom>
          </p:spPr>
          <p:txBody>
            <a:bodyPr lIns="0" tIns="0" rIns="0" bIns="0" rtlCol="0" anchor="t">
              <a:spAutoFit/>
            </a:bodyPr>
            <a:lstStyle/>
            <a:p>
              <a:pPr marL="0" lvl="0" indent="0" algn="ctr">
                <a:lnSpc>
                  <a:spcPts val="4199"/>
                </a:lnSpc>
              </a:pPr>
              <a:r>
                <a:rPr lang="en-US" sz="2999">
                  <a:solidFill>
                    <a:srgbClr val="EFEFEF"/>
                  </a:solidFill>
                  <a:latin typeface="Public Sans"/>
                  <a:ea typeface="Public Sans"/>
                  <a:cs typeface="Public Sans"/>
                  <a:sym typeface="Public Sans"/>
                </a:rPr>
                <a:t>Django+SQLite+DRF</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111230"/>
        </a:solidFill>
        <a:effectLst/>
      </p:bgPr>
    </p:bg>
    <p:spTree>
      <p:nvGrpSpPr>
        <p:cNvPr id="1" name=""/>
        <p:cNvGrpSpPr/>
        <p:nvPr/>
      </p:nvGrpSpPr>
      <p:grpSpPr>
        <a:xfrm>
          <a:off x="0" y="0"/>
          <a:ext cx="0" cy="0"/>
          <a:chOff x="0" y="0"/>
          <a:chExt cx="0" cy="0"/>
        </a:xfrm>
      </p:grpSpPr>
      <p:grpSp>
        <p:nvGrpSpPr>
          <p:cNvPr id="2" name="Group 2"/>
          <p:cNvGrpSpPr/>
          <p:nvPr/>
        </p:nvGrpSpPr>
        <p:grpSpPr>
          <a:xfrm>
            <a:off x="5497666" y="171769"/>
            <a:ext cx="7292668" cy="2361772"/>
            <a:chOff x="0" y="0"/>
            <a:chExt cx="9723557" cy="3149029"/>
          </a:xfrm>
        </p:grpSpPr>
        <p:sp>
          <p:nvSpPr>
            <p:cNvPr id="3" name="TextBox 3"/>
            <p:cNvSpPr txBox="1"/>
            <p:nvPr/>
          </p:nvSpPr>
          <p:spPr>
            <a:xfrm>
              <a:off x="0" y="-19050"/>
              <a:ext cx="9723557" cy="1454150"/>
            </a:xfrm>
            <a:prstGeom prst="rect">
              <a:avLst/>
            </a:prstGeom>
          </p:spPr>
          <p:txBody>
            <a:bodyPr anchor="t" bIns="0" lIns="0" rIns="0" rtlCol="0" tIns="0">
              <a:spAutoFit/>
            </a:bodyPr>
            <a:lstStyle/>
            <a:p>
              <a:pPr algn="ctr">
                <a:lnSpc>
                  <a:spcPts val="8520"/>
                </a:lnSpc>
              </a:pPr>
              <a:r>
                <a:rPr b="1" lang="en-US" sz="7100">
                  <a:solidFill>
                    <a:srgbClr val="FFFFFF"/>
                  </a:solidFill>
                  <a:latin typeface="Public Sans Bold"/>
                  <a:ea typeface="Public Sans Bold"/>
                  <a:cs typeface="Public Sans Bold"/>
                  <a:sym typeface="Public Sans Bold"/>
                </a:rPr>
                <a:t>Backend Setup</a:t>
              </a:r>
            </a:p>
          </p:txBody>
        </p:sp>
        <p:sp>
          <p:nvSpPr>
            <p:cNvPr id="4" name="TextBox 4"/>
            <p:cNvSpPr txBox="1"/>
            <p:nvPr/>
          </p:nvSpPr>
          <p:spPr>
            <a:xfrm>
              <a:off x="0" y="1786954"/>
              <a:ext cx="8634202" cy="663575"/>
            </a:xfrm>
            <a:prstGeom prst="rect">
              <a:avLst/>
            </a:prstGeom>
          </p:spPr>
          <p:txBody>
            <a:bodyPr anchor="t" bIns="0" lIns="0" rIns="0" rtlCol="0" tIns="0">
              <a:spAutoFit/>
            </a:bodyPr>
            <a:lstStyle/>
            <a:p>
              <a:pPr algn="l" indent="0" lvl="0" marL="0">
                <a:lnSpc>
                  <a:spcPts val="4199"/>
                </a:lnSpc>
              </a:pPr>
              <a:endParaRPr/>
            </a:p>
          </p:txBody>
        </p:sp>
      </p:grpSp>
      <p:sp>
        <p:nvSpPr>
          <p:cNvPr id="5" name="TextBox 5"/>
          <p:cNvSpPr txBox="1"/>
          <p:nvPr/>
        </p:nvSpPr>
        <p:spPr>
          <a:xfrm>
            <a:off x="0" y="1449117"/>
            <a:ext cx="9518196" cy="8323618"/>
          </a:xfrm>
          <a:prstGeom prst="rect">
            <a:avLst/>
          </a:prstGeom>
        </p:spPr>
        <p:txBody>
          <a:bodyPr anchor="t" bIns="0" lIns="0" rIns="0" rtlCol="0" tIns="0">
            <a:spAutoFit/>
          </a:bodyPr>
          <a:lstStyle/>
          <a:p>
            <a:pPr algn="l" indent="-346821" lvl="1" marL="693641">
              <a:lnSpc>
                <a:spcPts val="6040"/>
              </a:lnSpc>
              <a:buAutoNum type="arabicPeriod"/>
            </a:pPr>
            <a:r>
              <a:rPr lang="en-US" sz="3212">
                <a:solidFill>
                  <a:srgbClr val="FFFFFF"/>
                </a:solidFill>
                <a:latin typeface="Public Sans"/>
                <a:ea typeface="Public Sans"/>
                <a:cs typeface="Public Sans"/>
                <a:sym typeface="Public Sans"/>
              </a:rPr>
              <a:t> Create virtual environment using python -m venv .venv.</a:t>
            </a:r>
          </a:p>
          <a:p>
            <a:pPr algn="l" indent="-346821" lvl="1" marL="693641">
              <a:lnSpc>
                <a:spcPts val="6040"/>
              </a:lnSpc>
              <a:buAutoNum type="arabicPeriod"/>
            </a:pPr>
            <a:r>
              <a:rPr lang="en-US" sz="3212">
                <a:solidFill>
                  <a:srgbClr val="FFFFFF"/>
                </a:solidFill>
                <a:latin typeface="Public Sans"/>
                <a:ea typeface="Public Sans"/>
                <a:cs typeface="Public Sans"/>
                <a:sym typeface="Public Sans"/>
              </a:rPr>
              <a:t> Install packages: Django, DRF, django-cors-headers.</a:t>
            </a:r>
          </a:p>
          <a:p>
            <a:pPr algn="l" indent="-346821" lvl="1" marL="693641">
              <a:lnSpc>
                <a:spcPts val="6040"/>
              </a:lnSpc>
              <a:buAutoNum type="arabicPeriod"/>
            </a:pPr>
            <a:r>
              <a:rPr lang="en-US" sz="3212">
                <a:solidFill>
                  <a:srgbClr val="FFFFFF"/>
                </a:solidFill>
                <a:latin typeface="Public Sans"/>
                <a:ea typeface="Public Sans"/>
                <a:cs typeface="Public Sans"/>
                <a:sym typeface="Public Sans"/>
              </a:rPr>
              <a:t> Start project: django-admin startproject library_project.</a:t>
            </a:r>
          </a:p>
          <a:p>
            <a:pPr algn="l" indent="-346821" lvl="1" marL="693641">
              <a:lnSpc>
                <a:spcPts val="6040"/>
              </a:lnSpc>
              <a:buAutoNum type="arabicPeriod"/>
            </a:pPr>
            <a:r>
              <a:rPr lang="en-US" sz="3212">
                <a:solidFill>
                  <a:srgbClr val="FFFFFF"/>
                </a:solidFill>
                <a:latin typeface="Public Sans"/>
                <a:ea typeface="Public Sans"/>
                <a:cs typeface="Public Sans"/>
                <a:sym typeface="Public Sans"/>
              </a:rPr>
              <a:t> Start app: python manage.py startapp library_app.</a:t>
            </a:r>
          </a:p>
          <a:p>
            <a:pPr algn="l" indent="-346821" lvl="1" marL="693641">
              <a:lnSpc>
                <a:spcPts val="6040"/>
              </a:lnSpc>
              <a:buAutoNum type="arabicPeriod"/>
            </a:pPr>
            <a:r>
              <a:rPr lang="en-US" sz="3212">
                <a:solidFill>
                  <a:srgbClr val="FFFFFF"/>
                </a:solidFill>
                <a:latin typeface="Public Sans"/>
                <a:ea typeface="Public Sans"/>
                <a:cs typeface="Public Sans"/>
                <a:sym typeface="Public Sans"/>
              </a:rPr>
              <a:t> Configure settings.py for installed apps, middleware, DB.</a:t>
            </a:r>
          </a:p>
          <a:p>
            <a:pPr algn="l">
              <a:lnSpc>
                <a:spcPts val="6040"/>
              </a:lnSpc>
            </a:pPr>
            <a:endParaRPr lang="en-US" sz="3212">
              <a:solidFill>
                <a:srgbClr val="FFFFFF"/>
              </a:solidFill>
              <a:latin typeface="Public Sans"/>
              <a:ea typeface="Public Sans"/>
              <a:cs typeface="Public Sans"/>
              <a:sym typeface="Public Sans"/>
            </a:endParaRPr>
          </a:p>
        </p:txBody>
      </p:sp>
      <p:grpSp>
        <p:nvGrpSpPr>
          <p:cNvPr id="6" name="Group 6"/>
          <p:cNvGrpSpPr/>
          <p:nvPr/>
        </p:nvGrpSpPr>
        <p:grpSpPr>
          <a:xfrm>
            <a:off x="9518196" y="2105365"/>
            <a:ext cx="8616760" cy="7507775"/>
            <a:chOff x="0" y="0"/>
            <a:chExt cx="11489014" cy="10010367"/>
          </a:xfrm>
        </p:grpSpPr>
        <p:pic>
          <p:nvPicPr>
            <p:cNvPr id="7" name="Picture 7"/>
            <p:cNvPicPr>
              <a:picLocks noChangeAspect="1"/>
            </p:cNvPicPr>
            <p:nvPr/>
          </p:nvPicPr>
          <p:blipFill>
            <a:blip r:embed="rId2"/>
            <a:srcRect b="100" t="100"/>
            <a:stretch>
              <a:fillRect/>
            </a:stretch>
          </p:blipFill>
          <p:spPr>
            <a:xfrm>
              <a:off x="0" y="0"/>
              <a:ext cx="11489014" cy="10010367"/>
            </a:xfrm>
            <a:prstGeom prst="rect">
              <a:avLst/>
            </a:prstGeom>
          </p:spPr>
        </p:pic>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111230"/>
        </a:solidFill>
        <a:effectLst/>
      </p:bgPr>
    </p:bg>
    <p:spTree>
      <p:nvGrpSpPr>
        <p:cNvPr id="1" name=""/>
        <p:cNvGrpSpPr/>
        <p:nvPr/>
      </p:nvGrpSpPr>
      <p:grpSpPr>
        <a:xfrm>
          <a:off x="0" y="0"/>
          <a:ext cx="0" cy="0"/>
          <a:chOff x="0" y="0"/>
          <a:chExt cx="0" cy="0"/>
        </a:xfrm>
      </p:grpSpPr>
      <p:grpSp>
        <p:nvGrpSpPr>
          <p:cNvPr id="2" name="Group 2"/>
          <p:cNvGrpSpPr/>
          <p:nvPr/>
        </p:nvGrpSpPr>
        <p:grpSpPr>
          <a:xfrm>
            <a:off x="114512" y="2562001"/>
            <a:ext cx="9029488" cy="6729898"/>
            <a:chOff x="0" y="0"/>
            <a:chExt cx="12039317" cy="8973198"/>
          </a:xfrm>
        </p:grpSpPr>
        <p:pic>
          <p:nvPicPr>
            <p:cNvPr id="3" name="Picture 3"/>
            <p:cNvPicPr>
              <a:picLocks noChangeAspect="1"/>
            </p:cNvPicPr>
            <p:nvPr/>
          </p:nvPicPr>
          <p:blipFill>
            <a:blip r:embed="rId2"/>
            <a:srcRect b="51" t="51"/>
            <a:stretch>
              <a:fillRect/>
            </a:stretch>
          </p:blipFill>
          <p:spPr>
            <a:xfrm>
              <a:off x="0" y="0"/>
              <a:ext cx="12039317" cy="8973198"/>
            </a:xfrm>
            <a:prstGeom prst="rect">
              <a:avLst/>
            </a:prstGeom>
          </p:spPr>
        </p:pic>
      </p:grpSp>
      <p:sp>
        <p:nvSpPr>
          <p:cNvPr id="4" name="AutoShape 4"/>
          <p:cNvSpPr/>
          <p:nvPr/>
        </p:nvSpPr>
        <p:spPr>
          <a:xfrm>
            <a:off x="0" y="9482399"/>
            <a:ext cx="18288000" cy="804601"/>
          </a:xfrm>
          <a:prstGeom prst="rect">
            <a:avLst/>
          </a:prstGeom>
          <a:solidFill>
            <a:srgbClr val="EFEFEF"/>
          </a:solidFill>
        </p:spPr>
      </p:sp>
      <p:sp>
        <p:nvSpPr>
          <p:cNvPr id="5" name="TextBox 5"/>
          <p:cNvSpPr txBox="1"/>
          <p:nvPr/>
        </p:nvSpPr>
        <p:spPr>
          <a:xfrm>
            <a:off x="5171865" y="1009650"/>
            <a:ext cx="8395087" cy="1095375"/>
          </a:xfrm>
          <a:prstGeom prst="rect">
            <a:avLst/>
          </a:prstGeom>
        </p:spPr>
        <p:txBody>
          <a:bodyPr anchor="t" bIns="0" lIns="0" rIns="0" rtlCol="0" tIns="0">
            <a:spAutoFit/>
          </a:bodyPr>
          <a:lstStyle/>
          <a:p>
            <a:pPr algn="l">
              <a:lnSpc>
                <a:spcPts val="8520"/>
              </a:lnSpc>
            </a:pPr>
            <a:r>
              <a:rPr b="1" lang="en-US" sz="7100">
                <a:solidFill>
                  <a:srgbClr val="EFEFEF"/>
                </a:solidFill>
                <a:latin typeface="Public Sans Bold"/>
                <a:ea typeface="Public Sans Bold"/>
                <a:cs typeface="Public Sans Bold"/>
                <a:sym typeface="Public Sans Bold"/>
              </a:rPr>
              <a:t>Backend Models</a:t>
            </a:r>
          </a:p>
        </p:txBody>
      </p:sp>
      <p:sp>
        <p:nvSpPr>
          <p:cNvPr id="6" name="TextBox 6"/>
          <p:cNvSpPr txBox="1"/>
          <p:nvPr/>
        </p:nvSpPr>
        <p:spPr>
          <a:xfrm>
            <a:off x="8731393" y="2381026"/>
            <a:ext cx="9442095" cy="7394059"/>
          </a:xfrm>
          <a:prstGeom prst="rect">
            <a:avLst/>
          </a:prstGeom>
        </p:spPr>
        <p:txBody>
          <a:bodyPr anchor="t" bIns="0" lIns="0" rIns="0" rtlCol="0" tIns="0">
            <a:spAutoFit/>
          </a:bodyPr>
          <a:lstStyle/>
          <a:p>
            <a:pPr algn="l" indent="-320084" lvl="1" marL="640167">
              <a:lnSpc>
                <a:spcPts val="5337"/>
              </a:lnSpc>
              <a:buAutoNum type="arabicPeriod"/>
            </a:pPr>
            <a:r>
              <a:rPr lang="en-US" sz="2965">
                <a:solidFill>
                  <a:srgbClr val="EFEFEF"/>
                </a:solidFill>
                <a:latin typeface="Public Sans"/>
                <a:ea typeface="Public Sans"/>
                <a:cs typeface="Public Sans"/>
                <a:sym typeface="Public Sans"/>
              </a:rPr>
              <a:t> B</a:t>
            </a:r>
            <a:r>
              <a:rPr lang="en-US" sz="2965" u="none">
                <a:solidFill>
                  <a:srgbClr val="EFEFEF"/>
                </a:solidFill>
                <a:latin typeface="Public Sans"/>
                <a:ea typeface="Public Sans"/>
                <a:cs typeface="Public Sans"/>
                <a:sym typeface="Public Sans"/>
              </a:rPr>
              <a:t>ook Model: Each book has a unique book_id, a title, an author, an isbn, and an available status (True/False).</a:t>
            </a:r>
          </a:p>
          <a:p>
            <a:pPr algn="l" indent="-320084" lvl="1" marL="640167">
              <a:lnSpc>
                <a:spcPts val="5337"/>
              </a:lnSpc>
              <a:buAutoNum type="arabicPeriod"/>
            </a:pPr>
            <a:r>
              <a:rPr lang="en-US" sz="2965" u="none">
                <a:solidFill>
                  <a:srgbClr val="EFEFEF"/>
                </a:solidFill>
                <a:latin typeface="Public Sans"/>
                <a:ea typeface="Public Sans"/>
                <a:cs typeface="Public Sans"/>
                <a:sym typeface="Public Sans"/>
              </a:rPr>
              <a:t> Member Model: Each member has a unique member_id, a name, and a field for borrowed_books.</a:t>
            </a:r>
          </a:p>
          <a:p>
            <a:pPr algn="l" indent="-320084" lvl="1" marL="640167">
              <a:lnSpc>
                <a:spcPts val="5337"/>
              </a:lnSpc>
              <a:buAutoNum type="arabicPeriod"/>
            </a:pPr>
            <a:r>
              <a:rPr lang="en-US" sz="2965" u="none">
                <a:solidFill>
                  <a:srgbClr val="EFEFEF"/>
                </a:solidFill>
                <a:latin typeface="Public Sans"/>
                <a:ea typeface="Public Sans"/>
                <a:cs typeface="Public Sans"/>
                <a:sym typeface="Public Sans"/>
              </a:rPr>
              <a:t> Relationship: A many-to-many relationship connects the Member and Book models, allowing the system to accurately track which books each member has borrowed.</a:t>
            </a:r>
          </a:p>
          <a:p>
            <a:pPr algn="l">
              <a:lnSpc>
                <a:spcPts val="5337"/>
              </a:lnSpc>
            </a:pPr>
            <a:endParaRPr lang="en-US" sz="2965" u="none">
              <a:solidFill>
                <a:srgbClr val="EFEFEF"/>
              </a:solidFill>
              <a:latin typeface="Public Sans"/>
              <a:ea typeface="Public Sans"/>
              <a:cs typeface="Public Sans"/>
              <a:sym typeface="Public Sans"/>
            </a:endParaRPr>
          </a:p>
        </p:txBody>
      </p:sp>
      <p:sp>
        <p:nvSpPr>
          <p:cNvPr id="7" name="AutoShape 7"/>
          <p:cNvSpPr/>
          <p:nvPr/>
        </p:nvSpPr>
        <p:spPr>
          <a:xfrm>
            <a:off x="0" y="0"/>
            <a:ext cx="18288000" cy="743080"/>
          </a:xfrm>
          <a:prstGeom prst="rect">
            <a:avLst/>
          </a:prstGeom>
          <a:solidFill>
            <a:srgbClr val="EFEFEF"/>
          </a:solidFill>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11230"/>
        </a:solidFill>
        <a:effectLst/>
      </p:bgPr>
    </p:bg>
    <p:spTree>
      <p:nvGrpSpPr>
        <p:cNvPr id="1" name=""/>
        <p:cNvGrpSpPr/>
        <p:nvPr/>
      </p:nvGrpSpPr>
      <p:grpSpPr>
        <a:xfrm>
          <a:off x="0" y="0"/>
          <a:ext cx="0" cy="0"/>
          <a:chOff x="0" y="0"/>
          <a:chExt cx="0" cy="0"/>
        </a:xfrm>
      </p:grpSpPr>
      <p:sp>
        <p:nvSpPr>
          <p:cNvPr id="2" name="AutoShape 2"/>
          <p:cNvSpPr/>
          <p:nvPr/>
        </p:nvSpPr>
        <p:spPr>
          <a:xfrm>
            <a:off x="0" y="9439275"/>
            <a:ext cx="18288000" cy="847725"/>
          </a:xfrm>
          <a:prstGeom prst="rect">
            <a:avLst/>
          </a:prstGeom>
          <a:solidFill>
            <a:srgbClr val="EFEFEF"/>
          </a:solidFill>
        </p:spPr>
      </p:sp>
      <p:sp>
        <p:nvSpPr>
          <p:cNvPr id="3" name="AutoShape 3"/>
          <p:cNvSpPr/>
          <p:nvPr/>
        </p:nvSpPr>
        <p:spPr>
          <a:xfrm>
            <a:off x="0" y="0"/>
            <a:ext cx="18288000" cy="1028700"/>
          </a:xfrm>
          <a:prstGeom prst="rect">
            <a:avLst/>
          </a:prstGeom>
          <a:solidFill>
            <a:srgbClr val="EFEFEF"/>
          </a:solidFill>
        </p:spPr>
      </p:sp>
      <p:sp>
        <p:nvSpPr>
          <p:cNvPr id="4" name="Freeform 4"/>
          <p:cNvSpPr/>
          <p:nvPr/>
        </p:nvSpPr>
        <p:spPr>
          <a:xfrm>
            <a:off x="0" y="2838478"/>
            <a:ext cx="8672429" cy="6419822"/>
          </a:xfrm>
          <a:custGeom>
            <a:avLst/>
            <a:gdLst/>
            <a:ahLst/>
            <a:cxnLst/>
            <a:rect l="l" t="t" r="r" b="b"/>
            <a:pathLst>
              <a:path w="8672429" h="6419822">
                <a:moveTo>
                  <a:pt x="0" y="0"/>
                </a:moveTo>
                <a:lnTo>
                  <a:pt x="8672429" y="0"/>
                </a:lnTo>
                <a:lnTo>
                  <a:pt x="8672429" y="6419822"/>
                </a:lnTo>
                <a:lnTo>
                  <a:pt x="0" y="6419822"/>
                </a:lnTo>
                <a:lnTo>
                  <a:pt x="0" y="0"/>
                </a:lnTo>
                <a:close/>
              </a:path>
            </a:pathLst>
          </a:custGeom>
          <a:blipFill>
            <a:blip r:embed="rId2"/>
            <a:stretch>
              <a:fillRect l="-1690" t="-20186" b="-17186"/>
            </a:stretch>
          </a:blipFill>
        </p:spPr>
      </p:sp>
      <p:sp>
        <p:nvSpPr>
          <p:cNvPr id="5" name="TextBox 5"/>
          <p:cNvSpPr txBox="1"/>
          <p:nvPr/>
        </p:nvSpPr>
        <p:spPr>
          <a:xfrm>
            <a:off x="5028679" y="1233236"/>
            <a:ext cx="8737990" cy="1095375"/>
          </a:xfrm>
          <a:prstGeom prst="rect">
            <a:avLst/>
          </a:prstGeom>
        </p:spPr>
        <p:txBody>
          <a:bodyPr lIns="0" tIns="0" rIns="0" bIns="0" rtlCol="0" anchor="t">
            <a:spAutoFit/>
          </a:bodyPr>
          <a:lstStyle/>
          <a:p>
            <a:pPr algn="l">
              <a:lnSpc>
                <a:spcPts val="8520"/>
              </a:lnSpc>
            </a:pPr>
            <a:r>
              <a:rPr lang="en-US" sz="7100" b="1">
                <a:solidFill>
                  <a:srgbClr val="EFEFEF"/>
                </a:solidFill>
                <a:latin typeface="Public Sans Bold"/>
                <a:ea typeface="Public Sans Bold"/>
                <a:cs typeface="Public Sans Bold"/>
                <a:sym typeface="Public Sans Bold"/>
              </a:rPr>
              <a:t>Backend Serializers</a:t>
            </a:r>
          </a:p>
        </p:txBody>
      </p:sp>
      <p:sp>
        <p:nvSpPr>
          <p:cNvPr id="6" name="TextBox 6"/>
          <p:cNvSpPr txBox="1"/>
          <p:nvPr/>
        </p:nvSpPr>
        <p:spPr>
          <a:xfrm>
            <a:off x="8672429" y="2706175"/>
            <a:ext cx="9615571" cy="6408203"/>
          </a:xfrm>
          <a:prstGeom prst="rect">
            <a:avLst/>
          </a:prstGeom>
        </p:spPr>
        <p:txBody>
          <a:bodyPr lIns="0" tIns="0" rIns="0" bIns="0" rtlCol="0" anchor="t">
            <a:spAutoFit/>
          </a:bodyPr>
          <a:lstStyle/>
          <a:p>
            <a:pPr marL="666521" lvl="1" indent="-333260" algn="l">
              <a:lnSpc>
                <a:spcPts val="6421"/>
              </a:lnSpc>
              <a:buAutoNum type="arabicPeriod"/>
            </a:pPr>
            <a:r>
              <a:rPr lang="en-US" sz="3087">
                <a:solidFill>
                  <a:srgbClr val="EFEFEF"/>
                </a:solidFill>
                <a:latin typeface="Public Sans"/>
                <a:ea typeface="Public Sans"/>
                <a:cs typeface="Public Sans"/>
                <a:sym typeface="Public Sans"/>
              </a:rPr>
              <a:t> Purp</a:t>
            </a:r>
            <a:r>
              <a:rPr lang="en-US" sz="3087" u="none">
                <a:solidFill>
                  <a:srgbClr val="EFEFEF"/>
                </a:solidFill>
                <a:latin typeface="Public Sans"/>
                <a:ea typeface="Public Sans"/>
                <a:cs typeface="Public Sans"/>
                <a:sym typeface="Public Sans"/>
              </a:rPr>
              <a:t>ose: Convert Django models → JSON (and vice versa).</a:t>
            </a:r>
          </a:p>
          <a:p>
            <a:pPr marL="666521" lvl="1" indent="-333260" algn="l">
              <a:lnSpc>
                <a:spcPts val="6421"/>
              </a:lnSpc>
              <a:buAutoNum type="arabicPeriod"/>
            </a:pPr>
            <a:r>
              <a:rPr lang="en-US" sz="3087" u="none">
                <a:solidFill>
                  <a:srgbClr val="EFEFEF"/>
                </a:solidFill>
                <a:latin typeface="Public Sans"/>
                <a:ea typeface="Public Sans"/>
                <a:cs typeface="Public Sans"/>
                <a:sym typeface="Public Sans"/>
              </a:rPr>
              <a:t> BookSerializer: Handles book fields.</a:t>
            </a:r>
          </a:p>
          <a:p>
            <a:pPr marL="666521" lvl="1" indent="-333260" algn="l">
              <a:lnSpc>
                <a:spcPts val="6421"/>
              </a:lnSpc>
              <a:buAutoNum type="arabicPeriod"/>
            </a:pPr>
            <a:r>
              <a:rPr lang="en-US" sz="3087" u="none">
                <a:solidFill>
                  <a:srgbClr val="EFEFEF"/>
                </a:solidFill>
                <a:latin typeface="Public Sans"/>
                <a:ea typeface="Public Sans"/>
                <a:cs typeface="Public Sans"/>
                <a:sym typeface="Public Sans"/>
              </a:rPr>
              <a:t> MemberSerializer: Includes borrowed_books and borrowed_books_detail.</a:t>
            </a:r>
          </a:p>
          <a:p>
            <a:pPr marL="666521" lvl="1" indent="-333260" algn="l">
              <a:lnSpc>
                <a:spcPts val="6421"/>
              </a:lnSpc>
              <a:buAutoNum type="arabicPeriod"/>
            </a:pPr>
            <a:r>
              <a:rPr lang="en-US" sz="3087" u="none">
                <a:solidFill>
                  <a:srgbClr val="EFEFEF"/>
                </a:solidFill>
                <a:latin typeface="Public Sans"/>
                <a:ea typeface="Public Sans"/>
                <a:cs typeface="Public Sans"/>
                <a:sym typeface="Public Sans"/>
              </a:rPr>
              <a:t> Ensures clean data exchange between frontend &amp; backend.</a:t>
            </a:r>
          </a:p>
          <a:p>
            <a:pPr algn="l">
              <a:lnSpc>
                <a:spcPts val="6421"/>
              </a:lnSpc>
            </a:pPr>
            <a:endParaRPr lang="en-US" sz="3087" u="none">
              <a:solidFill>
                <a:srgbClr val="EFEFEF"/>
              </a:solidFill>
              <a:latin typeface="Public Sans"/>
              <a:ea typeface="Public Sans"/>
              <a:cs typeface="Public Sans"/>
              <a:sym typeface="Public Sans"/>
            </a:endParaR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111230"/>
        </a:solidFill>
        <a:effectLst/>
      </p:bgPr>
    </p:bg>
    <p:spTree>
      <p:nvGrpSpPr>
        <p:cNvPr id="1" name=""/>
        <p:cNvGrpSpPr/>
        <p:nvPr/>
      </p:nvGrpSpPr>
      <p:grpSpPr>
        <a:xfrm>
          <a:off x="0" y="0"/>
          <a:ext cx="0" cy="0"/>
          <a:chOff x="0" y="0"/>
          <a:chExt cx="0" cy="0"/>
        </a:xfrm>
      </p:grpSpPr>
      <p:grpSp>
        <p:nvGrpSpPr>
          <p:cNvPr id="2" name="Group 2"/>
          <p:cNvGrpSpPr/>
          <p:nvPr/>
        </p:nvGrpSpPr>
        <p:grpSpPr>
          <a:xfrm>
            <a:off x="0" y="2374678"/>
            <a:ext cx="8963991" cy="7185766"/>
            <a:chOff x="0" y="0"/>
            <a:chExt cx="11951988" cy="9581021"/>
          </a:xfrm>
        </p:grpSpPr>
        <p:pic>
          <p:nvPicPr>
            <p:cNvPr id="3" name="Picture 3"/>
            <p:cNvPicPr>
              <a:picLocks noChangeAspect="1"/>
            </p:cNvPicPr>
            <p:nvPr/>
          </p:nvPicPr>
          <p:blipFill>
            <a:blip r:embed="rId2"/>
            <a:srcRect b="90" t="90"/>
            <a:stretch>
              <a:fillRect/>
            </a:stretch>
          </p:blipFill>
          <p:spPr>
            <a:xfrm>
              <a:off x="0" y="0"/>
              <a:ext cx="11951988" cy="9581021"/>
            </a:xfrm>
            <a:prstGeom prst="rect">
              <a:avLst/>
            </a:prstGeom>
          </p:spPr>
        </p:pic>
      </p:grpSp>
      <p:sp>
        <p:nvSpPr>
          <p:cNvPr id="4" name="AutoShape 4"/>
          <p:cNvSpPr/>
          <p:nvPr/>
        </p:nvSpPr>
        <p:spPr>
          <a:xfrm>
            <a:off x="0" y="9560444"/>
            <a:ext cx="18288000" cy="726556"/>
          </a:xfrm>
          <a:prstGeom prst="rect">
            <a:avLst/>
          </a:prstGeom>
          <a:solidFill>
            <a:srgbClr val="EFEFEF"/>
          </a:solidFill>
        </p:spPr>
      </p:sp>
      <p:sp>
        <p:nvSpPr>
          <p:cNvPr id="5" name="AutoShape 5"/>
          <p:cNvSpPr/>
          <p:nvPr/>
        </p:nvSpPr>
        <p:spPr>
          <a:xfrm>
            <a:off x="0" y="0"/>
            <a:ext cx="18288000" cy="688965"/>
          </a:xfrm>
          <a:prstGeom prst="rect">
            <a:avLst/>
          </a:prstGeom>
          <a:solidFill>
            <a:srgbClr val="EFEFEF"/>
          </a:solidFill>
        </p:spPr>
      </p:sp>
      <p:sp>
        <p:nvSpPr>
          <p:cNvPr id="6" name="TextBox 6"/>
          <p:cNvSpPr txBox="1"/>
          <p:nvPr/>
        </p:nvSpPr>
        <p:spPr>
          <a:xfrm>
            <a:off x="5460515" y="1019175"/>
            <a:ext cx="6714944" cy="1028700"/>
          </a:xfrm>
          <a:prstGeom prst="rect">
            <a:avLst/>
          </a:prstGeom>
        </p:spPr>
        <p:txBody>
          <a:bodyPr anchor="t" bIns="0" lIns="0" rIns="0" rtlCol="0" tIns="0">
            <a:spAutoFit/>
          </a:bodyPr>
          <a:lstStyle/>
          <a:p>
            <a:pPr algn="l">
              <a:lnSpc>
                <a:spcPts val="8070"/>
              </a:lnSpc>
            </a:pPr>
            <a:r>
              <a:rPr b="1" lang="en-US" sz="6725">
                <a:solidFill>
                  <a:srgbClr val="EFEFEF"/>
                </a:solidFill>
                <a:latin typeface="Public Sans Bold"/>
                <a:ea typeface="Public Sans Bold"/>
                <a:cs typeface="Public Sans Bold"/>
                <a:sym typeface="Public Sans Bold"/>
              </a:rPr>
              <a:t>Backend Views</a:t>
            </a:r>
          </a:p>
        </p:txBody>
      </p:sp>
      <p:sp>
        <p:nvSpPr>
          <p:cNvPr id="7" name="TextBox 7"/>
          <p:cNvSpPr txBox="1"/>
          <p:nvPr/>
        </p:nvSpPr>
        <p:spPr>
          <a:xfrm>
            <a:off x="5326918" y="1211058"/>
            <a:ext cx="8951296" cy="593691"/>
          </a:xfrm>
          <a:prstGeom prst="rect">
            <a:avLst/>
          </a:prstGeom>
        </p:spPr>
        <p:txBody>
          <a:bodyPr anchor="t" bIns="0" lIns="0" rIns="0" rtlCol="0" tIns="0">
            <a:spAutoFit/>
          </a:bodyPr>
          <a:lstStyle/>
          <a:p>
            <a:pPr algn="l">
              <a:lnSpc>
                <a:spcPts val="4700"/>
              </a:lnSpc>
            </a:pPr>
            <a:endParaRPr/>
          </a:p>
        </p:txBody>
      </p:sp>
      <p:sp>
        <p:nvSpPr>
          <p:cNvPr id="8" name="TextBox 8"/>
          <p:cNvSpPr txBox="1"/>
          <p:nvPr/>
        </p:nvSpPr>
        <p:spPr>
          <a:xfrm>
            <a:off x="9144000" y="2069878"/>
            <a:ext cx="9390261" cy="7632326"/>
          </a:xfrm>
          <a:prstGeom prst="rect">
            <a:avLst/>
          </a:prstGeom>
        </p:spPr>
        <p:txBody>
          <a:bodyPr anchor="t" bIns="0" lIns="0" rIns="0" rtlCol="0" tIns="0">
            <a:spAutoFit/>
          </a:bodyPr>
          <a:lstStyle/>
          <a:p>
            <a:pPr algn="l">
              <a:lnSpc>
                <a:spcPts val="6753"/>
              </a:lnSpc>
            </a:pPr>
            <a:r>
              <a:rPr lang="en-US" sz="3083">
                <a:solidFill>
                  <a:srgbClr val="EFEFEF"/>
                </a:solidFill>
                <a:latin typeface="Public Sans"/>
                <a:ea typeface="Public Sans"/>
                <a:cs typeface="Public Sans"/>
                <a:sym typeface="Public Sans"/>
              </a:rPr>
              <a:t> 1.  BookViewSet:</a:t>
            </a:r>
          </a:p>
          <a:p>
            <a:pPr algn="l">
              <a:lnSpc>
                <a:spcPts val="6753"/>
              </a:lnSpc>
            </a:pPr>
            <a:r>
              <a:rPr lang="en-US" sz="3083">
                <a:solidFill>
                  <a:srgbClr val="EFEFEF"/>
                </a:solidFill>
                <a:latin typeface="Public Sans"/>
                <a:ea typeface="Public Sans"/>
                <a:cs typeface="Public Sans"/>
                <a:sym typeface="Public Sans"/>
              </a:rPr>
              <a:t>         a. CRUD operations for books</a:t>
            </a:r>
          </a:p>
          <a:p>
            <a:pPr algn="l">
              <a:lnSpc>
                <a:spcPts val="6753"/>
              </a:lnSpc>
            </a:pPr>
            <a:r>
              <a:rPr lang="en-US" sz="3083">
                <a:solidFill>
                  <a:srgbClr val="EFEFEF"/>
                </a:solidFill>
                <a:latin typeface="Public Sans"/>
                <a:ea typeface="Public Sans"/>
                <a:cs typeface="Public Sans"/>
                <a:sym typeface="Public Sans"/>
              </a:rPr>
              <a:t>              (Add, Edit, Delete, List).</a:t>
            </a:r>
          </a:p>
          <a:p>
            <a:pPr algn="l">
              <a:lnSpc>
                <a:spcPts val="6753"/>
              </a:lnSpc>
            </a:pPr>
            <a:r>
              <a:rPr lang="en-US" sz="3083">
                <a:solidFill>
                  <a:srgbClr val="EFEFEF"/>
                </a:solidFill>
                <a:latin typeface="Public Sans"/>
                <a:ea typeface="Public Sans"/>
                <a:cs typeface="Public Sans"/>
                <a:sym typeface="Public Sans"/>
              </a:rPr>
              <a:t>2.  MemberViewSet:</a:t>
            </a:r>
          </a:p>
          <a:p>
            <a:pPr algn="l">
              <a:lnSpc>
                <a:spcPts val="6753"/>
              </a:lnSpc>
            </a:pPr>
            <a:r>
              <a:rPr lang="en-US" sz="3083">
                <a:solidFill>
                  <a:srgbClr val="EFEFEF"/>
                </a:solidFill>
                <a:latin typeface="Public Sans"/>
                <a:ea typeface="Public Sans"/>
                <a:cs typeface="Public Sans"/>
                <a:sym typeface="Public Sans"/>
              </a:rPr>
              <a:t>         a. CRUD for members.</a:t>
            </a:r>
          </a:p>
          <a:p>
            <a:pPr algn="l">
              <a:lnSpc>
                <a:spcPts val="6753"/>
              </a:lnSpc>
            </a:pPr>
            <a:r>
              <a:rPr lang="en-US" sz="3083">
                <a:solidFill>
                  <a:srgbClr val="EFEFEF"/>
                </a:solidFill>
                <a:latin typeface="Public Sans"/>
                <a:ea typeface="Public Sans"/>
                <a:cs typeface="Public Sans"/>
                <a:sym typeface="Public Sans"/>
              </a:rPr>
              <a:t>3.  Custom actions: borrow() and return_book().</a:t>
            </a:r>
          </a:p>
          <a:p>
            <a:pPr algn="l">
              <a:lnSpc>
                <a:spcPts val="6753"/>
              </a:lnSpc>
            </a:pPr>
            <a:r>
              <a:rPr lang="en-US" sz="3083">
                <a:solidFill>
                  <a:srgbClr val="EFEFEF"/>
                </a:solidFill>
                <a:latin typeface="Public Sans"/>
                <a:ea typeface="Public Sans"/>
                <a:cs typeface="Public Sans"/>
                <a:sym typeface="Public Sans"/>
              </a:rPr>
              <a:t>4.  Business logic handled at API layer for consistency.</a:t>
            </a:r>
          </a:p>
          <a:p>
            <a:pPr algn="l">
              <a:lnSpc>
                <a:spcPts val="6753"/>
              </a:lnSpc>
            </a:pPr>
            <a:endParaRPr lang="en-US" sz="3083">
              <a:solidFill>
                <a:srgbClr val="EFEFEF"/>
              </a:solidFill>
              <a:latin typeface="Public Sans"/>
              <a:ea typeface="Public Sans"/>
              <a:cs typeface="Public Sans"/>
              <a:sym typeface="Public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11230"/>
        </a:solidFill>
        <a:effectLst/>
      </p:bgPr>
    </p:bg>
    <p:spTree>
      <p:nvGrpSpPr>
        <p:cNvPr id="1" name=""/>
        <p:cNvGrpSpPr/>
        <p:nvPr/>
      </p:nvGrpSpPr>
      <p:grpSpPr>
        <a:xfrm>
          <a:off x="0" y="0"/>
          <a:ext cx="0" cy="0"/>
          <a:chOff x="0" y="0"/>
          <a:chExt cx="0" cy="0"/>
        </a:xfrm>
      </p:grpSpPr>
      <p:sp>
        <p:nvSpPr>
          <p:cNvPr id="2" name="AutoShape 2"/>
          <p:cNvSpPr/>
          <p:nvPr/>
        </p:nvSpPr>
        <p:spPr>
          <a:xfrm>
            <a:off x="0" y="0"/>
            <a:ext cx="18288000" cy="1811719"/>
          </a:xfrm>
          <a:prstGeom prst="rect">
            <a:avLst/>
          </a:prstGeom>
          <a:solidFill>
            <a:srgbClr val="111230"/>
          </a:solidFill>
        </p:spPr>
      </p:sp>
      <p:grpSp>
        <p:nvGrpSpPr>
          <p:cNvPr id="3" name="Group 3"/>
          <p:cNvGrpSpPr/>
          <p:nvPr/>
        </p:nvGrpSpPr>
        <p:grpSpPr>
          <a:xfrm>
            <a:off x="1541307" y="322805"/>
            <a:ext cx="14632825" cy="1488914"/>
            <a:chOff x="0" y="0"/>
            <a:chExt cx="19510433" cy="1985219"/>
          </a:xfrm>
        </p:grpSpPr>
        <p:sp>
          <p:nvSpPr>
            <p:cNvPr id="4" name="AutoShape 4"/>
            <p:cNvSpPr/>
            <p:nvPr/>
          </p:nvSpPr>
          <p:spPr>
            <a:xfrm>
              <a:off x="284867" y="1978869"/>
              <a:ext cx="18940699" cy="0"/>
            </a:xfrm>
            <a:prstGeom prst="line">
              <a:avLst/>
            </a:prstGeom>
            <a:ln w="12700" cap="rnd">
              <a:solidFill>
                <a:srgbClr val="252634"/>
              </a:solidFill>
              <a:prstDash val="solid"/>
              <a:headEnd type="none" w="sm" len="sm"/>
              <a:tailEnd type="none" w="sm" len="sm"/>
            </a:ln>
          </p:spPr>
        </p:sp>
        <p:sp>
          <p:nvSpPr>
            <p:cNvPr id="5" name="TextBox 5"/>
            <p:cNvSpPr txBox="1"/>
            <p:nvPr/>
          </p:nvSpPr>
          <p:spPr>
            <a:xfrm>
              <a:off x="0" y="-19050"/>
              <a:ext cx="19510433" cy="1454150"/>
            </a:xfrm>
            <a:prstGeom prst="rect">
              <a:avLst/>
            </a:prstGeom>
          </p:spPr>
          <p:txBody>
            <a:bodyPr lIns="0" tIns="0" rIns="0" bIns="0" rtlCol="0" anchor="t">
              <a:spAutoFit/>
            </a:bodyPr>
            <a:lstStyle/>
            <a:p>
              <a:pPr algn="ctr">
                <a:lnSpc>
                  <a:spcPts val="8520"/>
                </a:lnSpc>
              </a:pPr>
              <a:r>
                <a:rPr lang="en-US" sz="7100" b="1">
                  <a:solidFill>
                    <a:srgbClr val="FFFFFF"/>
                  </a:solidFill>
                  <a:latin typeface="Public Sans Bold"/>
                  <a:ea typeface="Public Sans Bold"/>
                  <a:cs typeface="Public Sans Bold"/>
                  <a:sym typeface="Public Sans Bold"/>
                </a:rPr>
                <a:t> Backend API Routes</a:t>
              </a:r>
            </a:p>
          </p:txBody>
        </p:sp>
      </p:grpSp>
      <p:sp>
        <p:nvSpPr>
          <p:cNvPr id="6" name="Freeform 6"/>
          <p:cNvSpPr/>
          <p:nvPr/>
        </p:nvSpPr>
        <p:spPr>
          <a:xfrm>
            <a:off x="114512" y="8869726"/>
            <a:ext cx="18288000" cy="1417274"/>
          </a:xfrm>
          <a:custGeom>
            <a:avLst/>
            <a:gdLst/>
            <a:ahLst/>
            <a:cxnLst/>
            <a:rect l="l" t="t" r="r" b="b"/>
            <a:pathLst>
              <a:path w="18288000" h="1417274">
                <a:moveTo>
                  <a:pt x="0" y="0"/>
                </a:moveTo>
                <a:lnTo>
                  <a:pt x="18288000" y="0"/>
                </a:lnTo>
                <a:lnTo>
                  <a:pt x="18288000" y="1417274"/>
                </a:lnTo>
                <a:lnTo>
                  <a:pt x="0" y="1417274"/>
                </a:lnTo>
                <a:lnTo>
                  <a:pt x="0" y="0"/>
                </a:lnTo>
                <a:close/>
              </a:path>
            </a:pathLst>
          </a:custGeom>
          <a:blipFill>
            <a:blip r:embed="rId2"/>
            <a:stretch>
              <a:fillRect t="-131685" b="-260961"/>
            </a:stretch>
          </a:blipFill>
        </p:spPr>
      </p:sp>
      <p:sp>
        <p:nvSpPr>
          <p:cNvPr id="7" name="Freeform 7"/>
          <p:cNvSpPr/>
          <p:nvPr/>
        </p:nvSpPr>
        <p:spPr>
          <a:xfrm>
            <a:off x="9258512" y="1991609"/>
            <a:ext cx="8552318" cy="6579873"/>
          </a:xfrm>
          <a:custGeom>
            <a:avLst/>
            <a:gdLst/>
            <a:ahLst/>
            <a:cxnLst/>
            <a:rect l="l" t="t" r="r" b="b"/>
            <a:pathLst>
              <a:path w="8552318" h="6579873">
                <a:moveTo>
                  <a:pt x="0" y="0"/>
                </a:moveTo>
                <a:lnTo>
                  <a:pt x="8552319" y="0"/>
                </a:lnTo>
                <a:lnTo>
                  <a:pt x="8552319" y="6579873"/>
                </a:lnTo>
                <a:lnTo>
                  <a:pt x="0" y="6579873"/>
                </a:lnTo>
                <a:lnTo>
                  <a:pt x="0" y="0"/>
                </a:lnTo>
                <a:close/>
              </a:path>
            </a:pathLst>
          </a:custGeom>
          <a:blipFill>
            <a:blip r:embed="rId3"/>
            <a:stretch>
              <a:fillRect t="-13314" b="-16662"/>
            </a:stretch>
          </a:blipFill>
        </p:spPr>
      </p:sp>
      <p:sp>
        <p:nvSpPr>
          <p:cNvPr id="8" name="TextBox 8"/>
          <p:cNvSpPr txBox="1"/>
          <p:nvPr/>
        </p:nvSpPr>
        <p:spPr>
          <a:xfrm>
            <a:off x="837846" y="964793"/>
            <a:ext cx="8169448" cy="7776892"/>
          </a:xfrm>
          <a:prstGeom prst="rect">
            <a:avLst/>
          </a:prstGeom>
        </p:spPr>
        <p:txBody>
          <a:bodyPr lIns="0" tIns="0" rIns="0" bIns="0" rtlCol="0" anchor="t">
            <a:spAutoFit/>
          </a:bodyPr>
          <a:lstStyle/>
          <a:p>
            <a:pPr algn="l">
              <a:lnSpc>
                <a:spcPts val="6916"/>
              </a:lnSpc>
            </a:pPr>
            <a:r>
              <a:rPr lang="en-US" sz="2918">
                <a:solidFill>
                  <a:srgbClr val="FFFFFF"/>
                </a:solidFill>
                <a:latin typeface="Canva Sans"/>
                <a:ea typeface="Canva Sans"/>
                <a:cs typeface="Canva Sans"/>
                <a:sym typeface="Canva Sans"/>
              </a:rPr>
              <a:t> </a:t>
            </a:r>
          </a:p>
          <a:p>
            <a:pPr marL="630102" lvl="1" indent="-315051" algn="l">
              <a:lnSpc>
                <a:spcPts val="6916"/>
              </a:lnSpc>
              <a:buAutoNum type="arabicPeriod"/>
            </a:pPr>
            <a:r>
              <a:rPr lang="en-US" sz="2918">
                <a:solidFill>
                  <a:srgbClr val="FFFFFF"/>
                </a:solidFill>
                <a:latin typeface="Canva Sans"/>
                <a:ea typeface="Canva Sans"/>
                <a:cs typeface="Canva Sans"/>
                <a:sym typeface="Canva Sans"/>
              </a:rPr>
              <a:t> /api/books/ : List, Add, Delete, Update books.</a:t>
            </a:r>
          </a:p>
          <a:p>
            <a:pPr marL="630102" lvl="1" indent="-315051" algn="l">
              <a:lnSpc>
                <a:spcPts val="6916"/>
              </a:lnSpc>
              <a:buAutoNum type="arabicPeriod"/>
            </a:pPr>
            <a:r>
              <a:rPr lang="en-US" sz="2918">
                <a:solidFill>
                  <a:srgbClr val="FFFFFF"/>
                </a:solidFill>
                <a:latin typeface="Canva Sans"/>
                <a:ea typeface="Canva Sans"/>
                <a:cs typeface="Canva Sans"/>
                <a:sym typeface="Canva Sans"/>
              </a:rPr>
              <a:t> /api/members/ : Manage members.</a:t>
            </a:r>
          </a:p>
          <a:p>
            <a:pPr marL="630102" lvl="1" indent="-315051" algn="l">
              <a:lnSpc>
                <a:spcPts val="6916"/>
              </a:lnSpc>
              <a:buAutoNum type="arabicPeriod"/>
            </a:pPr>
            <a:r>
              <a:rPr lang="en-US" sz="2918">
                <a:solidFill>
                  <a:srgbClr val="FFFFFF"/>
                </a:solidFill>
                <a:latin typeface="Canva Sans"/>
                <a:ea typeface="Canva Sans"/>
                <a:cs typeface="Canva Sans"/>
                <a:sym typeface="Canva Sans"/>
              </a:rPr>
              <a:t> /api/members/{id}/borrow/ : Borrow book.</a:t>
            </a:r>
          </a:p>
          <a:p>
            <a:pPr marL="630102" lvl="1" indent="-315051" algn="l">
              <a:lnSpc>
                <a:spcPts val="6916"/>
              </a:lnSpc>
              <a:buAutoNum type="arabicPeriod"/>
            </a:pPr>
            <a:r>
              <a:rPr lang="en-US" sz="2918">
                <a:solidFill>
                  <a:srgbClr val="FFFFFF"/>
                </a:solidFill>
                <a:latin typeface="Canva Sans"/>
                <a:ea typeface="Canva Sans"/>
                <a:cs typeface="Canva Sans"/>
                <a:sym typeface="Canva Sans"/>
              </a:rPr>
              <a:t> /api/members/{id}/return/ : Return book.</a:t>
            </a:r>
          </a:p>
          <a:p>
            <a:pPr marL="630102" lvl="1" indent="-315051" algn="l">
              <a:lnSpc>
                <a:spcPts val="6916"/>
              </a:lnSpc>
              <a:buAutoNum type="arabicPeriod"/>
            </a:pPr>
            <a:r>
              <a:rPr lang="en-US" sz="2918">
                <a:solidFill>
                  <a:srgbClr val="FFFFFF"/>
                </a:solidFill>
                <a:latin typeface="Canva Sans"/>
                <a:ea typeface="Canva Sans"/>
                <a:cs typeface="Canva Sans"/>
                <a:sym typeface="Canva Sans"/>
              </a:rPr>
              <a:t> /admin/ : Django admin panel.</a:t>
            </a:r>
          </a:p>
          <a:p>
            <a:pPr algn="l">
              <a:lnSpc>
                <a:spcPts val="6916"/>
              </a:lnSpc>
            </a:pPr>
            <a:endParaRPr lang="en-US" sz="2918">
              <a:solidFill>
                <a:srgbClr val="FFFFFF"/>
              </a:solidFill>
              <a:latin typeface="Canva Sans"/>
              <a:ea typeface="Canva Sans"/>
              <a:cs typeface="Canva Sans"/>
              <a:sym typeface="Canva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B111B"/>
        </a:solidFill>
        <a:effectLst/>
      </p:bgPr>
    </p:bg>
    <p:spTree>
      <p:nvGrpSpPr>
        <p:cNvPr id="1" name=""/>
        <p:cNvGrpSpPr/>
        <p:nvPr/>
      </p:nvGrpSpPr>
      <p:grpSpPr>
        <a:xfrm>
          <a:off x="0" y="0"/>
          <a:ext cx="0" cy="0"/>
          <a:chOff x="0" y="0"/>
          <a:chExt cx="0" cy="0"/>
        </a:xfrm>
      </p:grpSpPr>
      <p:sp>
        <p:nvSpPr>
          <p:cNvPr id="2" name="Freeform 2"/>
          <p:cNvSpPr/>
          <p:nvPr/>
        </p:nvSpPr>
        <p:spPr>
          <a:xfrm>
            <a:off x="1887544" y="0"/>
            <a:ext cx="13805083" cy="10287000"/>
          </a:xfrm>
          <a:custGeom>
            <a:avLst/>
            <a:gdLst/>
            <a:ahLst/>
            <a:cxnLst/>
            <a:rect l="l" t="t" r="r" b="b"/>
            <a:pathLst>
              <a:path w="13805083" h="10287000">
                <a:moveTo>
                  <a:pt x="0" y="0"/>
                </a:moveTo>
                <a:lnTo>
                  <a:pt x="13805083" y="0"/>
                </a:lnTo>
                <a:lnTo>
                  <a:pt x="13805083" y="10287000"/>
                </a:lnTo>
                <a:lnTo>
                  <a:pt x="0" y="10287000"/>
                </a:lnTo>
                <a:lnTo>
                  <a:pt x="0" y="0"/>
                </a:lnTo>
                <a:close/>
              </a:path>
            </a:pathLst>
          </a:custGeom>
          <a:blipFill>
            <a:blip r:embed="rId2"/>
            <a:stretch>
              <a:fillRect l="-1382" t="-19827" r="-372" b="-16727"/>
            </a:stretch>
          </a:blipFill>
        </p:spPr>
      </p:sp>
      <p:grpSp>
        <p:nvGrpSpPr>
          <p:cNvPr id="3" name="Group 3"/>
          <p:cNvGrpSpPr/>
          <p:nvPr/>
        </p:nvGrpSpPr>
        <p:grpSpPr>
          <a:xfrm>
            <a:off x="4432234" y="4758648"/>
            <a:ext cx="8282826" cy="1838488"/>
            <a:chOff x="0" y="0"/>
            <a:chExt cx="11043768" cy="2451317"/>
          </a:xfrm>
        </p:grpSpPr>
        <p:sp>
          <p:nvSpPr>
            <p:cNvPr id="4" name="TextBox 4"/>
            <p:cNvSpPr txBox="1"/>
            <p:nvPr/>
          </p:nvSpPr>
          <p:spPr>
            <a:xfrm>
              <a:off x="0" y="-19050"/>
              <a:ext cx="11043768" cy="1454150"/>
            </a:xfrm>
            <a:prstGeom prst="rect">
              <a:avLst/>
            </a:prstGeom>
          </p:spPr>
          <p:txBody>
            <a:bodyPr lIns="0" tIns="0" rIns="0" bIns="0" rtlCol="0" anchor="t">
              <a:spAutoFit/>
            </a:bodyPr>
            <a:lstStyle/>
            <a:p>
              <a:pPr algn="ctr">
                <a:lnSpc>
                  <a:spcPts val="8520"/>
                </a:lnSpc>
              </a:pPr>
              <a:r>
                <a:rPr lang="en-US" sz="7100" b="1">
                  <a:solidFill>
                    <a:srgbClr val="FFFFFF"/>
                  </a:solidFill>
                  <a:latin typeface="Public Sans Bold"/>
                  <a:ea typeface="Public Sans Bold"/>
                  <a:cs typeface="Public Sans Bold"/>
                  <a:sym typeface="Public Sans Bold"/>
                </a:rPr>
                <a:t>FRONTEND</a:t>
              </a:r>
            </a:p>
          </p:txBody>
        </p:sp>
        <p:sp>
          <p:nvSpPr>
            <p:cNvPr id="5" name="TextBox 5"/>
            <p:cNvSpPr txBox="1"/>
            <p:nvPr/>
          </p:nvSpPr>
          <p:spPr>
            <a:xfrm>
              <a:off x="0" y="1787741"/>
              <a:ext cx="11043768" cy="663575"/>
            </a:xfrm>
            <a:prstGeom prst="rect">
              <a:avLst/>
            </a:prstGeom>
          </p:spPr>
          <p:txBody>
            <a:bodyPr lIns="0" tIns="0" rIns="0" bIns="0" rtlCol="0" anchor="t">
              <a:spAutoFit/>
            </a:bodyPr>
            <a:lstStyle/>
            <a:p>
              <a:pPr marL="0" lvl="0" indent="0" algn="ctr">
                <a:lnSpc>
                  <a:spcPts val="4199"/>
                </a:lnSpc>
              </a:pPr>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11230"/>
        </a:solidFill>
        <a:effectLst/>
      </p:bgPr>
    </p:bg>
    <p:spTree>
      <p:nvGrpSpPr>
        <p:cNvPr id="1" name=""/>
        <p:cNvGrpSpPr/>
        <p:nvPr/>
      </p:nvGrpSpPr>
      <p:grpSpPr>
        <a:xfrm>
          <a:off x="0" y="0"/>
          <a:ext cx="0" cy="0"/>
          <a:chOff x="0" y="0"/>
          <a:chExt cx="0" cy="0"/>
        </a:xfrm>
      </p:grpSpPr>
      <p:sp>
        <p:nvSpPr>
          <p:cNvPr id="2" name="AutoShape 2"/>
          <p:cNvSpPr/>
          <p:nvPr/>
        </p:nvSpPr>
        <p:spPr>
          <a:xfrm>
            <a:off x="0" y="0"/>
            <a:ext cx="18288000" cy="1811719"/>
          </a:xfrm>
          <a:prstGeom prst="rect">
            <a:avLst/>
          </a:prstGeom>
          <a:solidFill>
            <a:srgbClr val="111230"/>
          </a:solidFill>
        </p:spPr>
      </p:sp>
      <p:grpSp>
        <p:nvGrpSpPr>
          <p:cNvPr id="3" name="Group 3"/>
          <p:cNvGrpSpPr/>
          <p:nvPr/>
        </p:nvGrpSpPr>
        <p:grpSpPr>
          <a:xfrm>
            <a:off x="1312282" y="513659"/>
            <a:ext cx="14632825" cy="1488914"/>
            <a:chOff x="0" y="0"/>
            <a:chExt cx="19510433" cy="1985219"/>
          </a:xfrm>
        </p:grpSpPr>
        <p:sp>
          <p:nvSpPr>
            <p:cNvPr id="4" name="AutoShape 4"/>
            <p:cNvSpPr/>
            <p:nvPr/>
          </p:nvSpPr>
          <p:spPr>
            <a:xfrm>
              <a:off x="284867" y="1978869"/>
              <a:ext cx="18940699" cy="0"/>
            </a:xfrm>
            <a:prstGeom prst="line">
              <a:avLst/>
            </a:prstGeom>
            <a:ln w="12700" cap="rnd">
              <a:solidFill>
                <a:srgbClr val="252634"/>
              </a:solidFill>
              <a:prstDash val="solid"/>
              <a:headEnd type="none" w="sm" len="sm"/>
              <a:tailEnd type="none" w="sm" len="sm"/>
            </a:ln>
          </p:spPr>
        </p:sp>
        <p:sp>
          <p:nvSpPr>
            <p:cNvPr id="5" name="TextBox 5"/>
            <p:cNvSpPr txBox="1"/>
            <p:nvPr/>
          </p:nvSpPr>
          <p:spPr>
            <a:xfrm>
              <a:off x="0" y="-19050"/>
              <a:ext cx="19510433" cy="1454150"/>
            </a:xfrm>
            <a:prstGeom prst="rect">
              <a:avLst/>
            </a:prstGeom>
          </p:spPr>
          <p:txBody>
            <a:bodyPr lIns="0" tIns="0" rIns="0" bIns="0" rtlCol="0" anchor="t">
              <a:spAutoFit/>
            </a:bodyPr>
            <a:lstStyle/>
            <a:p>
              <a:pPr algn="ctr">
                <a:lnSpc>
                  <a:spcPts val="8520"/>
                </a:lnSpc>
              </a:pPr>
              <a:r>
                <a:rPr lang="en-US" sz="7100" b="1">
                  <a:solidFill>
                    <a:srgbClr val="FFFFFF"/>
                  </a:solidFill>
                  <a:latin typeface="Public Sans Bold"/>
                  <a:ea typeface="Public Sans Bold"/>
                  <a:cs typeface="Public Sans Bold"/>
                  <a:sym typeface="Public Sans Bold"/>
                </a:rPr>
                <a:t>Frontend Setup</a:t>
              </a:r>
            </a:p>
          </p:txBody>
        </p:sp>
      </p:grpSp>
      <p:sp>
        <p:nvSpPr>
          <p:cNvPr id="6" name="Freeform 6"/>
          <p:cNvSpPr/>
          <p:nvPr/>
        </p:nvSpPr>
        <p:spPr>
          <a:xfrm>
            <a:off x="114512" y="8869726"/>
            <a:ext cx="18288000" cy="1417274"/>
          </a:xfrm>
          <a:custGeom>
            <a:avLst/>
            <a:gdLst/>
            <a:ahLst/>
            <a:cxnLst/>
            <a:rect l="l" t="t" r="r" b="b"/>
            <a:pathLst>
              <a:path w="18288000" h="1417274">
                <a:moveTo>
                  <a:pt x="0" y="0"/>
                </a:moveTo>
                <a:lnTo>
                  <a:pt x="18288000" y="0"/>
                </a:lnTo>
                <a:lnTo>
                  <a:pt x="18288000" y="1417274"/>
                </a:lnTo>
                <a:lnTo>
                  <a:pt x="0" y="1417274"/>
                </a:lnTo>
                <a:lnTo>
                  <a:pt x="0" y="0"/>
                </a:lnTo>
                <a:close/>
              </a:path>
            </a:pathLst>
          </a:custGeom>
          <a:blipFill>
            <a:blip r:embed="rId2"/>
            <a:stretch>
              <a:fillRect t="-131685" b="-260961"/>
            </a:stretch>
          </a:blipFill>
        </p:spPr>
      </p:sp>
      <p:sp>
        <p:nvSpPr>
          <p:cNvPr id="7" name="Freeform 7"/>
          <p:cNvSpPr/>
          <p:nvPr/>
        </p:nvSpPr>
        <p:spPr>
          <a:xfrm>
            <a:off x="9654947" y="2002574"/>
            <a:ext cx="8747566" cy="6858274"/>
          </a:xfrm>
          <a:custGeom>
            <a:avLst/>
            <a:gdLst/>
            <a:ahLst/>
            <a:cxnLst/>
            <a:rect l="l" t="t" r="r" b="b"/>
            <a:pathLst>
              <a:path w="8747566" h="6858274">
                <a:moveTo>
                  <a:pt x="0" y="0"/>
                </a:moveTo>
                <a:lnTo>
                  <a:pt x="8747565" y="0"/>
                </a:lnTo>
                <a:lnTo>
                  <a:pt x="8747565" y="6858274"/>
                </a:lnTo>
                <a:lnTo>
                  <a:pt x="0" y="6858274"/>
                </a:lnTo>
                <a:lnTo>
                  <a:pt x="0" y="0"/>
                </a:lnTo>
                <a:close/>
              </a:path>
            </a:pathLst>
          </a:custGeom>
          <a:blipFill>
            <a:blip r:embed="rId3"/>
            <a:stretch>
              <a:fillRect t="-13006" b="-14540"/>
            </a:stretch>
          </a:blipFill>
        </p:spPr>
      </p:sp>
      <p:sp>
        <p:nvSpPr>
          <p:cNvPr id="8" name="TextBox 8"/>
          <p:cNvSpPr txBox="1"/>
          <p:nvPr/>
        </p:nvSpPr>
        <p:spPr>
          <a:xfrm>
            <a:off x="0" y="1461701"/>
            <a:ext cx="9425922" cy="7399147"/>
          </a:xfrm>
          <a:prstGeom prst="rect">
            <a:avLst/>
          </a:prstGeom>
        </p:spPr>
        <p:txBody>
          <a:bodyPr lIns="0" tIns="0" rIns="0" bIns="0" rtlCol="0" anchor="t">
            <a:spAutoFit/>
          </a:bodyPr>
          <a:lstStyle/>
          <a:p>
            <a:pPr algn="l">
              <a:lnSpc>
                <a:spcPts val="6710"/>
              </a:lnSpc>
            </a:pPr>
            <a:endParaRPr/>
          </a:p>
          <a:p>
            <a:pPr marL="724401" lvl="1" indent="-362200" algn="l">
              <a:lnSpc>
                <a:spcPts val="6710"/>
              </a:lnSpc>
              <a:buAutoNum type="arabicPeriod"/>
            </a:pPr>
            <a:r>
              <a:rPr lang="en-US" sz="3355">
                <a:solidFill>
                  <a:srgbClr val="FFFFFF"/>
                </a:solidFill>
                <a:latin typeface="Canva Sans"/>
                <a:ea typeface="Canva Sans"/>
                <a:cs typeface="Canva Sans"/>
                <a:sym typeface="Canva Sans"/>
              </a:rPr>
              <a:t>Create React App: </a:t>
            </a:r>
            <a:r>
              <a:rPr lang="en-US" sz="3355" b="1">
                <a:solidFill>
                  <a:srgbClr val="FFFFFF"/>
                </a:solidFill>
                <a:latin typeface="Canva Sans Bold"/>
                <a:ea typeface="Canva Sans Bold"/>
                <a:cs typeface="Canva Sans Bold"/>
                <a:sym typeface="Canva Sans Bold"/>
              </a:rPr>
              <a:t>npx create-react-app frontend</a:t>
            </a:r>
            <a:r>
              <a:rPr lang="en-US" sz="3355">
                <a:solidFill>
                  <a:srgbClr val="FFFFFF"/>
                </a:solidFill>
                <a:latin typeface="Canva Sans"/>
                <a:ea typeface="Canva Sans"/>
                <a:cs typeface="Canva Sans"/>
                <a:sym typeface="Canva Sans"/>
              </a:rPr>
              <a:t>. </a:t>
            </a:r>
          </a:p>
          <a:p>
            <a:pPr algn="l">
              <a:lnSpc>
                <a:spcPts val="6710"/>
              </a:lnSpc>
            </a:pPr>
            <a:r>
              <a:rPr lang="en-US" sz="3355">
                <a:solidFill>
                  <a:srgbClr val="FFFFFF"/>
                </a:solidFill>
                <a:latin typeface="Canva Sans"/>
                <a:ea typeface="Canva Sans"/>
                <a:cs typeface="Canva Sans"/>
                <a:sym typeface="Canva Sans"/>
              </a:rPr>
              <a:t>   2.Install Axios: npm install axios.</a:t>
            </a:r>
          </a:p>
          <a:p>
            <a:pPr algn="l">
              <a:lnSpc>
                <a:spcPts val="6710"/>
              </a:lnSpc>
            </a:pPr>
            <a:r>
              <a:rPr lang="en-US" sz="3355">
                <a:solidFill>
                  <a:srgbClr val="FFFFFF"/>
                </a:solidFill>
                <a:latin typeface="Canva Sans"/>
                <a:ea typeface="Canva Sans"/>
                <a:cs typeface="Canva Sans"/>
                <a:sym typeface="Canva Sans"/>
              </a:rPr>
              <a:t>   3. Folder structure:</a:t>
            </a:r>
          </a:p>
          <a:p>
            <a:pPr marL="1448801" lvl="2" indent="-482934" algn="l">
              <a:lnSpc>
                <a:spcPts val="6710"/>
              </a:lnSpc>
              <a:buAutoNum type="alphaLcPeriod"/>
            </a:pPr>
            <a:r>
              <a:rPr lang="en-US" sz="3355">
                <a:solidFill>
                  <a:srgbClr val="FFFFFF"/>
                </a:solidFill>
                <a:latin typeface="Canva Sans"/>
                <a:ea typeface="Canva Sans"/>
                <a:cs typeface="Canva Sans"/>
                <a:sym typeface="Canva Sans"/>
              </a:rPr>
              <a:t>src/components/ → Forms &amp; Lists.</a:t>
            </a:r>
          </a:p>
          <a:p>
            <a:pPr marL="1448801" lvl="2" indent="-482934" algn="l">
              <a:lnSpc>
                <a:spcPts val="6710"/>
              </a:lnSpc>
              <a:buAutoNum type="alphaLcPeriod"/>
            </a:pPr>
            <a:r>
              <a:rPr lang="en-US" sz="3355">
                <a:solidFill>
                  <a:srgbClr val="FFFFFF"/>
                </a:solidFill>
                <a:latin typeface="Canva Sans"/>
                <a:ea typeface="Canva Sans"/>
                <a:cs typeface="Canva Sans"/>
                <a:sym typeface="Canva Sans"/>
              </a:rPr>
              <a:t>api.js → Axios config.</a:t>
            </a:r>
          </a:p>
          <a:p>
            <a:pPr marL="1448801" lvl="2" indent="-482934" algn="l">
              <a:lnSpc>
                <a:spcPts val="6710"/>
              </a:lnSpc>
              <a:buAutoNum type="alphaLcPeriod"/>
            </a:pPr>
            <a:r>
              <a:rPr lang="en-US" sz="3355">
                <a:solidFill>
                  <a:srgbClr val="FFFFFF"/>
                </a:solidFill>
                <a:latin typeface="Canva Sans"/>
                <a:ea typeface="Canva Sans"/>
                <a:cs typeface="Canva Sans"/>
                <a:sym typeface="Canva Sans"/>
              </a:rPr>
              <a:t>App.js → Main entry point.</a:t>
            </a:r>
          </a:p>
          <a:p>
            <a:pPr algn="l">
              <a:lnSpc>
                <a:spcPts val="4697"/>
              </a:lnSpc>
            </a:pPr>
            <a:endParaRPr lang="en-US" sz="3355">
              <a:solidFill>
                <a:srgbClr val="FFFFFF"/>
              </a:solidFill>
              <a:latin typeface="Canva Sans"/>
              <a:ea typeface="Canva Sans"/>
              <a:cs typeface="Canva Sans"/>
              <a:sym typeface="Canva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11230"/>
        </a:solidFill>
        <a:effectLst/>
      </p:bgPr>
    </p:bg>
    <p:spTree>
      <p:nvGrpSpPr>
        <p:cNvPr id="1" name=""/>
        <p:cNvGrpSpPr/>
        <p:nvPr/>
      </p:nvGrpSpPr>
      <p:grpSpPr>
        <a:xfrm>
          <a:off x="0" y="0"/>
          <a:ext cx="0" cy="0"/>
          <a:chOff x="0" y="0"/>
          <a:chExt cx="0" cy="0"/>
        </a:xfrm>
      </p:grpSpPr>
      <p:sp>
        <p:nvSpPr>
          <p:cNvPr id="2" name="AutoShape 2"/>
          <p:cNvSpPr/>
          <p:nvPr/>
        </p:nvSpPr>
        <p:spPr>
          <a:xfrm>
            <a:off x="9498567" y="47120"/>
            <a:ext cx="9007369" cy="7308328"/>
          </a:xfrm>
          <a:prstGeom prst="rect">
            <a:avLst/>
          </a:prstGeom>
          <a:solidFill>
            <a:srgbClr val="111230"/>
          </a:solidFill>
        </p:spPr>
      </p:sp>
      <p:sp>
        <p:nvSpPr>
          <p:cNvPr id="3" name="AutoShape 3"/>
          <p:cNvSpPr/>
          <p:nvPr/>
        </p:nvSpPr>
        <p:spPr>
          <a:xfrm flipV="1">
            <a:off x="1028710" y="1128207"/>
            <a:ext cx="16858216" cy="57997"/>
          </a:xfrm>
          <a:prstGeom prst="line">
            <a:avLst/>
          </a:prstGeom>
          <a:ln w="9525" cap="rnd">
            <a:solidFill>
              <a:srgbClr val="EFEFEF"/>
            </a:solidFill>
            <a:prstDash val="solid"/>
            <a:headEnd type="none" w="sm" len="sm"/>
            <a:tailEnd type="none" w="sm" len="sm"/>
          </a:ln>
        </p:spPr>
      </p:sp>
      <p:sp>
        <p:nvSpPr>
          <p:cNvPr id="4" name="Freeform 4"/>
          <p:cNvSpPr/>
          <p:nvPr/>
        </p:nvSpPr>
        <p:spPr>
          <a:xfrm>
            <a:off x="0" y="8902498"/>
            <a:ext cx="18288000" cy="1384502"/>
          </a:xfrm>
          <a:custGeom>
            <a:avLst/>
            <a:gdLst/>
            <a:ahLst/>
            <a:cxnLst/>
            <a:rect l="l" t="t" r="r" b="b"/>
            <a:pathLst>
              <a:path w="18288000" h="1384502">
                <a:moveTo>
                  <a:pt x="0" y="0"/>
                </a:moveTo>
                <a:lnTo>
                  <a:pt x="18288000" y="0"/>
                </a:lnTo>
                <a:lnTo>
                  <a:pt x="18288000" y="1384502"/>
                </a:lnTo>
                <a:lnTo>
                  <a:pt x="0" y="1384502"/>
                </a:lnTo>
                <a:lnTo>
                  <a:pt x="0" y="0"/>
                </a:lnTo>
                <a:close/>
              </a:path>
            </a:pathLst>
          </a:custGeom>
          <a:blipFill>
            <a:blip r:embed="rId2"/>
            <a:stretch>
              <a:fillRect l="-3255" t="-111740" r="-3255" b="-166368"/>
            </a:stretch>
          </a:blipFill>
        </p:spPr>
      </p:sp>
      <p:sp>
        <p:nvSpPr>
          <p:cNvPr id="5" name="Freeform 5"/>
          <p:cNvSpPr/>
          <p:nvPr/>
        </p:nvSpPr>
        <p:spPr>
          <a:xfrm>
            <a:off x="9632165" y="1384502"/>
            <a:ext cx="8131842" cy="7517996"/>
          </a:xfrm>
          <a:custGeom>
            <a:avLst/>
            <a:gdLst/>
            <a:ahLst/>
            <a:cxnLst/>
            <a:rect l="l" t="t" r="r" b="b"/>
            <a:pathLst>
              <a:path w="8131842" h="7517996">
                <a:moveTo>
                  <a:pt x="0" y="0"/>
                </a:moveTo>
                <a:lnTo>
                  <a:pt x="8131842" y="0"/>
                </a:lnTo>
                <a:lnTo>
                  <a:pt x="8131842" y="7517996"/>
                </a:lnTo>
                <a:lnTo>
                  <a:pt x="0" y="7517996"/>
                </a:lnTo>
                <a:lnTo>
                  <a:pt x="0" y="0"/>
                </a:lnTo>
                <a:close/>
              </a:path>
            </a:pathLst>
          </a:custGeom>
          <a:blipFill>
            <a:blip r:embed="rId3"/>
            <a:stretch>
              <a:fillRect l="-992" t="-2842" r="-853" b="-7318"/>
            </a:stretch>
          </a:blipFill>
        </p:spPr>
      </p:sp>
      <p:sp>
        <p:nvSpPr>
          <p:cNvPr id="6" name="TextBox 6"/>
          <p:cNvSpPr txBox="1"/>
          <p:nvPr/>
        </p:nvSpPr>
        <p:spPr>
          <a:xfrm>
            <a:off x="357754" y="-572527"/>
            <a:ext cx="9578273" cy="1161759"/>
          </a:xfrm>
          <a:prstGeom prst="rect">
            <a:avLst/>
          </a:prstGeom>
        </p:spPr>
        <p:txBody>
          <a:bodyPr lIns="0" tIns="0" rIns="0" bIns="0" rtlCol="0" anchor="t">
            <a:spAutoFit/>
          </a:bodyPr>
          <a:lstStyle/>
          <a:p>
            <a:pPr algn="l">
              <a:lnSpc>
                <a:spcPts val="9045"/>
              </a:lnSpc>
            </a:pPr>
            <a:endParaRPr/>
          </a:p>
        </p:txBody>
      </p:sp>
      <p:sp>
        <p:nvSpPr>
          <p:cNvPr id="7" name="TextBox 7"/>
          <p:cNvSpPr txBox="1"/>
          <p:nvPr/>
        </p:nvSpPr>
        <p:spPr>
          <a:xfrm>
            <a:off x="6439384" y="28070"/>
            <a:ext cx="5409233" cy="1095375"/>
          </a:xfrm>
          <a:prstGeom prst="rect">
            <a:avLst/>
          </a:prstGeom>
        </p:spPr>
        <p:txBody>
          <a:bodyPr lIns="0" tIns="0" rIns="0" bIns="0" rtlCol="0" anchor="t">
            <a:spAutoFit/>
          </a:bodyPr>
          <a:lstStyle/>
          <a:p>
            <a:pPr algn="ctr">
              <a:lnSpc>
                <a:spcPts val="8520"/>
              </a:lnSpc>
              <a:spcBef>
                <a:spcPct val="0"/>
              </a:spcBef>
            </a:pPr>
            <a:r>
              <a:rPr lang="en-US" sz="7100" b="1">
                <a:solidFill>
                  <a:srgbClr val="EFEFEF"/>
                </a:solidFill>
                <a:latin typeface="Public Sans Bold"/>
                <a:ea typeface="Public Sans Bold"/>
                <a:cs typeface="Public Sans Bold"/>
                <a:sym typeface="Public Sans Bold"/>
              </a:rPr>
              <a:t>Admin Panel</a:t>
            </a:r>
          </a:p>
        </p:txBody>
      </p:sp>
      <p:sp>
        <p:nvSpPr>
          <p:cNvPr id="8" name="TextBox 8"/>
          <p:cNvSpPr txBox="1"/>
          <p:nvPr/>
        </p:nvSpPr>
        <p:spPr>
          <a:xfrm>
            <a:off x="1028710" y="406759"/>
            <a:ext cx="9428459" cy="8269201"/>
          </a:xfrm>
          <a:prstGeom prst="rect">
            <a:avLst/>
          </a:prstGeom>
        </p:spPr>
        <p:txBody>
          <a:bodyPr lIns="0" tIns="0" rIns="0" bIns="0" rtlCol="0" anchor="t">
            <a:spAutoFit/>
          </a:bodyPr>
          <a:lstStyle/>
          <a:p>
            <a:pPr algn="l">
              <a:lnSpc>
                <a:spcPts val="8307"/>
              </a:lnSpc>
            </a:pPr>
            <a:endParaRPr/>
          </a:p>
          <a:p>
            <a:pPr algn="l">
              <a:lnSpc>
                <a:spcPts val="8307"/>
              </a:lnSpc>
            </a:pPr>
            <a:r>
              <a:rPr lang="en-US" sz="3432">
                <a:solidFill>
                  <a:srgbClr val="EFEFEF"/>
                </a:solidFill>
                <a:latin typeface="Public Sans"/>
                <a:ea typeface="Public Sans"/>
                <a:cs typeface="Public Sans"/>
                <a:sym typeface="Public Sans"/>
              </a:rPr>
              <a:t>Librarian can:</a:t>
            </a:r>
          </a:p>
          <a:p>
            <a:pPr algn="l">
              <a:lnSpc>
                <a:spcPts val="8307"/>
              </a:lnSpc>
            </a:pPr>
            <a:r>
              <a:rPr lang="en-US" sz="3432">
                <a:solidFill>
                  <a:srgbClr val="EFEFEF"/>
                </a:solidFill>
                <a:latin typeface="Public Sans"/>
                <a:ea typeface="Public Sans"/>
                <a:cs typeface="Public Sans"/>
                <a:sym typeface="Public Sans"/>
              </a:rPr>
              <a:t>       a. Add/Edit/D</a:t>
            </a:r>
            <a:r>
              <a:rPr lang="en-US" sz="3432" u="none">
                <a:solidFill>
                  <a:srgbClr val="EFEFEF"/>
                </a:solidFill>
                <a:latin typeface="Public Sans"/>
                <a:ea typeface="Public Sans"/>
                <a:cs typeface="Public Sans"/>
                <a:sym typeface="Public Sans"/>
              </a:rPr>
              <a:t>elete Books.</a:t>
            </a:r>
          </a:p>
          <a:p>
            <a:pPr algn="l">
              <a:lnSpc>
                <a:spcPts val="8307"/>
              </a:lnSpc>
            </a:pPr>
            <a:r>
              <a:rPr lang="en-US" sz="3432" u="none">
                <a:solidFill>
                  <a:srgbClr val="EFEFEF"/>
                </a:solidFill>
                <a:latin typeface="Public Sans"/>
                <a:ea typeface="Public Sans"/>
                <a:cs typeface="Public Sans"/>
                <a:sym typeface="Public Sans"/>
              </a:rPr>
              <a:t>       b. Add/Edit/Delete Members.</a:t>
            </a:r>
          </a:p>
          <a:p>
            <a:pPr algn="l">
              <a:lnSpc>
                <a:spcPts val="8307"/>
              </a:lnSpc>
            </a:pPr>
            <a:r>
              <a:rPr lang="en-US" sz="3432" u="none">
                <a:solidFill>
                  <a:srgbClr val="EFEFEF"/>
                </a:solidFill>
                <a:latin typeface="Public Sans"/>
                <a:ea typeface="Public Sans"/>
                <a:cs typeface="Public Sans"/>
                <a:sym typeface="Public Sans"/>
              </a:rPr>
              <a:t>       c. Filter books by status- (Available/Issued).</a:t>
            </a:r>
          </a:p>
          <a:p>
            <a:pPr algn="l">
              <a:lnSpc>
                <a:spcPts val="8307"/>
              </a:lnSpc>
            </a:pPr>
            <a:r>
              <a:rPr lang="en-US" sz="3432" u="none">
                <a:solidFill>
                  <a:srgbClr val="EFEFEF"/>
                </a:solidFill>
                <a:latin typeface="Public Sans"/>
                <a:ea typeface="Public Sans"/>
                <a:cs typeface="Public Sans"/>
                <a:sym typeface="Public Sans"/>
              </a:rPr>
              <a:t>      d. Search by title, author, or ISBN.</a:t>
            </a:r>
          </a:p>
          <a:p>
            <a:pPr algn="l">
              <a:lnSpc>
                <a:spcPts val="8307"/>
              </a:lnSpc>
            </a:pPr>
            <a:endParaRPr lang="en-US" sz="3432" u="none">
              <a:solidFill>
                <a:srgbClr val="EFEFEF"/>
              </a:solidFill>
              <a:latin typeface="Public Sans"/>
              <a:ea typeface="Public Sans"/>
              <a:cs typeface="Public Sans"/>
              <a:sym typeface="Public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11230"/>
        </a:solidFill>
        <a:effectLst/>
      </p:bgPr>
    </p:bg>
    <p:spTree>
      <p:nvGrpSpPr>
        <p:cNvPr id="1" name=""/>
        <p:cNvGrpSpPr/>
        <p:nvPr/>
      </p:nvGrpSpPr>
      <p:grpSpPr>
        <a:xfrm>
          <a:off x="0" y="0"/>
          <a:ext cx="0" cy="0"/>
          <a:chOff x="0" y="0"/>
          <a:chExt cx="0" cy="0"/>
        </a:xfrm>
      </p:grpSpPr>
      <p:grpSp>
        <p:nvGrpSpPr>
          <p:cNvPr id="2" name="Group 2"/>
          <p:cNvGrpSpPr/>
          <p:nvPr/>
        </p:nvGrpSpPr>
        <p:grpSpPr>
          <a:xfrm>
            <a:off x="4557481" y="371297"/>
            <a:ext cx="8549980" cy="2361772"/>
            <a:chOff x="0" y="0"/>
            <a:chExt cx="11399974" cy="3149029"/>
          </a:xfrm>
        </p:grpSpPr>
        <p:sp>
          <p:nvSpPr>
            <p:cNvPr id="3" name="TextBox 3"/>
            <p:cNvSpPr txBox="1"/>
            <p:nvPr/>
          </p:nvSpPr>
          <p:spPr>
            <a:xfrm>
              <a:off x="0" y="-19050"/>
              <a:ext cx="11399974" cy="1454150"/>
            </a:xfrm>
            <a:prstGeom prst="rect">
              <a:avLst/>
            </a:prstGeom>
          </p:spPr>
          <p:txBody>
            <a:bodyPr lIns="0" tIns="0" rIns="0" bIns="0" rtlCol="0" anchor="t">
              <a:spAutoFit/>
            </a:bodyPr>
            <a:lstStyle/>
            <a:p>
              <a:pPr algn="ctr">
                <a:lnSpc>
                  <a:spcPts val="8520"/>
                </a:lnSpc>
              </a:pPr>
              <a:r>
                <a:rPr lang="en-US" sz="7100" b="1">
                  <a:solidFill>
                    <a:srgbClr val="FFFFFF"/>
                  </a:solidFill>
                  <a:latin typeface="Public Sans Bold"/>
                  <a:ea typeface="Public Sans Bold"/>
                  <a:cs typeface="Public Sans Bold"/>
                  <a:sym typeface="Public Sans Bold"/>
                </a:rPr>
                <a:t>Borrow Book Logic</a:t>
              </a:r>
            </a:p>
          </p:txBody>
        </p:sp>
        <p:sp>
          <p:nvSpPr>
            <p:cNvPr id="4" name="TextBox 4"/>
            <p:cNvSpPr txBox="1"/>
            <p:nvPr/>
          </p:nvSpPr>
          <p:spPr>
            <a:xfrm>
              <a:off x="0" y="1786954"/>
              <a:ext cx="10122806" cy="663575"/>
            </a:xfrm>
            <a:prstGeom prst="rect">
              <a:avLst/>
            </a:prstGeom>
          </p:spPr>
          <p:txBody>
            <a:bodyPr lIns="0" tIns="0" rIns="0" bIns="0" rtlCol="0" anchor="t">
              <a:spAutoFit/>
            </a:bodyPr>
            <a:lstStyle/>
            <a:p>
              <a:pPr marL="0" lvl="0" indent="0" algn="l">
                <a:lnSpc>
                  <a:spcPts val="4199"/>
                </a:lnSpc>
              </a:pPr>
              <a:endParaRPr/>
            </a:p>
          </p:txBody>
        </p:sp>
      </p:grpSp>
      <p:sp>
        <p:nvSpPr>
          <p:cNvPr id="5" name="Freeform 5"/>
          <p:cNvSpPr/>
          <p:nvPr/>
        </p:nvSpPr>
        <p:spPr>
          <a:xfrm>
            <a:off x="3307009" y="2254469"/>
            <a:ext cx="3002870" cy="3002870"/>
          </a:xfrm>
          <a:custGeom>
            <a:avLst/>
            <a:gdLst/>
            <a:ahLst/>
            <a:cxnLst/>
            <a:rect l="l" t="t" r="r" b="b"/>
            <a:pathLst>
              <a:path w="3002870" h="3002870">
                <a:moveTo>
                  <a:pt x="0" y="0"/>
                </a:moveTo>
                <a:lnTo>
                  <a:pt x="3002870" y="0"/>
                </a:lnTo>
                <a:lnTo>
                  <a:pt x="3002870" y="3002870"/>
                </a:lnTo>
                <a:lnTo>
                  <a:pt x="0" y="3002870"/>
                </a:lnTo>
                <a:lnTo>
                  <a:pt x="0" y="0"/>
                </a:lnTo>
                <a:close/>
              </a:path>
            </a:pathLst>
          </a:custGeom>
          <a:blipFill>
            <a:blip r:embed="rId2"/>
            <a:stretch>
              <a:fillRect/>
            </a:stretch>
          </a:blipFill>
        </p:spPr>
      </p:sp>
      <p:sp>
        <p:nvSpPr>
          <p:cNvPr id="6" name="Freeform 6"/>
          <p:cNvSpPr/>
          <p:nvPr/>
        </p:nvSpPr>
        <p:spPr>
          <a:xfrm>
            <a:off x="7699484" y="2254469"/>
            <a:ext cx="2889031" cy="2889031"/>
          </a:xfrm>
          <a:custGeom>
            <a:avLst/>
            <a:gdLst/>
            <a:ahLst/>
            <a:cxnLst/>
            <a:rect l="l" t="t" r="r" b="b"/>
            <a:pathLst>
              <a:path w="2889031" h="2889031">
                <a:moveTo>
                  <a:pt x="0" y="0"/>
                </a:moveTo>
                <a:lnTo>
                  <a:pt x="2889032" y="0"/>
                </a:lnTo>
                <a:lnTo>
                  <a:pt x="2889032" y="2889031"/>
                </a:lnTo>
                <a:lnTo>
                  <a:pt x="0" y="2889031"/>
                </a:lnTo>
                <a:lnTo>
                  <a:pt x="0" y="0"/>
                </a:lnTo>
                <a:close/>
              </a:path>
            </a:pathLst>
          </a:custGeom>
          <a:blipFill>
            <a:blip r:embed="rId3"/>
            <a:stretch>
              <a:fillRect/>
            </a:stretch>
          </a:blipFill>
        </p:spPr>
      </p:sp>
      <p:sp>
        <p:nvSpPr>
          <p:cNvPr id="7" name="Freeform 7"/>
          <p:cNvSpPr/>
          <p:nvPr/>
        </p:nvSpPr>
        <p:spPr>
          <a:xfrm>
            <a:off x="11578614" y="2184246"/>
            <a:ext cx="3057696" cy="3057696"/>
          </a:xfrm>
          <a:custGeom>
            <a:avLst/>
            <a:gdLst/>
            <a:ahLst/>
            <a:cxnLst/>
            <a:rect l="l" t="t" r="r" b="b"/>
            <a:pathLst>
              <a:path w="3057696" h="3057696">
                <a:moveTo>
                  <a:pt x="0" y="0"/>
                </a:moveTo>
                <a:lnTo>
                  <a:pt x="3057696" y="0"/>
                </a:lnTo>
                <a:lnTo>
                  <a:pt x="3057696" y="3057696"/>
                </a:lnTo>
                <a:lnTo>
                  <a:pt x="0" y="3057696"/>
                </a:lnTo>
                <a:lnTo>
                  <a:pt x="0" y="0"/>
                </a:lnTo>
                <a:close/>
              </a:path>
            </a:pathLst>
          </a:custGeom>
          <a:blipFill>
            <a:blip r:embed="rId4"/>
            <a:stretch>
              <a:fillRect/>
            </a:stretch>
          </a:blipFill>
        </p:spPr>
      </p:sp>
      <p:sp>
        <p:nvSpPr>
          <p:cNvPr id="8" name="TextBox 8"/>
          <p:cNvSpPr txBox="1"/>
          <p:nvPr/>
        </p:nvSpPr>
        <p:spPr>
          <a:xfrm>
            <a:off x="3307009" y="5748447"/>
            <a:ext cx="11329301" cy="4248150"/>
          </a:xfrm>
          <a:prstGeom prst="rect">
            <a:avLst/>
          </a:prstGeom>
        </p:spPr>
        <p:txBody>
          <a:bodyPr lIns="0" tIns="0" rIns="0" bIns="0" rtlCol="0" anchor="t">
            <a:spAutoFit/>
          </a:bodyPr>
          <a:lstStyle/>
          <a:p>
            <a:pPr marL="647700" lvl="1" indent="-323850" algn="l">
              <a:lnSpc>
                <a:spcPts val="4800"/>
              </a:lnSpc>
              <a:buAutoNum type="arabicPeriod"/>
            </a:pPr>
            <a:r>
              <a:rPr lang="en-US" sz="3000">
                <a:solidFill>
                  <a:srgbClr val="FFFFFF"/>
                </a:solidFill>
                <a:latin typeface="Public Sans"/>
                <a:ea typeface="Public Sans"/>
                <a:cs typeface="Public Sans"/>
                <a:sym typeface="Public Sans"/>
              </a:rPr>
              <a:t>API: /api/members/{id}/borrow/.</a:t>
            </a:r>
          </a:p>
          <a:p>
            <a:pPr marL="647700" lvl="1" indent="-323850" algn="l">
              <a:lnSpc>
                <a:spcPts val="4800"/>
              </a:lnSpc>
              <a:buAutoNum type="arabicPeriod"/>
            </a:pPr>
            <a:r>
              <a:rPr lang="en-US" sz="3000">
                <a:solidFill>
                  <a:srgbClr val="FFFFFF"/>
                </a:solidFill>
                <a:latin typeface="Public Sans"/>
                <a:ea typeface="Public Sans"/>
                <a:cs typeface="Public Sans"/>
                <a:sym typeface="Public Sans"/>
              </a:rPr>
              <a:t>Steps:</a:t>
            </a:r>
          </a:p>
          <a:p>
            <a:pPr marL="1295400" lvl="2" indent="-431800" algn="l">
              <a:lnSpc>
                <a:spcPts val="4800"/>
              </a:lnSpc>
              <a:buAutoNum type="alphaLcPeriod"/>
            </a:pPr>
            <a:r>
              <a:rPr lang="en-US" sz="3000">
                <a:solidFill>
                  <a:srgbClr val="FFFFFF"/>
                </a:solidFill>
                <a:latin typeface="Public Sans"/>
                <a:ea typeface="Public Sans"/>
                <a:cs typeface="Public Sans"/>
                <a:sym typeface="Public Sans"/>
              </a:rPr>
              <a:t>Validate book exists.</a:t>
            </a:r>
          </a:p>
          <a:p>
            <a:pPr marL="1295400" lvl="2" indent="-431800" algn="l">
              <a:lnSpc>
                <a:spcPts val="4800"/>
              </a:lnSpc>
              <a:buAutoNum type="alphaLcPeriod"/>
            </a:pPr>
            <a:r>
              <a:rPr lang="en-US" sz="3000">
                <a:solidFill>
                  <a:srgbClr val="FFFFFF"/>
                </a:solidFill>
                <a:latin typeface="Public Sans"/>
                <a:ea typeface="Public Sans"/>
                <a:cs typeface="Public Sans"/>
                <a:sym typeface="Public Sans"/>
              </a:rPr>
              <a:t>Check if book is available.</a:t>
            </a:r>
          </a:p>
          <a:p>
            <a:pPr marL="1295400" lvl="2" indent="-431800" algn="l">
              <a:lnSpc>
                <a:spcPts val="4800"/>
              </a:lnSpc>
              <a:buAutoNum type="alphaLcPeriod"/>
            </a:pPr>
            <a:r>
              <a:rPr lang="en-US" sz="3000">
                <a:solidFill>
                  <a:srgbClr val="FFFFFF"/>
                </a:solidFill>
                <a:latin typeface="Public Sans"/>
                <a:ea typeface="Public Sans"/>
                <a:cs typeface="Public Sans"/>
                <a:sym typeface="Public Sans"/>
              </a:rPr>
              <a:t>Assign book to member.</a:t>
            </a:r>
          </a:p>
          <a:p>
            <a:pPr marL="1295400" lvl="2" indent="-431800" algn="l">
              <a:lnSpc>
                <a:spcPts val="4800"/>
              </a:lnSpc>
              <a:buAutoNum type="alphaLcPeriod"/>
            </a:pPr>
            <a:r>
              <a:rPr lang="en-US" sz="3000">
                <a:solidFill>
                  <a:srgbClr val="FFFFFF"/>
                </a:solidFill>
                <a:latin typeface="Public Sans"/>
                <a:ea typeface="Public Sans"/>
                <a:cs typeface="Public Sans"/>
                <a:sym typeface="Public Sans"/>
              </a:rPr>
              <a:t>Mark book as issued (available=False).</a:t>
            </a:r>
          </a:p>
          <a:p>
            <a:pPr marL="1295400" lvl="2" indent="-431800" algn="l">
              <a:lnSpc>
                <a:spcPts val="4800"/>
              </a:lnSpc>
              <a:buAutoNum type="alphaLcPeriod"/>
            </a:pPr>
            <a:r>
              <a:rPr lang="en-US" sz="3000">
                <a:solidFill>
                  <a:srgbClr val="FFFFFF"/>
                </a:solidFill>
                <a:latin typeface="Public Sans"/>
                <a:ea typeface="Public Sans"/>
                <a:cs typeface="Public Sans"/>
                <a:sym typeface="Public Sans"/>
              </a:rPr>
              <a:t>Return updated JSON.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11230"/>
        </a:solidFill>
        <a:effectLst/>
      </p:bgPr>
    </p:bg>
    <p:spTree>
      <p:nvGrpSpPr>
        <p:cNvPr id="1" name=""/>
        <p:cNvGrpSpPr/>
        <p:nvPr/>
      </p:nvGrpSpPr>
      <p:grpSpPr>
        <a:xfrm>
          <a:off x="0" y="0"/>
          <a:ext cx="0" cy="0"/>
          <a:chOff x="0" y="0"/>
          <a:chExt cx="0" cy="0"/>
        </a:xfrm>
      </p:grpSpPr>
      <p:sp>
        <p:nvSpPr>
          <p:cNvPr id="2" name="Freeform 2"/>
          <p:cNvSpPr/>
          <p:nvPr/>
        </p:nvSpPr>
        <p:spPr>
          <a:xfrm>
            <a:off x="11635620" y="2254528"/>
            <a:ext cx="2866764" cy="2750431"/>
          </a:xfrm>
          <a:custGeom>
            <a:avLst/>
            <a:gdLst/>
            <a:ahLst/>
            <a:cxnLst/>
            <a:rect l="l" t="t" r="r" b="b"/>
            <a:pathLst>
              <a:path w="2866764" h="2750431">
                <a:moveTo>
                  <a:pt x="0" y="0"/>
                </a:moveTo>
                <a:lnTo>
                  <a:pt x="2866765" y="0"/>
                </a:lnTo>
                <a:lnTo>
                  <a:pt x="2866765" y="2750431"/>
                </a:lnTo>
                <a:lnTo>
                  <a:pt x="0" y="2750431"/>
                </a:lnTo>
                <a:lnTo>
                  <a:pt x="0" y="0"/>
                </a:lnTo>
                <a:close/>
              </a:path>
            </a:pathLst>
          </a:custGeom>
          <a:blipFill>
            <a:blip r:embed="rId2"/>
            <a:stretch>
              <a:fillRect l="-15490" r="-9499" b="-30276"/>
            </a:stretch>
          </a:blipFill>
        </p:spPr>
      </p:sp>
      <p:sp>
        <p:nvSpPr>
          <p:cNvPr id="3" name="Freeform 3"/>
          <p:cNvSpPr/>
          <p:nvPr/>
        </p:nvSpPr>
        <p:spPr>
          <a:xfrm>
            <a:off x="2782959" y="2476645"/>
            <a:ext cx="3698643" cy="2306198"/>
          </a:xfrm>
          <a:custGeom>
            <a:avLst/>
            <a:gdLst/>
            <a:ahLst/>
            <a:cxnLst/>
            <a:rect l="l" t="t" r="r" b="b"/>
            <a:pathLst>
              <a:path w="3698643" h="2306198">
                <a:moveTo>
                  <a:pt x="0" y="0"/>
                </a:moveTo>
                <a:lnTo>
                  <a:pt x="3698643" y="0"/>
                </a:lnTo>
                <a:lnTo>
                  <a:pt x="3698643" y="2306198"/>
                </a:lnTo>
                <a:lnTo>
                  <a:pt x="0" y="2306198"/>
                </a:lnTo>
                <a:lnTo>
                  <a:pt x="0" y="0"/>
                </a:lnTo>
                <a:close/>
              </a:path>
            </a:pathLst>
          </a:custGeom>
          <a:blipFill>
            <a:blip r:embed="rId3"/>
            <a:stretch>
              <a:fillRect l="-4882"/>
            </a:stretch>
          </a:blipFill>
        </p:spPr>
      </p:sp>
      <p:sp>
        <p:nvSpPr>
          <p:cNvPr id="4" name="Freeform 4"/>
          <p:cNvSpPr/>
          <p:nvPr/>
        </p:nvSpPr>
        <p:spPr>
          <a:xfrm rot="5400000">
            <a:off x="7661779" y="2233750"/>
            <a:ext cx="2791182" cy="2751236"/>
          </a:xfrm>
          <a:custGeom>
            <a:avLst/>
            <a:gdLst/>
            <a:ahLst/>
            <a:cxnLst/>
            <a:rect l="l" t="t" r="r" b="b"/>
            <a:pathLst>
              <a:path w="2791182" h="2751236">
                <a:moveTo>
                  <a:pt x="0" y="0"/>
                </a:moveTo>
                <a:lnTo>
                  <a:pt x="2791182" y="0"/>
                </a:lnTo>
                <a:lnTo>
                  <a:pt x="2791182" y="2751236"/>
                </a:lnTo>
                <a:lnTo>
                  <a:pt x="0" y="2751236"/>
                </a:lnTo>
                <a:lnTo>
                  <a:pt x="0" y="0"/>
                </a:lnTo>
                <a:close/>
              </a:path>
            </a:pathLst>
          </a:custGeom>
          <a:blipFill>
            <a:blip r:embed="rId4"/>
            <a:stretch>
              <a:fillRect t="-1451"/>
            </a:stretch>
          </a:blipFill>
        </p:spPr>
      </p:sp>
      <p:sp>
        <p:nvSpPr>
          <p:cNvPr id="5" name="TextBox 5"/>
          <p:cNvSpPr txBox="1"/>
          <p:nvPr/>
        </p:nvSpPr>
        <p:spPr>
          <a:xfrm>
            <a:off x="2485973" y="5391716"/>
            <a:ext cx="13316055" cy="4171950"/>
          </a:xfrm>
          <a:prstGeom prst="rect">
            <a:avLst/>
          </a:prstGeom>
        </p:spPr>
        <p:txBody>
          <a:bodyPr lIns="0" tIns="0" rIns="0" bIns="0" rtlCol="0" anchor="t">
            <a:spAutoFit/>
          </a:bodyPr>
          <a:lstStyle/>
          <a:p>
            <a:pPr marL="647698" lvl="1" indent="-323849" algn="l">
              <a:lnSpc>
                <a:spcPts val="4799"/>
              </a:lnSpc>
              <a:buAutoNum type="arabicPeriod"/>
            </a:pPr>
            <a:r>
              <a:rPr lang="en-US" sz="2999">
                <a:solidFill>
                  <a:srgbClr val="FFFFFF"/>
                </a:solidFill>
                <a:latin typeface="Public Sans"/>
                <a:ea typeface="Public Sans"/>
                <a:cs typeface="Public Sans"/>
                <a:sym typeface="Public Sans"/>
              </a:rPr>
              <a:t>API:</a:t>
            </a:r>
            <a:r>
              <a:rPr lang="en-US" sz="2999" u="none">
                <a:solidFill>
                  <a:srgbClr val="FFFFFF"/>
                </a:solidFill>
                <a:latin typeface="Public Sans"/>
                <a:ea typeface="Public Sans"/>
                <a:cs typeface="Public Sans"/>
                <a:sym typeface="Public Sans"/>
              </a:rPr>
              <a:t> /api/members/{id}/return/.</a:t>
            </a:r>
          </a:p>
          <a:p>
            <a:pPr marL="647698" lvl="1" indent="-323849" algn="l">
              <a:lnSpc>
                <a:spcPts val="4799"/>
              </a:lnSpc>
              <a:buAutoNum type="arabicPeriod"/>
            </a:pPr>
            <a:r>
              <a:rPr lang="en-US" sz="2999" u="none">
                <a:solidFill>
                  <a:srgbClr val="FFFFFF"/>
                </a:solidFill>
                <a:latin typeface="Public Sans"/>
                <a:ea typeface="Public Sans"/>
                <a:cs typeface="Public Sans"/>
                <a:sym typeface="Public Sans"/>
              </a:rPr>
              <a:t>Steps:</a:t>
            </a:r>
          </a:p>
          <a:p>
            <a:pPr marL="1295397" lvl="2" indent="-431799" algn="l">
              <a:lnSpc>
                <a:spcPts val="4799"/>
              </a:lnSpc>
              <a:buAutoNum type="alphaLcPeriod"/>
            </a:pPr>
            <a:r>
              <a:rPr lang="en-US" sz="2999" u="none">
                <a:solidFill>
                  <a:srgbClr val="FFFFFF"/>
                </a:solidFill>
                <a:latin typeface="Public Sans"/>
                <a:ea typeface="Public Sans"/>
                <a:cs typeface="Public Sans"/>
                <a:sym typeface="Public Sans"/>
              </a:rPr>
              <a:t>Validate member borrowed the book.</a:t>
            </a:r>
          </a:p>
          <a:p>
            <a:pPr marL="1295397" lvl="2" indent="-431799" algn="l">
              <a:lnSpc>
                <a:spcPts val="4799"/>
              </a:lnSpc>
              <a:buAutoNum type="alphaLcPeriod"/>
            </a:pPr>
            <a:r>
              <a:rPr lang="en-US" sz="2999" u="none">
                <a:solidFill>
                  <a:srgbClr val="FFFFFF"/>
                </a:solidFill>
                <a:latin typeface="Public Sans"/>
                <a:ea typeface="Public Sans"/>
                <a:cs typeface="Public Sans"/>
                <a:sym typeface="Public Sans"/>
              </a:rPr>
              <a:t>Remove book from member’s borrowed list.</a:t>
            </a:r>
          </a:p>
          <a:p>
            <a:pPr marL="1295397" lvl="2" indent="-431799" algn="l">
              <a:lnSpc>
                <a:spcPts val="4799"/>
              </a:lnSpc>
              <a:buAutoNum type="alphaLcPeriod"/>
            </a:pPr>
            <a:r>
              <a:rPr lang="en-US" sz="2999" u="none">
                <a:solidFill>
                  <a:srgbClr val="FFFFFF"/>
                </a:solidFill>
                <a:latin typeface="Public Sans"/>
                <a:ea typeface="Public Sans"/>
                <a:cs typeface="Public Sans"/>
                <a:sym typeface="Public Sans"/>
              </a:rPr>
              <a:t>Mark book as available.</a:t>
            </a:r>
          </a:p>
          <a:p>
            <a:pPr marL="1295397" lvl="2" indent="-431799" algn="l">
              <a:lnSpc>
                <a:spcPts val="4799"/>
              </a:lnSpc>
              <a:buAutoNum type="alphaLcPeriod"/>
            </a:pPr>
            <a:r>
              <a:rPr lang="en-US" sz="2999" u="none">
                <a:solidFill>
                  <a:srgbClr val="FFFFFF"/>
                </a:solidFill>
                <a:latin typeface="Public Sans"/>
                <a:ea typeface="Public Sans"/>
                <a:cs typeface="Public Sans"/>
                <a:sym typeface="Public Sans"/>
              </a:rPr>
              <a:t>Return updated JSON.</a:t>
            </a:r>
          </a:p>
          <a:p>
            <a:pPr algn="ctr">
              <a:lnSpc>
                <a:spcPts val="4799"/>
              </a:lnSpc>
            </a:pPr>
            <a:endParaRPr lang="en-US" sz="2999" u="none">
              <a:solidFill>
                <a:srgbClr val="FFFFFF"/>
              </a:solidFill>
              <a:latin typeface="Public Sans"/>
              <a:ea typeface="Public Sans"/>
              <a:cs typeface="Public Sans"/>
              <a:sym typeface="Public Sans"/>
            </a:endParaRPr>
          </a:p>
        </p:txBody>
      </p:sp>
      <p:sp>
        <p:nvSpPr>
          <p:cNvPr id="6" name="TextBox 6"/>
          <p:cNvSpPr txBox="1"/>
          <p:nvPr/>
        </p:nvSpPr>
        <p:spPr>
          <a:xfrm>
            <a:off x="1028700" y="245206"/>
            <a:ext cx="15493715" cy="1095375"/>
          </a:xfrm>
          <a:prstGeom prst="rect">
            <a:avLst/>
          </a:prstGeom>
        </p:spPr>
        <p:txBody>
          <a:bodyPr lIns="0" tIns="0" rIns="0" bIns="0" rtlCol="0" anchor="t">
            <a:spAutoFit/>
          </a:bodyPr>
          <a:lstStyle/>
          <a:p>
            <a:pPr algn="ctr">
              <a:lnSpc>
                <a:spcPts val="8520"/>
              </a:lnSpc>
            </a:pPr>
            <a:r>
              <a:rPr lang="en-US" sz="7100" b="1">
                <a:solidFill>
                  <a:srgbClr val="FFFFFF"/>
                </a:solidFill>
                <a:latin typeface="Public Sans Bold"/>
                <a:ea typeface="Public Sans Bold"/>
                <a:cs typeface="Public Sans Bold"/>
                <a:sym typeface="Public Sans Bold"/>
              </a:rPr>
              <a:t>Return Book Logic</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353642"/>
        </a:solidFill>
        <a:effectLst/>
      </p:bgPr>
    </p:bg>
    <p:spTree>
      <p:nvGrpSpPr>
        <p:cNvPr id="1" name=""/>
        <p:cNvGrpSpPr/>
        <p:nvPr/>
      </p:nvGrpSpPr>
      <p:grpSpPr>
        <a:xfrm>
          <a:off x="0" y="0"/>
          <a:ext cx="0" cy="0"/>
          <a:chOff x="0" y="0"/>
          <a:chExt cx="0" cy="0"/>
        </a:xfrm>
      </p:grpSpPr>
      <p:sp>
        <p:nvSpPr>
          <p:cNvPr id="2" name="AutoShape 2"/>
          <p:cNvSpPr/>
          <p:nvPr/>
        </p:nvSpPr>
        <p:spPr>
          <a:xfrm>
            <a:off x="0" y="5143500"/>
            <a:ext cx="18288000" cy="5143500"/>
          </a:xfrm>
          <a:prstGeom prst="rect">
            <a:avLst/>
          </a:prstGeom>
          <a:solidFill>
            <a:srgbClr val="252634"/>
          </a:solidFill>
        </p:spPr>
      </p:sp>
      <p:sp>
        <p:nvSpPr>
          <p:cNvPr id="3" name="Freeform 3"/>
          <p:cNvSpPr/>
          <p:nvPr/>
        </p:nvSpPr>
        <p:spPr>
          <a:xfrm>
            <a:off x="0" y="5143500"/>
            <a:ext cx="4577731" cy="5143500"/>
          </a:xfrm>
          <a:custGeom>
            <a:avLst/>
            <a:gdLst/>
            <a:ahLst/>
            <a:cxnLst/>
            <a:rect l="l" t="t" r="r" b="b"/>
            <a:pathLst>
              <a:path w="4577731" h="5143500">
                <a:moveTo>
                  <a:pt x="0" y="0"/>
                </a:moveTo>
                <a:lnTo>
                  <a:pt x="4577731" y="0"/>
                </a:lnTo>
                <a:lnTo>
                  <a:pt x="4577731" y="5143500"/>
                </a:lnTo>
                <a:lnTo>
                  <a:pt x="0" y="5143500"/>
                </a:lnTo>
                <a:lnTo>
                  <a:pt x="0" y="0"/>
                </a:lnTo>
                <a:close/>
              </a:path>
            </a:pathLst>
          </a:custGeom>
          <a:blipFill>
            <a:blip r:embed="rId2"/>
            <a:stretch>
              <a:fillRect l="-4356" r="-4356" b="-9681"/>
            </a:stretch>
          </a:blipFill>
        </p:spPr>
      </p:sp>
      <p:sp>
        <p:nvSpPr>
          <p:cNvPr id="4" name="Freeform 4"/>
          <p:cNvSpPr/>
          <p:nvPr/>
        </p:nvSpPr>
        <p:spPr>
          <a:xfrm>
            <a:off x="13334460" y="0"/>
            <a:ext cx="4953540" cy="5048520"/>
          </a:xfrm>
          <a:custGeom>
            <a:avLst/>
            <a:gdLst/>
            <a:ahLst/>
            <a:cxnLst/>
            <a:rect l="l" t="t" r="r" b="b"/>
            <a:pathLst>
              <a:path w="4953540" h="5048520">
                <a:moveTo>
                  <a:pt x="0" y="0"/>
                </a:moveTo>
                <a:lnTo>
                  <a:pt x="4953540" y="0"/>
                </a:lnTo>
                <a:lnTo>
                  <a:pt x="4953540" y="5048520"/>
                </a:lnTo>
                <a:lnTo>
                  <a:pt x="0" y="5048520"/>
                </a:lnTo>
                <a:lnTo>
                  <a:pt x="0" y="0"/>
                </a:lnTo>
                <a:close/>
              </a:path>
            </a:pathLst>
          </a:custGeom>
          <a:blipFill>
            <a:blip r:embed="rId3"/>
            <a:stretch>
              <a:fillRect l="-958" r="-958"/>
            </a:stretch>
          </a:blipFill>
        </p:spPr>
      </p:sp>
      <p:grpSp>
        <p:nvGrpSpPr>
          <p:cNvPr id="5" name="Group 5"/>
          <p:cNvGrpSpPr/>
          <p:nvPr/>
        </p:nvGrpSpPr>
        <p:grpSpPr>
          <a:xfrm>
            <a:off x="766449" y="-388119"/>
            <a:ext cx="11779148" cy="6208164"/>
            <a:chOff x="0" y="0"/>
            <a:chExt cx="15705531" cy="8277552"/>
          </a:xfrm>
        </p:grpSpPr>
        <p:sp>
          <p:nvSpPr>
            <p:cNvPr id="6" name="TextBox 6"/>
            <p:cNvSpPr txBox="1"/>
            <p:nvPr/>
          </p:nvSpPr>
          <p:spPr>
            <a:xfrm>
              <a:off x="0" y="-95250"/>
              <a:ext cx="15705531" cy="2076449"/>
            </a:xfrm>
            <a:prstGeom prst="rect">
              <a:avLst/>
            </a:prstGeom>
          </p:spPr>
          <p:txBody>
            <a:bodyPr lIns="0" tIns="0" rIns="0" bIns="0" rtlCol="0" anchor="t">
              <a:spAutoFit/>
            </a:bodyPr>
            <a:lstStyle/>
            <a:p>
              <a:pPr algn="l">
                <a:lnSpc>
                  <a:spcPts val="6300"/>
                </a:lnSpc>
              </a:pPr>
              <a:endParaRPr/>
            </a:p>
            <a:p>
              <a:pPr algn="l">
                <a:lnSpc>
                  <a:spcPts val="6300"/>
                </a:lnSpc>
              </a:pPr>
              <a:r>
                <a:rPr lang="en-US" sz="4500" b="1">
                  <a:solidFill>
                    <a:srgbClr val="EFEFEF"/>
                  </a:solidFill>
                  <a:latin typeface="Public Sans Bold"/>
                  <a:ea typeface="Public Sans Bold"/>
                  <a:cs typeface="Public Sans Bold"/>
                  <a:sym typeface="Public Sans Bold"/>
                </a:rPr>
                <a:t>Addbookform. js</a:t>
              </a:r>
            </a:p>
          </p:txBody>
        </p:sp>
        <p:sp>
          <p:nvSpPr>
            <p:cNvPr id="7" name="TextBox 7"/>
            <p:cNvSpPr txBox="1"/>
            <p:nvPr/>
          </p:nvSpPr>
          <p:spPr>
            <a:xfrm>
              <a:off x="0" y="2431531"/>
              <a:ext cx="13380711" cy="5846022"/>
            </a:xfrm>
            <a:prstGeom prst="rect">
              <a:avLst/>
            </a:prstGeom>
          </p:spPr>
          <p:txBody>
            <a:bodyPr lIns="0" tIns="0" rIns="0" bIns="0" rtlCol="0" anchor="t">
              <a:spAutoFit/>
            </a:bodyPr>
            <a:lstStyle/>
            <a:p>
              <a:pPr algn="l">
                <a:lnSpc>
                  <a:spcPts val="3639"/>
                </a:lnSpc>
              </a:pPr>
              <a:endParaRPr/>
            </a:p>
            <a:p>
              <a:pPr marL="626107" lvl="1" indent="-313054" algn="l">
                <a:lnSpc>
                  <a:spcPts val="4059"/>
                </a:lnSpc>
                <a:buAutoNum type="arabicPeriod"/>
              </a:pPr>
              <a:r>
                <a:rPr lang="en-US" sz="2899">
                  <a:solidFill>
                    <a:srgbClr val="EFEFEF"/>
                  </a:solidFill>
                  <a:latin typeface="Public Sans"/>
                  <a:ea typeface="Public Sans"/>
                  <a:cs typeface="Public Sans"/>
                  <a:sym typeface="Public Sans"/>
                </a:rPr>
                <a:t>Add new books to the system</a:t>
              </a:r>
            </a:p>
            <a:p>
              <a:pPr marL="626107" lvl="1" indent="-313054" algn="l">
                <a:lnSpc>
                  <a:spcPts val="4059"/>
                </a:lnSpc>
                <a:buAutoNum type="arabicPeriod"/>
              </a:pPr>
              <a:r>
                <a:rPr lang="en-US" sz="2899">
                  <a:solidFill>
                    <a:srgbClr val="EFEFEF"/>
                  </a:solidFill>
                  <a:latin typeface="Public Sans"/>
                  <a:ea typeface="Public Sans"/>
                  <a:cs typeface="Public Sans"/>
                  <a:sym typeface="Public Sans"/>
                </a:rPr>
                <a:t>Provides a form for adding new books with details like ID, title, author, and ISBN.</a:t>
              </a:r>
            </a:p>
            <a:p>
              <a:pPr marL="626107" lvl="1" indent="-313054" algn="l">
                <a:lnSpc>
                  <a:spcPts val="4059"/>
                </a:lnSpc>
                <a:buAutoNum type="arabicPeriod"/>
              </a:pPr>
              <a:r>
                <a:rPr lang="en-US" sz="2899">
                  <a:solidFill>
                    <a:srgbClr val="EFEFEF"/>
                  </a:solidFill>
                  <a:latin typeface="Public Sans"/>
                  <a:ea typeface="Public Sans"/>
                  <a:cs typeface="Public Sans"/>
                  <a:sym typeface="Public Sans"/>
                </a:rPr>
                <a:t>Submits data via Axios to the Django API and updates the UI after success.</a:t>
              </a:r>
            </a:p>
            <a:p>
              <a:pPr algn="l">
                <a:lnSpc>
                  <a:spcPts val="3639"/>
                </a:lnSpc>
              </a:pPr>
              <a:endParaRPr lang="en-US" sz="2899">
                <a:solidFill>
                  <a:srgbClr val="EFEFEF"/>
                </a:solidFill>
                <a:latin typeface="Public Sans"/>
                <a:ea typeface="Public Sans"/>
                <a:cs typeface="Public Sans"/>
                <a:sym typeface="Public Sans"/>
              </a:endParaRPr>
            </a:p>
            <a:p>
              <a:pPr algn="l">
                <a:lnSpc>
                  <a:spcPts val="3639"/>
                </a:lnSpc>
              </a:pPr>
              <a:endParaRPr lang="en-US" sz="2899">
                <a:solidFill>
                  <a:srgbClr val="EFEFEF"/>
                </a:solidFill>
                <a:latin typeface="Public Sans"/>
                <a:ea typeface="Public Sans"/>
                <a:cs typeface="Public Sans"/>
                <a:sym typeface="Public Sans"/>
              </a:endParaRPr>
            </a:p>
            <a:p>
              <a:pPr algn="l">
                <a:lnSpc>
                  <a:spcPts val="3639"/>
                </a:lnSpc>
              </a:pPr>
              <a:r>
                <a:rPr lang="en-US" sz="2599">
                  <a:solidFill>
                    <a:srgbClr val="EFEFEF"/>
                  </a:solidFill>
                  <a:latin typeface="Public Sans"/>
                  <a:ea typeface="Public Sans"/>
                  <a:cs typeface="Public Sans"/>
                  <a:sym typeface="Public Sans"/>
                </a:rPr>
                <a:t>.</a:t>
              </a:r>
            </a:p>
          </p:txBody>
        </p:sp>
      </p:grpSp>
      <p:grpSp>
        <p:nvGrpSpPr>
          <p:cNvPr id="8" name="Group 8"/>
          <p:cNvGrpSpPr/>
          <p:nvPr/>
        </p:nvGrpSpPr>
        <p:grpSpPr>
          <a:xfrm>
            <a:off x="5286384" y="6156150"/>
            <a:ext cx="11577067" cy="3118201"/>
            <a:chOff x="0" y="0"/>
            <a:chExt cx="15436090" cy="4157601"/>
          </a:xfrm>
        </p:grpSpPr>
        <p:sp>
          <p:nvSpPr>
            <p:cNvPr id="9" name="TextBox 9"/>
            <p:cNvSpPr txBox="1"/>
            <p:nvPr/>
          </p:nvSpPr>
          <p:spPr>
            <a:xfrm>
              <a:off x="0" y="-95250"/>
              <a:ext cx="15436090" cy="1009649"/>
            </a:xfrm>
            <a:prstGeom prst="rect">
              <a:avLst/>
            </a:prstGeom>
          </p:spPr>
          <p:txBody>
            <a:bodyPr lIns="0" tIns="0" rIns="0" bIns="0" rtlCol="0" anchor="t">
              <a:spAutoFit/>
            </a:bodyPr>
            <a:lstStyle/>
            <a:p>
              <a:pPr algn="l">
                <a:lnSpc>
                  <a:spcPts val="6300"/>
                </a:lnSpc>
              </a:pPr>
              <a:r>
                <a:rPr lang="en-US" sz="4500" b="1">
                  <a:solidFill>
                    <a:srgbClr val="EFEFEF"/>
                  </a:solidFill>
                  <a:latin typeface="Public Sans Bold"/>
                  <a:ea typeface="Public Sans Bold"/>
                  <a:cs typeface="Public Sans Bold"/>
                  <a:sym typeface="Public Sans Bold"/>
                </a:rPr>
                <a:t>addmemberform.js</a:t>
              </a:r>
            </a:p>
          </p:txBody>
        </p:sp>
        <p:sp>
          <p:nvSpPr>
            <p:cNvPr id="10" name="TextBox 10"/>
            <p:cNvSpPr txBox="1"/>
            <p:nvPr/>
          </p:nvSpPr>
          <p:spPr>
            <a:xfrm>
              <a:off x="0" y="1517059"/>
              <a:ext cx="13151154" cy="2640542"/>
            </a:xfrm>
            <a:prstGeom prst="rect">
              <a:avLst/>
            </a:prstGeom>
          </p:spPr>
          <p:txBody>
            <a:bodyPr lIns="0" tIns="0" rIns="0" bIns="0" rtlCol="0" anchor="t">
              <a:spAutoFit/>
            </a:bodyPr>
            <a:lstStyle/>
            <a:p>
              <a:pPr marL="626107" lvl="1" indent="-313054" algn="l">
                <a:lnSpc>
                  <a:spcPts val="4059"/>
                </a:lnSpc>
                <a:buAutoNum type="arabicPeriod"/>
              </a:pPr>
              <a:r>
                <a:rPr lang="en-US" sz="2899">
                  <a:solidFill>
                    <a:srgbClr val="EFEFEF"/>
                  </a:solidFill>
                  <a:latin typeface="Public Sans"/>
                  <a:ea typeface="Public Sans"/>
                  <a:cs typeface="Public Sans"/>
                  <a:sym typeface="Public Sans"/>
                </a:rPr>
                <a:t>Register new members.</a:t>
              </a:r>
            </a:p>
            <a:p>
              <a:pPr marL="626107" lvl="1" indent="-313054" algn="l">
                <a:lnSpc>
                  <a:spcPts val="4059"/>
                </a:lnSpc>
                <a:buAutoNum type="arabicPeriod"/>
              </a:pPr>
              <a:r>
                <a:rPr lang="en-US" sz="2899">
                  <a:solidFill>
                    <a:srgbClr val="EFEFEF"/>
                  </a:solidFill>
                  <a:latin typeface="Public Sans"/>
                  <a:ea typeface="Public Sans"/>
                  <a:cs typeface="Public Sans"/>
                  <a:sym typeface="Public Sans"/>
                </a:rPr>
                <a:t>Uses controlled forms with state (useState).</a:t>
              </a:r>
            </a:p>
            <a:p>
              <a:pPr marL="626107" lvl="1" indent="-313054" algn="l">
                <a:lnSpc>
                  <a:spcPts val="4059"/>
                </a:lnSpc>
                <a:buAutoNum type="arabicPeriod"/>
              </a:pPr>
              <a:r>
                <a:rPr lang="en-US" sz="2899">
                  <a:solidFill>
                    <a:srgbClr val="EFEFEF"/>
                  </a:solidFill>
                  <a:latin typeface="Public Sans"/>
                  <a:ea typeface="Public Sans"/>
                  <a:cs typeface="Public Sans"/>
                  <a:sym typeface="Public Sans"/>
                </a:rPr>
                <a:t>Axios POST request updates backend &amp; UI.</a:t>
              </a:r>
            </a:p>
            <a:p>
              <a:pPr algn="l">
                <a:lnSpc>
                  <a:spcPts val="3639"/>
                </a:lnSpc>
              </a:pPr>
              <a:endParaRPr lang="en-US" sz="2899">
                <a:solidFill>
                  <a:srgbClr val="EFEFEF"/>
                </a:solidFill>
                <a:latin typeface="Public Sans"/>
                <a:ea typeface="Public Sans"/>
                <a:cs typeface="Public Sans"/>
                <a:sym typeface="Public Sans"/>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11230"/>
        </a:solidFill>
        <a:effectLst/>
      </p:bgPr>
    </p:bg>
    <p:spTree>
      <p:nvGrpSpPr>
        <p:cNvPr id="1" name=""/>
        <p:cNvGrpSpPr/>
        <p:nvPr/>
      </p:nvGrpSpPr>
      <p:grpSpPr>
        <a:xfrm>
          <a:off x="0" y="0"/>
          <a:ext cx="0" cy="0"/>
          <a:chOff x="0" y="0"/>
          <a:chExt cx="0" cy="0"/>
        </a:xfrm>
      </p:grpSpPr>
      <p:sp>
        <p:nvSpPr>
          <p:cNvPr id="2" name="AutoShape 2"/>
          <p:cNvSpPr/>
          <p:nvPr/>
        </p:nvSpPr>
        <p:spPr>
          <a:xfrm>
            <a:off x="615929" y="2943754"/>
            <a:ext cx="17672071" cy="7343246"/>
          </a:xfrm>
          <a:prstGeom prst="rect">
            <a:avLst/>
          </a:prstGeom>
          <a:solidFill>
            <a:srgbClr val="252634"/>
          </a:solidFill>
        </p:spPr>
      </p:sp>
      <p:sp>
        <p:nvSpPr>
          <p:cNvPr id="3" name="Freeform 3"/>
          <p:cNvSpPr/>
          <p:nvPr/>
        </p:nvSpPr>
        <p:spPr>
          <a:xfrm>
            <a:off x="7529807" y="3154569"/>
            <a:ext cx="2834779" cy="2900352"/>
          </a:xfrm>
          <a:custGeom>
            <a:avLst/>
            <a:gdLst/>
            <a:ahLst/>
            <a:cxnLst/>
            <a:rect l="l" t="t" r="r" b="b"/>
            <a:pathLst>
              <a:path w="2834779" h="2900352">
                <a:moveTo>
                  <a:pt x="0" y="0"/>
                </a:moveTo>
                <a:lnTo>
                  <a:pt x="2834779" y="0"/>
                </a:lnTo>
                <a:lnTo>
                  <a:pt x="2834779" y="2900352"/>
                </a:lnTo>
                <a:lnTo>
                  <a:pt x="0" y="2900352"/>
                </a:lnTo>
                <a:lnTo>
                  <a:pt x="0" y="0"/>
                </a:lnTo>
                <a:close/>
              </a:path>
            </a:pathLst>
          </a:custGeom>
          <a:blipFill>
            <a:blip r:embed="rId2"/>
            <a:stretch>
              <a:fillRect t="-20870" r="-12189" b="-34115"/>
            </a:stretch>
          </a:blipFill>
        </p:spPr>
      </p:sp>
      <p:sp>
        <p:nvSpPr>
          <p:cNvPr id="4" name="Freeform 4"/>
          <p:cNvSpPr/>
          <p:nvPr/>
        </p:nvSpPr>
        <p:spPr>
          <a:xfrm>
            <a:off x="13355153" y="3109194"/>
            <a:ext cx="3215613" cy="2991103"/>
          </a:xfrm>
          <a:custGeom>
            <a:avLst/>
            <a:gdLst/>
            <a:ahLst/>
            <a:cxnLst/>
            <a:rect l="l" t="t" r="r" b="b"/>
            <a:pathLst>
              <a:path w="3215613" h="2991103">
                <a:moveTo>
                  <a:pt x="0" y="0"/>
                </a:moveTo>
                <a:lnTo>
                  <a:pt x="3215613" y="0"/>
                </a:lnTo>
                <a:lnTo>
                  <a:pt x="3215613" y="2991103"/>
                </a:lnTo>
                <a:lnTo>
                  <a:pt x="0" y="2991103"/>
                </a:lnTo>
                <a:lnTo>
                  <a:pt x="0" y="0"/>
                </a:lnTo>
                <a:close/>
              </a:path>
            </a:pathLst>
          </a:custGeom>
          <a:blipFill>
            <a:blip r:embed="rId3"/>
            <a:stretch>
              <a:fillRect t="-5220" r="-2730" b="-5220"/>
            </a:stretch>
          </a:blipFill>
        </p:spPr>
      </p:sp>
      <p:sp>
        <p:nvSpPr>
          <p:cNvPr id="5" name="Freeform 5"/>
          <p:cNvSpPr/>
          <p:nvPr/>
        </p:nvSpPr>
        <p:spPr>
          <a:xfrm>
            <a:off x="1451774" y="3257753"/>
            <a:ext cx="2784735" cy="2784735"/>
          </a:xfrm>
          <a:custGeom>
            <a:avLst/>
            <a:gdLst/>
            <a:ahLst/>
            <a:cxnLst/>
            <a:rect l="l" t="t" r="r" b="b"/>
            <a:pathLst>
              <a:path w="2784735" h="2784735">
                <a:moveTo>
                  <a:pt x="0" y="0"/>
                </a:moveTo>
                <a:lnTo>
                  <a:pt x="2784735" y="0"/>
                </a:lnTo>
                <a:lnTo>
                  <a:pt x="2784735" y="2784735"/>
                </a:lnTo>
                <a:lnTo>
                  <a:pt x="0" y="2784735"/>
                </a:lnTo>
                <a:lnTo>
                  <a:pt x="0" y="0"/>
                </a:lnTo>
                <a:close/>
              </a:path>
            </a:pathLst>
          </a:custGeom>
          <a:blipFill>
            <a:blip r:embed="rId4"/>
            <a:stretch>
              <a:fillRect/>
            </a:stretch>
          </a:blipFill>
        </p:spPr>
      </p:sp>
      <p:sp>
        <p:nvSpPr>
          <p:cNvPr id="6" name="TextBox 6"/>
          <p:cNvSpPr txBox="1"/>
          <p:nvPr/>
        </p:nvSpPr>
        <p:spPr>
          <a:xfrm>
            <a:off x="1851015" y="1009650"/>
            <a:ext cx="15201900" cy="1095375"/>
          </a:xfrm>
          <a:prstGeom prst="rect">
            <a:avLst/>
          </a:prstGeom>
        </p:spPr>
        <p:txBody>
          <a:bodyPr lIns="0" tIns="0" rIns="0" bIns="0" rtlCol="0" anchor="t">
            <a:spAutoFit/>
          </a:bodyPr>
          <a:lstStyle/>
          <a:p>
            <a:pPr algn="ctr">
              <a:lnSpc>
                <a:spcPts val="8520"/>
              </a:lnSpc>
            </a:pPr>
            <a:r>
              <a:rPr lang="en-US" sz="7100" b="1">
                <a:solidFill>
                  <a:srgbClr val="EFEFEF"/>
                </a:solidFill>
                <a:latin typeface="Public Sans Bold"/>
                <a:ea typeface="Public Sans Bold"/>
                <a:cs typeface="Public Sans Bold"/>
                <a:sym typeface="Public Sans Bold"/>
              </a:rPr>
              <a:t>React Components </a:t>
            </a:r>
          </a:p>
        </p:txBody>
      </p:sp>
      <p:sp>
        <p:nvSpPr>
          <p:cNvPr id="7" name="TextBox 7"/>
          <p:cNvSpPr txBox="1"/>
          <p:nvPr/>
        </p:nvSpPr>
        <p:spPr>
          <a:xfrm>
            <a:off x="11932823" y="6220317"/>
            <a:ext cx="6355177" cy="2990629"/>
          </a:xfrm>
          <a:prstGeom prst="rect">
            <a:avLst/>
          </a:prstGeom>
        </p:spPr>
        <p:txBody>
          <a:bodyPr lIns="0" tIns="0" rIns="0" bIns="0" rtlCol="0" anchor="t">
            <a:spAutoFit/>
          </a:bodyPr>
          <a:lstStyle/>
          <a:p>
            <a:pPr algn="ctr">
              <a:lnSpc>
                <a:spcPts val="5056"/>
              </a:lnSpc>
            </a:pPr>
            <a:r>
              <a:rPr lang="en-US" sz="2541" b="1">
                <a:solidFill>
                  <a:srgbClr val="EFEFEF"/>
                </a:solidFill>
                <a:latin typeface="Public Sans Bold"/>
                <a:ea typeface="Public Sans Bold"/>
                <a:cs typeface="Public Sans Bold"/>
                <a:sym typeface="Public Sans Bold"/>
              </a:rPr>
              <a:t>BorrowReturn.js:</a:t>
            </a:r>
          </a:p>
          <a:p>
            <a:pPr algn="just">
              <a:lnSpc>
                <a:spcPts val="4776"/>
              </a:lnSpc>
            </a:pPr>
            <a:r>
              <a:rPr lang="en-US" sz="2400" b="1">
                <a:solidFill>
                  <a:srgbClr val="EFEFEF"/>
                </a:solidFill>
                <a:latin typeface="Public Sans Bold"/>
                <a:ea typeface="Public Sans Bold"/>
                <a:cs typeface="Public Sans Bold"/>
                <a:sym typeface="Public Sans Bold"/>
              </a:rPr>
              <a:t>a.</a:t>
            </a:r>
            <a:r>
              <a:rPr lang="en-US" sz="2400">
                <a:solidFill>
                  <a:srgbClr val="EFEFEF"/>
                </a:solidFill>
                <a:latin typeface="Public Sans"/>
                <a:ea typeface="Public Sans"/>
                <a:cs typeface="Public Sans"/>
                <a:sym typeface="Public Sans"/>
              </a:rPr>
              <a:t> Dropdowns to select member + book.</a:t>
            </a:r>
          </a:p>
          <a:p>
            <a:pPr algn="just">
              <a:lnSpc>
                <a:spcPts val="4776"/>
              </a:lnSpc>
            </a:pPr>
            <a:r>
              <a:rPr lang="en-US" sz="2400">
                <a:solidFill>
                  <a:srgbClr val="EFEFEF"/>
                </a:solidFill>
                <a:latin typeface="Public Sans"/>
                <a:ea typeface="Public Sans"/>
                <a:cs typeface="Public Sans"/>
                <a:sym typeface="Public Sans"/>
              </a:rPr>
              <a:t>b. Borrow and Return buttons.</a:t>
            </a:r>
          </a:p>
          <a:p>
            <a:pPr algn="just">
              <a:lnSpc>
                <a:spcPts val="4776"/>
              </a:lnSpc>
            </a:pPr>
            <a:r>
              <a:rPr lang="en-US" sz="2400">
                <a:solidFill>
                  <a:srgbClr val="EFEFEF"/>
                </a:solidFill>
                <a:latin typeface="Public Sans"/>
                <a:ea typeface="Public Sans"/>
                <a:cs typeface="Public Sans"/>
                <a:sym typeface="Public Sans"/>
              </a:rPr>
              <a:t>c. Success/error messages displayed.</a:t>
            </a:r>
          </a:p>
          <a:p>
            <a:pPr algn="just">
              <a:lnSpc>
                <a:spcPts val="4776"/>
              </a:lnSpc>
            </a:pPr>
            <a:r>
              <a:rPr lang="en-US" sz="2400">
                <a:solidFill>
                  <a:srgbClr val="EFEFEF"/>
                </a:solidFill>
                <a:latin typeface="Public Sans"/>
                <a:ea typeface="Public Sans"/>
                <a:cs typeface="Public Sans"/>
                <a:sym typeface="Public Sans"/>
              </a:rPr>
              <a:t>d. Ensures smooth workflow for users.</a:t>
            </a:r>
          </a:p>
        </p:txBody>
      </p:sp>
      <p:sp>
        <p:nvSpPr>
          <p:cNvPr id="8" name="TextBox 8"/>
          <p:cNvSpPr txBox="1"/>
          <p:nvPr/>
        </p:nvSpPr>
        <p:spPr>
          <a:xfrm>
            <a:off x="6094060" y="6220317"/>
            <a:ext cx="5706273" cy="3135950"/>
          </a:xfrm>
          <a:prstGeom prst="rect">
            <a:avLst/>
          </a:prstGeom>
        </p:spPr>
        <p:txBody>
          <a:bodyPr lIns="0" tIns="0" rIns="0" bIns="0" rtlCol="0" anchor="t">
            <a:spAutoFit/>
          </a:bodyPr>
          <a:lstStyle/>
          <a:p>
            <a:pPr algn="ctr">
              <a:lnSpc>
                <a:spcPts val="5056"/>
              </a:lnSpc>
            </a:pPr>
            <a:r>
              <a:rPr lang="en-US" sz="2541" b="1">
                <a:solidFill>
                  <a:srgbClr val="EFEFEF"/>
                </a:solidFill>
                <a:latin typeface="Public Sans Bold"/>
                <a:ea typeface="Public Sans Bold"/>
                <a:cs typeface="Public Sans Bold"/>
                <a:sym typeface="Public Sans Bold"/>
              </a:rPr>
              <a:t>MemberList.js:</a:t>
            </a:r>
          </a:p>
          <a:p>
            <a:pPr algn="l">
              <a:lnSpc>
                <a:spcPts val="5056"/>
              </a:lnSpc>
            </a:pPr>
            <a:r>
              <a:rPr lang="en-US" sz="2541" b="1">
                <a:solidFill>
                  <a:srgbClr val="EFEFEF"/>
                </a:solidFill>
                <a:latin typeface="Public Sans Bold"/>
                <a:ea typeface="Public Sans Bold"/>
                <a:cs typeface="Public Sans Bold"/>
                <a:sym typeface="Public Sans Bold"/>
              </a:rPr>
              <a:t>a.</a:t>
            </a:r>
            <a:r>
              <a:rPr lang="en-US" sz="2541">
                <a:solidFill>
                  <a:srgbClr val="EFEFEF"/>
                </a:solidFill>
                <a:latin typeface="Public Sans"/>
                <a:ea typeface="Public Sans"/>
                <a:cs typeface="Public Sans"/>
                <a:sym typeface="Public Sans"/>
              </a:rPr>
              <a:t> Displays members and their borrowed books.</a:t>
            </a:r>
          </a:p>
          <a:p>
            <a:pPr algn="l">
              <a:lnSpc>
                <a:spcPts val="5056"/>
              </a:lnSpc>
            </a:pPr>
            <a:r>
              <a:rPr lang="en-US" sz="2541">
                <a:solidFill>
                  <a:srgbClr val="EFEFEF"/>
                </a:solidFill>
                <a:latin typeface="Public Sans"/>
                <a:ea typeface="Public Sans"/>
                <a:cs typeface="Public Sans"/>
                <a:sym typeface="Public Sans"/>
              </a:rPr>
              <a:t>b. Allows deletion of members.</a:t>
            </a:r>
          </a:p>
          <a:p>
            <a:pPr algn="ctr">
              <a:lnSpc>
                <a:spcPts val="5056"/>
              </a:lnSpc>
            </a:pPr>
            <a:endParaRPr lang="en-US" sz="2541">
              <a:solidFill>
                <a:srgbClr val="EFEFEF"/>
              </a:solidFill>
              <a:latin typeface="Public Sans"/>
              <a:ea typeface="Public Sans"/>
              <a:cs typeface="Public Sans"/>
              <a:sym typeface="Public Sans"/>
            </a:endParaRPr>
          </a:p>
        </p:txBody>
      </p:sp>
      <p:sp>
        <p:nvSpPr>
          <p:cNvPr id="9" name="TextBox 9"/>
          <p:cNvSpPr txBox="1"/>
          <p:nvPr/>
        </p:nvSpPr>
        <p:spPr>
          <a:xfrm>
            <a:off x="615929" y="6220317"/>
            <a:ext cx="4961716" cy="2989074"/>
          </a:xfrm>
          <a:prstGeom prst="rect">
            <a:avLst/>
          </a:prstGeom>
        </p:spPr>
        <p:txBody>
          <a:bodyPr lIns="0" tIns="0" rIns="0" bIns="0" rtlCol="0" anchor="t">
            <a:spAutoFit/>
          </a:bodyPr>
          <a:lstStyle/>
          <a:p>
            <a:pPr algn="l">
              <a:lnSpc>
                <a:spcPts val="5056"/>
              </a:lnSpc>
            </a:pPr>
            <a:r>
              <a:rPr lang="en-US" sz="2541" b="1">
                <a:solidFill>
                  <a:srgbClr val="EFEFEF"/>
                </a:solidFill>
                <a:latin typeface="Public Sans Bold"/>
                <a:ea typeface="Public Sans Bold"/>
                <a:cs typeface="Public Sans Bold"/>
                <a:sym typeface="Public Sans Bold"/>
              </a:rPr>
              <a:t>                 BookList.js:</a:t>
            </a:r>
          </a:p>
          <a:p>
            <a:pPr algn="l">
              <a:lnSpc>
                <a:spcPts val="4857"/>
              </a:lnSpc>
            </a:pPr>
            <a:r>
              <a:rPr lang="en-US" sz="2441">
                <a:solidFill>
                  <a:srgbClr val="EFEFEF"/>
                </a:solidFill>
                <a:latin typeface="Public Sans"/>
                <a:ea typeface="Public Sans"/>
                <a:cs typeface="Public Sans"/>
                <a:sym typeface="Public Sans"/>
              </a:rPr>
              <a:t>a. Displays all books with availability status.</a:t>
            </a:r>
          </a:p>
          <a:p>
            <a:pPr algn="l">
              <a:lnSpc>
                <a:spcPts val="4857"/>
              </a:lnSpc>
            </a:pPr>
            <a:r>
              <a:rPr lang="en-US" sz="2441">
                <a:solidFill>
                  <a:srgbClr val="EFEFEF"/>
                </a:solidFill>
                <a:latin typeface="Public Sans"/>
                <a:ea typeface="Public Sans"/>
                <a:cs typeface="Public Sans"/>
                <a:sym typeface="Public Sans"/>
              </a:rPr>
              <a:t>b. Allows deletion of books.</a:t>
            </a:r>
          </a:p>
          <a:p>
            <a:pPr algn="l">
              <a:lnSpc>
                <a:spcPts val="4459"/>
              </a:lnSpc>
            </a:pPr>
            <a:endParaRPr lang="en-US" sz="2441">
              <a:solidFill>
                <a:srgbClr val="EFEFEF"/>
              </a:solidFill>
              <a:latin typeface="Public Sans"/>
              <a:ea typeface="Public Sans"/>
              <a:cs typeface="Public Sans"/>
              <a:sym typeface="Public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11230"/>
        </a:solidFill>
        <a:effectLst/>
      </p:bgPr>
    </p:bg>
    <p:spTree>
      <p:nvGrpSpPr>
        <p:cNvPr id="1" name=""/>
        <p:cNvGrpSpPr/>
        <p:nvPr/>
      </p:nvGrpSpPr>
      <p:grpSpPr>
        <a:xfrm>
          <a:off x="0" y="0"/>
          <a:ext cx="0" cy="0"/>
          <a:chOff x="0" y="0"/>
          <a:chExt cx="0" cy="0"/>
        </a:xfrm>
      </p:grpSpPr>
      <p:sp>
        <p:nvSpPr>
          <p:cNvPr id="2" name="Freeform 2"/>
          <p:cNvSpPr/>
          <p:nvPr/>
        </p:nvSpPr>
        <p:spPr>
          <a:xfrm>
            <a:off x="76712" y="9197537"/>
            <a:ext cx="18134577" cy="1490257"/>
          </a:xfrm>
          <a:custGeom>
            <a:avLst/>
            <a:gdLst/>
            <a:ahLst/>
            <a:cxnLst/>
            <a:rect l="l" t="t" r="r" b="b"/>
            <a:pathLst>
              <a:path w="18134577" h="1490257">
                <a:moveTo>
                  <a:pt x="0" y="0"/>
                </a:moveTo>
                <a:lnTo>
                  <a:pt x="18134576" y="0"/>
                </a:lnTo>
                <a:lnTo>
                  <a:pt x="18134576" y="1490257"/>
                </a:lnTo>
                <a:lnTo>
                  <a:pt x="0" y="1490257"/>
                </a:lnTo>
                <a:lnTo>
                  <a:pt x="0" y="0"/>
                </a:lnTo>
                <a:close/>
              </a:path>
            </a:pathLst>
          </a:custGeom>
          <a:blipFill>
            <a:blip r:embed="rId2"/>
            <a:stretch>
              <a:fillRect t="-258839" b="-249598"/>
            </a:stretch>
          </a:blipFill>
        </p:spPr>
      </p:sp>
      <p:sp>
        <p:nvSpPr>
          <p:cNvPr id="3" name="TextBox 3"/>
          <p:cNvSpPr txBox="1"/>
          <p:nvPr/>
        </p:nvSpPr>
        <p:spPr>
          <a:xfrm>
            <a:off x="1028700" y="2708093"/>
            <a:ext cx="8868734" cy="1550798"/>
          </a:xfrm>
          <a:prstGeom prst="rect">
            <a:avLst/>
          </a:prstGeom>
        </p:spPr>
        <p:txBody>
          <a:bodyPr lIns="0" tIns="0" rIns="0" bIns="0" rtlCol="0" anchor="t">
            <a:spAutoFit/>
          </a:bodyPr>
          <a:lstStyle/>
          <a:p>
            <a:pPr algn="l">
              <a:lnSpc>
                <a:spcPts val="12697"/>
              </a:lnSpc>
            </a:pPr>
            <a:r>
              <a:rPr lang="en-US" sz="9069" b="1">
                <a:solidFill>
                  <a:srgbClr val="FFFFFF"/>
                </a:solidFill>
                <a:latin typeface="Public Sans Bold"/>
                <a:ea typeface="Public Sans Bold"/>
                <a:cs typeface="Public Sans Bold"/>
                <a:sym typeface="Public Sans Bold"/>
              </a:rPr>
              <a:t>Add</a:t>
            </a:r>
          </a:p>
        </p:txBody>
      </p:sp>
      <p:sp>
        <p:nvSpPr>
          <p:cNvPr id="4" name="TextBox 4"/>
          <p:cNvSpPr txBox="1"/>
          <p:nvPr/>
        </p:nvSpPr>
        <p:spPr>
          <a:xfrm>
            <a:off x="787395" y="4402226"/>
            <a:ext cx="7823796" cy="3583051"/>
          </a:xfrm>
          <a:prstGeom prst="rect">
            <a:avLst/>
          </a:prstGeom>
        </p:spPr>
        <p:txBody>
          <a:bodyPr lIns="0" tIns="0" rIns="0" bIns="0" rtlCol="0" anchor="t">
            <a:spAutoFit/>
          </a:bodyPr>
          <a:lstStyle/>
          <a:p>
            <a:pPr marL="561341" lvl="1" indent="-280670" algn="l">
              <a:lnSpc>
                <a:spcPts val="4082"/>
              </a:lnSpc>
              <a:buAutoNum type="arabicPeriod"/>
            </a:pPr>
            <a:r>
              <a:rPr lang="en-US" sz="2600">
                <a:solidFill>
                  <a:srgbClr val="FFFFFF"/>
                </a:solidFill>
                <a:latin typeface="Public Sans"/>
                <a:ea typeface="Public Sans"/>
                <a:cs typeface="Public Sans"/>
                <a:sym typeface="Public Sans"/>
              </a:rPr>
              <a:t> User fills Add Book form in React.</a:t>
            </a:r>
          </a:p>
          <a:p>
            <a:pPr marL="561341" lvl="1" indent="-280670" algn="l">
              <a:lnSpc>
                <a:spcPts val="4082"/>
              </a:lnSpc>
              <a:buAutoNum type="arabicPeriod"/>
            </a:pPr>
            <a:r>
              <a:rPr lang="en-US" sz="2600">
                <a:solidFill>
                  <a:srgbClr val="FFFFFF"/>
                </a:solidFill>
                <a:latin typeface="Public Sans"/>
                <a:ea typeface="Public Sans"/>
                <a:cs typeface="Public Sans"/>
                <a:sym typeface="Public Sans"/>
              </a:rPr>
              <a:t>Axios sends POST /api/books/.</a:t>
            </a:r>
          </a:p>
          <a:p>
            <a:pPr marL="561341" lvl="1" indent="-280670" algn="l">
              <a:lnSpc>
                <a:spcPts val="4082"/>
              </a:lnSpc>
              <a:buAutoNum type="arabicPeriod"/>
            </a:pPr>
            <a:r>
              <a:rPr lang="en-US" sz="2600">
                <a:solidFill>
                  <a:srgbClr val="FFFFFF"/>
                </a:solidFill>
                <a:latin typeface="Public Sans"/>
                <a:ea typeface="Public Sans"/>
                <a:cs typeface="Public Sans"/>
                <a:sym typeface="Public Sans"/>
              </a:rPr>
              <a:t>Django validates via serializer &amp; saves in SQLite.</a:t>
            </a:r>
          </a:p>
          <a:p>
            <a:pPr marL="561341" lvl="1" indent="-280670" algn="l">
              <a:lnSpc>
                <a:spcPts val="4082"/>
              </a:lnSpc>
              <a:buAutoNum type="arabicPeriod"/>
            </a:pPr>
            <a:r>
              <a:rPr lang="en-US" sz="2600">
                <a:solidFill>
                  <a:srgbClr val="FFFFFF"/>
                </a:solidFill>
                <a:latin typeface="Public Sans"/>
                <a:ea typeface="Public Sans"/>
                <a:cs typeface="Public Sans"/>
                <a:sym typeface="Public Sans"/>
              </a:rPr>
              <a:t>JSON response returned.</a:t>
            </a:r>
          </a:p>
          <a:p>
            <a:pPr marL="561341" lvl="1" indent="-280670" algn="l">
              <a:lnSpc>
                <a:spcPts val="4082"/>
              </a:lnSpc>
              <a:buAutoNum type="arabicPeriod"/>
            </a:pPr>
            <a:r>
              <a:rPr lang="en-US" sz="2600">
                <a:solidFill>
                  <a:srgbClr val="FFFFFF"/>
                </a:solidFill>
                <a:latin typeface="Public Sans"/>
                <a:ea typeface="Public Sans"/>
                <a:cs typeface="Public Sans"/>
                <a:sym typeface="Public Sans"/>
              </a:rPr>
              <a:t>React updates UI with “Book added”.</a:t>
            </a:r>
          </a:p>
          <a:p>
            <a:pPr algn="l">
              <a:lnSpc>
                <a:spcPts val="4082"/>
              </a:lnSpc>
            </a:pPr>
            <a:endParaRPr lang="en-US" sz="2600">
              <a:solidFill>
                <a:srgbClr val="FFFFFF"/>
              </a:solidFill>
              <a:latin typeface="Public Sans"/>
              <a:ea typeface="Public Sans"/>
              <a:cs typeface="Public Sans"/>
              <a:sym typeface="Public Sans"/>
            </a:endParaRPr>
          </a:p>
        </p:txBody>
      </p:sp>
      <p:sp>
        <p:nvSpPr>
          <p:cNvPr id="5" name="TextBox 5"/>
          <p:cNvSpPr txBox="1"/>
          <p:nvPr/>
        </p:nvSpPr>
        <p:spPr>
          <a:xfrm>
            <a:off x="1028700" y="566623"/>
            <a:ext cx="16103506" cy="1465961"/>
          </a:xfrm>
          <a:prstGeom prst="rect">
            <a:avLst/>
          </a:prstGeom>
        </p:spPr>
        <p:txBody>
          <a:bodyPr lIns="0" tIns="0" rIns="0" bIns="0" rtlCol="0" anchor="t">
            <a:spAutoFit/>
          </a:bodyPr>
          <a:lstStyle/>
          <a:p>
            <a:pPr algn="l">
              <a:lnSpc>
                <a:spcPts val="11790"/>
              </a:lnSpc>
            </a:pPr>
            <a:r>
              <a:rPr lang="en-US" sz="9069" b="1">
                <a:solidFill>
                  <a:srgbClr val="FFFFFF"/>
                </a:solidFill>
                <a:latin typeface="Public Sans Bold"/>
                <a:ea typeface="Public Sans Bold"/>
                <a:cs typeface="Public Sans Bold"/>
                <a:sym typeface="Public Sans Bold"/>
              </a:rPr>
              <a:t>Add/Remove Workflow</a:t>
            </a:r>
          </a:p>
        </p:txBody>
      </p:sp>
      <p:sp>
        <p:nvSpPr>
          <p:cNvPr id="6" name="TextBox 6"/>
          <p:cNvSpPr txBox="1"/>
          <p:nvPr/>
        </p:nvSpPr>
        <p:spPr>
          <a:xfrm>
            <a:off x="9439384" y="4125540"/>
            <a:ext cx="8210766" cy="4394454"/>
          </a:xfrm>
          <a:prstGeom prst="rect">
            <a:avLst/>
          </a:prstGeom>
        </p:spPr>
        <p:txBody>
          <a:bodyPr lIns="0" tIns="0" rIns="0" bIns="0" rtlCol="0" anchor="t">
            <a:spAutoFit/>
          </a:bodyPr>
          <a:lstStyle/>
          <a:p>
            <a:pPr marL="561339" lvl="1" indent="-280669" algn="l">
              <a:lnSpc>
                <a:spcPts val="4367"/>
              </a:lnSpc>
              <a:buAutoNum type="arabicPeriod"/>
            </a:pPr>
            <a:r>
              <a:rPr lang="en-US" sz="2599">
                <a:solidFill>
                  <a:srgbClr val="FFFFFF"/>
                </a:solidFill>
                <a:latin typeface="Public Sans"/>
                <a:ea typeface="Public Sans"/>
                <a:cs typeface="Public Sans"/>
                <a:sym typeface="Public Sans"/>
              </a:rPr>
              <a:t>User clicks Delete button for a book in React (BookList component).</a:t>
            </a:r>
          </a:p>
          <a:p>
            <a:pPr marL="561339" lvl="1" indent="-280669" algn="l">
              <a:lnSpc>
                <a:spcPts val="4367"/>
              </a:lnSpc>
              <a:buAutoNum type="arabicPeriod"/>
            </a:pPr>
            <a:r>
              <a:rPr lang="en-US" sz="2599">
                <a:solidFill>
                  <a:srgbClr val="FFFFFF"/>
                </a:solidFill>
                <a:latin typeface="Public Sans"/>
                <a:ea typeface="Public Sans"/>
                <a:cs typeface="Public Sans"/>
                <a:sym typeface="Public Sans"/>
              </a:rPr>
              <a:t>Axios sends DELETE /api/books/{id}/ request.</a:t>
            </a:r>
          </a:p>
          <a:p>
            <a:pPr marL="561339" lvl="1" indent="-280669" algn="l">
              <a:lnSpc>
                <a:spcPts val="4367"/>
              </a:lnSpc>
              <a:buAutoNum type="arabicPeriod"/>
            </a:pPr>
            <a:r>
              <a:rPr lang="en-US" sz="2599">
                <a:solidFill>
                  <a:srgbClr val="FFFFFF"/>
                </a:solidFill>
                <a:latin typeface="Public Sans"/>
                <a:ea typeface="Public Sans"/>
                <a:cs typeface="Public Sans"/>
                <a:sym typeface="Public Sans"/>
              </a:rPr>
              <a:t>Django REST Framework processes the request and deletes the book record from SQLite.</a:t>
            </a:r>
          </a:p>
          <a:p>
            <a:pPr marL="561339" lvl="1" indent="-280669" algn="l">
              <a:lnSpc>
                <a:spcPts val="4367"/>
              </a:lnSpc>
              <a:buAutoNum type="arabicPeriod"/>
            </a:pPr>
            <a:r>
              <a:rPr lang="en-US" sz="2599">
                <a:solidFill>
                  <a:srgbClr val="FFFFFF"/>
                </a:solidFill>
                <a:latin typeface="Public Sans"/>
                <a:ea typeface="Public Sans"/>
                <a:cs typeface="Public Sans"/>
                <a:sym typeface="Public Sans"/>
              </a:rPr>
              <a:t>JSON response returned.</a:t>
            </a:r>
          </a:p>
          <a:p>
            <a:pPr marL="561339" lvl="1" indent="-280669" algn="l">
              <a:lnSpc>
                <a:spcPts val="4367"/>
              </a:lnSpc>
              <a:buAutoNum type="arabicPeriod"/>
            </a:pPr>
            <a:r>
              <a:rPr lang="en-US" sz="2599">
                <a:solidFill>
                  <a:srgbClr val="FFFFFF"/>
                </a:solidFill>
                <a:latin typeface="Public Sans"/>
                <a:ea typeface="Public Sans"/>
                <a:cs typeface="Public Sans"/>
                <a:sym typeface="Public Sans"/>
              </a:rPr>
              <a:t>React updates UI with “Book added”.</a:t>
            </a:r>
          </a:p>
          <a:p>
            <a:pPr algn="l">
              <a:lnSpc>
                <a:spcPts val="4367"/>
              </a:lnSpc>
            </a:pPr>
            <a:endParaRPr lang="en-US" sz="2599">
              <a:solidFill>
                <a:srgbClr val="FFFFFF"/>
              </a:solidFill>
              <a:latin typeface="Public Sans"/>
              <a:ea typeface="Public Sans"/>
              <a:cs typeface="Public Sans"/>
              <a:sym typeface="Public Sans"/>
            </a:endParaRPr>
          </a:p>
        </p:txBody>
      </p:sp>
      <p:sp>
        <p:nvSpPr>
          <p:cNvPr id="7" name="TextBox 7"/>
          <p:cNvSpPr txBox="1"/>
          <p:nvPr/>
        </p:nvSpPr>
        <p:spPr>
          <a:xfrm>
            <a:off x="9656129" y="2537409"/>
            <a:ext cx="6515302" cy="1550899"/>
          </a:xfrm>
          <a:prstGeom prst="rect">
            <a:avLst/>
          </a:prstGeom>
        </p:spPr>
        <p:txBody>
          <a:bodyPr lIns="0" tIns="0" rIns="0" bIns="0" rtlCol="0" anchor="t">
            <a:spAutoFit/>
          </a:bodyPr>
          <a:lstStyle/>
          <a:p>
            <a:pPr algn="l">
              <a:lnSpc>
                <a:spcPts val="12692"/>
              </a:lnSpc>
            </a:pPr>
            <a:r>
              <a:rPr lang="en-US" sz="9066" b="1">
                <a:solidFill>
                  <a:srgbClr val="FFFFFF"/>
                </a:solidFill>
                <a:latin typeface="Public Sans Bold"/>
                <a:ea typeface="Public Sans Bold"/>
                <a:cs typeface="Public Sans Bold"/>
                <a:sym typeface="Public Sans Bold"/>
              </a:rPr>
              <a:t>Remove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11230"/>
        </a:solidFill>
        <a:effectLst/>
      </p:bgPr>
    </p:bg>
    <p:spTree>
      <p:nvGrpSpPr>
        <p:cNvPr id="1" name=""/>
        <p:cNvGrpSpPr/>
        <p:nvPr/>
      </p:nvGrpSpPr>
      <p:grpSpPr>
        <a:xfrm>
          <a:off x="0" y="0"/>
          <a:ext cx="0" cy="0"/>
          <a:chOff x="0" y="0"/>
          <a:chExt cx="0" cy="0"/>
        </a:xfrm>
      </p:grpSpPr>
      <p:sp>
        <p:nvSpPr>
          <p:cNvPr id="2" name="Freeform 2"/>
          <p:cNvSpPr/>
          <p:nvPr/>
        </p:nvSpPr>
        <p:spPr>
          <a:xfrm>
            <a:off x="76712" y="9197537"/>
            <a:ext cx="18134577" cy="1490257"/>
          </a:xfrm>
          <a:custGeom>
            <a:avLst/>
            <a:gdLst/>
            <a:ahLst/>
            <a:cxnLst/>
            <a:rect l="l" t="t" r="r" b="b"/>
            <a:pathLst>
              <a:path w="18134577" h="1490257">
                <a:moveTo>
                  <a:pt x="0" y="0"/>
                </a:moveTo>
                <a:lnTo>
                  <a:pt x="18134576" y="0"/>
                </a:lnTo>
                <a:lnTo>
                  <a:pt x="18134576" y="1490257"/>
                </a:lnTo>
                <a:lnTo>
                  <a:pt x="0" y="1490257"/>
                </a:lnTo>
                <a:lnTo>
                  <a:pt x="0" y="0"/>
                </a:lnTo>
                <a:close/>
              </a:path>
            </a:pathLst>
          </a:custGeom>
          <a:blipFill>
            <a:blip r:embed="rId2"/>
            <a:stretch>
              <a:fillRect t="-258839" b="-249598"/>
            </a:stretch>
          </a:blipFill>
        </p:spPr>
      </p:sp>
      <p:grpSp>
        <p:nvGrpSpPr>
          <p:cNvPr id="3" name="Group 3"/>
          <p:cNvGrpSpPr/>
          <p:nvPr/>
        </p:nvGrpSpPr>
        <p:grpSpPr>
          <a:xfrm>
            <a:off x="1028700" y="3844508"/>
            <a:ext cx="8868734" cy="3644103"/>
            <a:chOff x="0" y="0"/>
            <a:chExt cx="11824979" cy="4858804"/>
          </a:xfrm>
        </p:grpSpPr>
        <p:sp>
          <p:nvSpPr>
            <p:cNvPr id="4" name="TextBox 4"/>
            <p:cNvSpPr txBox="1"/>
            <p:nvPr/>
          </p:nvSpPr>
          <p:spPr>
            <a:xfrm>
              <a:off x="0" y="-161291"/>
              <a:ext cx="11824979" cy="2010580"/>
            </a:xfrm>
            <a:prstGeom prst="rect">
              <a:avLst/>
            </a:prstGeom>
          </p:spPr>
          <p:txBody>
            <a:bodyPr lIns="0" tIns="0" rIns="0" bIns="0" rtlCol="0" anchor="t">
              <a:spAutoFit/>
            </a:bodyPr>
            <a:lstStyle/>
            <a:p>
              <a:pPr algn="l">
                <a:lnSpc>
                  <a:spcPts val="12697"/>
                </a:lnSpc>
              </a:pPr>
              <a:r>
                <a:rPr lang="en-US" sz="9069" b="1">
                  <a:solidFill>
                    <a:srgbClr val="FFFFFF"/>
                  </a:solidFill>
                  <a:latin typeface="Public Sans Bold"/>
                  <a:ea typeface="Public Sans Bold"/>
                  <a:cs typeface="Public Sans Bold"/>
                  <a:sym typeface="Public Sans Bold"/>
                </a:rPr>
                <a:t>Borrow</a:t>
              </a:r>
            </a:p>
          </p:txBody>
        </p:sp>
        <p:sp>
          <p:nvSpPr>
            <p:cNvPr id="5" name="TextBox 5"/>
            <p:cNvSpPr txBox="1"/>
            <p:nvPr/>
          </p:nvSpPr>
          <p:spPr>
            <a:xfrm>
              <a:off x="0" y="2099729"/>
              <a:ext cx="10431728" cy="2759075"/>
            </a:xfrm>
            <a:prstGeom prst="rect">
              <a:avLst/>
            </a:prstGeom>
          </p:spPr>
          <p:txBody>
            <a:bodyPr lIns="0" tIns="0" rIns="0" bIns="0" rtlCol="0" anchor="t">
              <a:spAutoFit/>
            </a:bodyPr>
            <a:lstStyle/>
            <a:p>
              <a:pPr algn="l">
                <a:lnSpc>
                  <a:spcPts val="4199"/>
                </a:lnSpc>
              </a:pPr>
              <a:r>
                <a:rPr lang="en-US" sz="2999">
                  <a:solidFill>
                    <a:srgbClr val="FFFFFF"/>
                  </a:solidFill>
                  <a:latin typeface="Public Sans"/>
                  <a:ea typeface="Public Sans"/>
                  <a:cs typeface="Public Sans"/>
                  <a:sym typeface="Public Sans"/>
                </a:rPr>
                <a:t>a. Select member + book.</a:t>
              </a:r>
            </a:p>
            <a:p>
              <a:pPr algn="l">
                <a:lnSpc>
                  <a:spcPts val="4199"/>
                </a:lnSpc>
              </a:pPr>
              <a:r>
                <a:rPr lang="en-US" sz="2999">
                  <a:solidFill>
                    <a:srgbClr val="FFFFFF"/>
                  </a:solidFill>
                  <a:latin typeface="Public Sans"/>
                  <a:ea typeface="Public Sans"/>
                  <a:cs typeface="Public Sans"/>
                  <a:sym typeface="Public Sans"/>
                </a:rPr>
                <a:t>b. API validates &amp; marks book issued.</a:t>
              </a:r>
            </a:p>
            <a:p>
              <a:pPr algn="l">
                <a:lnSpc>
                  <a:spcPts val="4199"/>
                </a:lnSpc>
              </a:pPr>
              <a:r>
                <a:rPr lang="en-US" sz="2999">
                  <a:solidFill>
                    <a:srgbClr val="FFFFFF"/>
                  </a:solidFill>
                  <a:latin typeface="Public Sans"/>
                  <a:ea typeface="Public Sans"/>
                  <a:cs typeface="Public Sans"/>
                  <a:sym typeface="Public Sans"/>
                </a:rPr>
                <a:t>c. UI updates with new status.</a:t>
              </a:r>
            </a:p>
            <a:p>
              <a:pPr marL="0" lvl="0" indent="0" algn="l">
                <a:lnSpc>
                  <a:spcPts val="4199"/>
                </a:lnSpc>
              </a:pPr>
              <a:endParaRPr lang="en-US" sz="2999">
                <a:solidFill>
                  <a:srgbClr val="FFFFFF"/>
                </a:solidFill>
                <a:latin typeface="Public Sans"/>
                <a:ea typeface="Public Sans"/>
                <a:cs typeface="Public Sans"/>
                <a:sym typeface="Public Sans"/>
              </a:endParaRPr>
            </a:p>
          </p:txBody>
        </p:sp>
      </p:grpSp>
      <p:sp>
        <p:nvSpPr>
          <p:cNvPr id="6" name="TextBox 6"/>
          <p:cNvSpPr txBox="1"/>
          <p:nvPr/>
        </p:nvSpPr>
        <p:spPr>
          <a:xfrm>
            <a:off x="1028700" y="942975"/>
            <a:ext cx="16103506" cy="1465961"/>
          </a:xfrm>
          <a:prstGeom prst="rect">
            <a:avLst/>
          </a:prstGeom>
        </p:spPr>
        <p:txBody>
          <a:bodyPr lIns="0" tIns="0" rIns="0" bIns="0" rtlCol="0" anchor="t">
            <a:spAutoFit/>
          </a:bodyPr>
          <a:lstStyle/>
          <a:p>
            <a:pPr algn="l">
              <a:lnSpc>
                <a:spcPts val="11790"/>
              </a:lnSpc>
            </a:pPr>
            <a:r>
              <a:rPr lang="en-US" sz="9069" b="1">
                <a:solidFill>
                  <a:srgbClr val="FFFFFF"/>
                </a:solidFill>
                <a:latin typeface="Public Sans Bold"/>
                <a:ea typeface="Public Sans Bold"/>
                <a:cs typeface="Public Sans Bold"/>
                <a:sym typeface="Public Sans Bold"/>
              </a:rPr>
              <a:t>Borrow/Return Workflow</a:t>
            </a:r>
          </a:p>
        </p:txBody>
      </p:sp>
      <p:sp>
        <p:nvSpPr>
          <p:cNvPr id="7" name="TextBox 7"/>
          <p:cNvSpPr txBox="1"/>
          <p:nvPr/>
        </p:nvSpPr>
        <p:spPr>
          <a:xfrm>
            <a:off x="9897434" y="4828715"/>
            <a:ext cx="7161069" cy="3010535"/>
          </a:xfrm>
          <a:prstGeom prst="rect">
            <a:avLst/>
          </a:prstGeom>
        </p:spPr>
        <p:txBody>
          <a:bodyPr lIns="0" tIns="0" rIns="0" bIns="0" rtlCol="0" anchor="t">
            <a:spAutoFit/>
          </a:bodyPr>
          <a:lstStyle/>
          <a:p>
            <a:pPr algn="l">
              <a:lnSpc>
                <a:spcPts val="3639"/>
              </a:lnSpc>
            </a:pPr>
            <a:endParaRPr/>
          </a:p>
          <a:p>
            <a:pPr marL="1295394" lvl="2" indent="-431798" algn="l">
              <a:lnSpc>
                <a:spcPts val="4199"/>
              </a:lnSpc>
              <a:buAutoNum type="alphaLcPeriod"/>
            </a:pPr>
            <a:r>
              <a:rPr lang="en-US" sz="2999">
                <a:solidFill>
                  <a:srgbClr val="FFFFFF"/>
                </a:solidFill>
                <a:latin typeface="Public Sans"/>
                <a:ea typeface="Public Sans"/>
                <a:cs typeface="Public Sans"/>
                <a:sym typeface="Public Sans"/>
              </a:rPr>
              <a:t>Select member + book.</a:t>
            </a:r>
          </a:p>
          <a:p>
            <a:pPr marL="1295394" lvl="2" indent="-431798" algn="l">
              <a:lnSpc>
                <a:spcPts val="4199"/>
              </a:lnSpc>
              <a:buAutoNum type="alphaLcPeriod"/>
            </a:pPr>
            <a:r>
              <a:rPr lang="en-US" sz="2999">
                <a:solidFill>
                  <a:srgbClr val="FFFFFF"/>
                </a:solidFill>
                <a:latin typeface="Public Sans"/>
                <a:ea typeface="Public Sans"/>
                <a:cs typeface="Public Sans"/>
                <a:sym typeface="Public Sans"/>
              </a:rPr>
              <a:t>API removes book from member &amp; marks available.</a:t>
            </a:r>
          </a:p>
          <a:p>
            <a:pPr marL="1295394" lvl="2" indent="-431798" algn="l">
              <a:lnSpc>
                <a:spcPts val="4199"/>
              </a:lnSpc>
              <a:buAutoNum type="alphaLcPeriod"/>
            </a:pPr>
            <a:r>
              <a:rPr lang="en-US" sz="2999">
                <a:solidFill>
                  <a:srgbClr val="FFFFFF"/>
                </a:solidFill>
                <a:latin typeface="Public Sans"/>
                <a:ea typeface="Public Sans"/>
                <a:cs typeface="Public Sans"/>
                <a:sym typeface="Public Sans"/>
              </a:rPr>
              <a:t>UI updates instantly.</a:t>
            </a:r>
          </a:p>
          <a:p>
            <a:pPr algn="l">
              <a:lnSpc>
                <a:spcPts val="3639"/>
              </a:lnSpc>
            </a:pPr>
            <a:endParaRPr lang="en-US" sz="2999">
              <a:solidFill>
                <a:srgbClr val="FFFFFF"/>
              </a:solidFill>
              <a:latin typeface="Public Sans"/>
              <a:ea typeface="Public Sans"/>
              <a:cs typeface="Public Sans"/>
              <a:sym typeface="Public Sans"/>
            </a:endParaRPr>
          </a:p>
        </p:txBody>
      </p:sp>
      <p:sp>
        <p:nvSpPr>
          <p:cNvPr id="8" name="TextBox 8"/>
          <p:cNvSpPr txBox="1"/>
          <p:nvPr/>
        </p:nvSpPr>
        <p:spPr>
          <a:xfrm>
            <a:off x="10743998" y="3673058"/>
            <a:ext cx="6515302" cy="1550798"/>
          </a:xfrm>
          <a:prstGeom prst="rect">
            <a:avLst/>
          </a:prstGeom>
        </p:spPr>
        <p:txBody>
          <a:bodyPr lIns="0" tIns="0" rIns="0" bIns="0" rtlCol="0" anchor="t">
            <a:spAutoFit/>
          </a:bodyPr>
          <a:lstStyle/>
          <a:p>
            <a:pPr algn="l">
              <a:lnSpc>
                <a:spcPts val="12697"/>
              </a:lnSpc>
            </a:pPr>
            <a:r>
              <a:rPr lang="en-US" sz="9069" b="1">
                <a:solidFill>
                  <a:srgbClr val="FFFFFF"/>
                </a:solidFill>
                <a:latin typeface="Public Sans Bold"/>
                <a:ea typeface="Public Sans Bold"/>
                <a:cs typeface="Public Sans Bold"/>
                <a:sym typeface="Public Sans Bold"/>
              </a:rPr>
              <a:t>Return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11230"/>
        </a:solidFill>
        <a:effectLst/>
      </p:bgPr>
    </p:bg>
    <p:spTree>
      <p:nvGrpSpPr>
        <p:cNvPr id="1" name=""/>
        <p:cNvGrpSpPr/>
        <p:nvPr/>
      </p:nvGrpSpPr>
      <p:grpSpPr>
        <a:xfrm>
          <a:off x="0" y="0"/>
          <a:ext cx="0" cy="0"/>
          <a:chOff x="0" y="0"/>
          <a:chExt cx="0" cy="0"/>
        </a:xfrm>
      </p:grpSpPr>
      <p:sp>
        <p:nvSpPr>
          <p:cNvPr id="2" name="Freeform 2"/>
          <p:cNvSpPr/>
          <p:nvPr/>
        </p:nvSpPr>
        <p:spPr>
          <a:xfrm>
            <a:off x="0" y="0"/>
            <a:ext cx="8798938" cy="10287000"/>
          </a:xfrm>
          <a:custGeom>
            <a:avLst/>
            <a:gdLst/>
            <a:ahLst/>
            <a:cxnLst/>
            <a:rect l="l" t="t" r="r" b="b"/>
            <a:pathLst>
              <a:path w="8798938" h="10287000">
                <a:moveTo>
                  <a:pt x="0" y="0"/>
                </a:moveTo>
                <a:lnTo>
                  <a:pt x="8798938" y="0"/>
                </a:lnTo>
                <a:lnTo>
                  <a:pt x="8798938" y="10287000"/>
                </a:lnTo>
                <a:lnTo>
                  <a:pt x="0" y="10287000"/>
                </a:lnTo>
                <a:lnTo>
                  <a:pt x="0" y="0"/>
                </a:lnTo>
                <a:close/>
              </a:path>
            </a:pathLst>
          </a:custGeom>
          <a:blipFill>
            <a:blip r:embed="rId2"/>
            <a:stretch>
              <a:fillRect l="-7223" r="-9688"/>
            </a:stretch>
          </a:blipFill>
        </p:spPr>
      </p:sp>
      <p:sp>
        <p:nvSpPr>
          <p:cNvPr id="3" name="TextBox 3"/>
          <p:cNvSpPr txBox="1"/>
          <p:nvPr/>
        </p:nvSpPr>
        <p:spPr>
          <a:xfrm>
            <a:off x="9567021" y="2595164"/>
            <a:ext cx="7914159" cy="4883149"/>
          </a:xfrm>
          <a:prstGeom prst="rect">
            <a:avLst/>
          </a:prstGeom>
        </p:spPr>
        <p:txBody>
          <a:bodyPr lIns="0" tIns="0" rIns="0" bIns="0" rtlCol="0" anchor="t">
            <a:spAutoFit/>
          </a:bodyPr>
          <a:lstStyle/>
          <a:p>
            <a:pPr algn="ctr">
              <a:lnSpc>
                <a:spcPts val="19600"/>
              </a:lnSpc>
            </a:pPr>
            <a:r>
              <a:rPr lang="en-US" sz="14000" b="1">
                <a:solidFill>
                  <a:srgbClr val="FFFFFF"/>
                </a:solidFill>
                <a:latin typeface="Canva Sans Bold"/>
                <a:ea typeface="Canva Sans Bold"/>
                <a:cs typeface="Canva Sans Bold"/>
                <a:sym typeface="Canva Sans Bold"/>
              </a:rPr>
              <a:t>Python </a:t>
            </a:r>
          </a:p>
          <a:p>
            <a:pPr algn="ctr">
              <a:lnSpc>
                <a:spcPts val="19600"/>
              </a:lnSpc>
            </a:pPr>
            <a:r>
              <a:rPr lang="en-US" sz="14000" b="1">
                <a:solidFill>
                  <a:srgbClr val="FFFFFF"/>
                </a:solidFill>
                <a:latin typeface="Canva Sans Bold"/>
                <a:ea typeface="Canva Sans Bold"/>
                <a:cs typeface="Canva Sans Bold"/>
                <a:sym typeface="Canva Sans Bold"/>
              </a:rPr>
              <a:t>Backend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11230"/>
        </a:solidFill>
        <a:effectLst/>
      </p:bgPr>
    </p:bg>
    <p:spTree>
      <p:nvGrpSpPr>
        <p:cNvPr id="1" name=""/>
        <p:cNvGrpSpPr/>
        <p:nvPr/>
      </p:nvGrpSpPr>
      <p:grpSpPr>
        <a:xfrm>
          <a:off x="0" y="0"/>
          <a:ext cx="0" cy="0"/>
          <a:chOff x="0" y="0"/>
          <a:chExt cx="0" cy="0"/>
        </a:xfrm>
      </p:grpSpPr>
      <p:grpSp>
        <p:nvGrpSpPr>
          <p:cNvPr id="2" name="Group 2"/>
          <p:cNvGrpSpPr/>
          <p:nvPr/>
        </p:nvGrpSpPr>
        <p:grpSpPr>
          <a:xfrm>
            <a:off x="6029078" y="171769"/>
            <a:ext cx="7292668" cy="2361772"/>
            <a:chOff x="0" y="0"/>
            <a:chExt cx="9723557" cy="3149029"/>
          </a:xfrm>
        </p:grpSpPr>
        <p:sp>
          <p:nvSpPr>
            <p:cNvPr id="3" name="TextBox 3"/>
            <p:cNvSpPr txBox="1"/>
            <p:nvPr/>
          </p:nvSpPr>
          <p:spPr>
            <a:xfrm>
              <a:off x="0" y="-19050"/>
              <a:ext cx="9723557" cy="1454150"/>
            </a:xfrm>
            <a:prstGeom prst="rect">
              <a:avLst/>
            </a:prstGeom>
          </p:spPr>
          <p:txBody>
            <a:bodyPr lIns="0" tIns="0" rIns="0" bIns="0" rtlCol="0" anchor="t">
              <a:spAutoFit/>
            </a:bodyPr>
            <a:lstStyle/>
            <a:p>
              <a:pPr algn="l">
                <a:lnSpc>
                  <a:spcPts val="8520"/>
                </a:lnSpc>
              </a:pPr>
              <a:r>
                <a:rPr lang="en-US" sz="7100" b="1">
                  <a:solidFill>
                    <a:srgbClr val="FFFFFF"/>
                  </a:solidFill>
                  <a:latin typeface="Public Sans Bold"/>
                  <a:ea typeface="Public Sans Bold"/>
                  <a:cs typeface="Public Sans Bold"/>
                  <a:sym typeface="Public Sans Bold"/>
                </a:rPr>
                <a:t>Concepts Used</a:t>
              </a:r>
            </a:p>
          </p:txBody>
        </p:sp>
        <p:sp>
          <p:nvSpPr>
            <p:cNvPr id="4" name="TextBox 4"/>
            <p:cNvSpPr txBox="1"/>
            <p:nvPr/>
          </p:nvSpPr>
          <p:spPr>
            <a:xfrm>
              <a:off x="0" y="1786954"/>
              <a:ext cx="8634202" cy="663575"/>
            </a:xfrm>
            <a:prstGeom prst="rect">
              <a:avLst/>
            </a:prstGeom>
          </p:spPr>
          <p:txBody>
            <a:bodyPr lIns="0" tIns="0" rIns="0" bIns="0" rtlCol="0" anchor="t">
              <a:spAutoFit/>
            </a:bodyPr>
            <a:lstStyle/>
            <a:p>
              <a:pPr marL="0" lvl="0" indent="0" algn="l">
                <a:lnSpc>
                  <a:spcPts val="4199"/>
                </a:lnSpc>
              </a:pPr>
              <a:endParaRPr/>
            </a:p>
          </p:txBody>
        </p:sp>
      </p:grpSp>
      <p:sp>
        <p:nvSpPr>
          <p:cNvPr id="5" name="TextBox 5"/>
          <p:cNvSpPr txBox="1"/>
          <p:nvPr/>
        </p:nvSpPr>
        <p:spPr>
          <a:xfrm>
            <a:off x="44290" y="1807989"/>
            <a:ext cx="9099710" cy="7725893"/>
          </a:xfrm>
          <a:prstGeom prst="rect">
            <a:avLst/>
          </a:prstGeom>
        </p:spPr>
        <p:txBody>
          <a:bodyPr lIns="0" tIns="0" rIns="0" bIns="0" rtlCol="0" anchor="t">
            <a:spAutoFit/>
          </a:bodyPr>
          <a:lstStyle/>
          <a:p>
            <a:pPr marL="661018" lvl="1" indent="-330509" algn="just">
              <a:lnSpc>
                <a:spcPts val="6215"/>
              </a:lnSpc>
              <a:buAutoNum type="arabicPeriod"/>
            </a:pPr>
            <a:r>
              <a:rPr lang="en-US" sz="3061">
                <a:solidFill>
                  <a:srgbClr val="FFFFFF"/>
                </a:solidFill>
                <a:latin typeface="Public Sans"/>
                <a:ea typeface="Public Sans"/>
                <a:cs typeface="Public Sans"/>
                <a:sym typeface="Public Sans"/>
              </a:rPr>
              <a:t>Python OOP Principles:</a:t>
            </a:r>
          </a:p>
          <a:p>
            <a:pPr marL="661018" lvl="1" indent="-330509" algn="just">
              <a:lnSpc>
                <a:spcPts val="6215"/>
              </a:lnSpc>
              <a:buFont typeface="Arial"/>
              <a:buChar char="•"/>
            </a:pPr>
            <a:r>
              <a:rPr lang="en-US" sz="3061">
                <a:solidFill>
                  <a:srgbClr val="FFFFFF"/>
                </a:solidFill>
                <a:latin typeface="Public Sans"/>
                <a:ea typeface="Public Sans"/>
                <a:cs typeface="Public Sans"/>
                <a:sym typeface="Public Sans"/>
              </a:rPr>
              <a:t>Encapsulation </a:t>
            </a:r>
          </a:p>
          <a:p>
            <a:pPr marL="661018" lvl="1" indent="-330509" algn="just">
              <a:lnSpc>
                <a:spcPts val="6215"/>
              </a:lnSpc>
              <a:buFont typeface="Arial"/>
              <a:buChar char="•"/>
            </a:pPr>
            <a:r>
              <a:rPr lang="en-US" sz="3061">
                <a:solidFill>
                  <a:srgbClr val="FFFFFF"/>
                </a:solidFill>
                <a:latin typeface="Public Sans"/>
                <a:ea typeface="Public Sans"/>
                <a:cs typeface="Public Sans"/>
                <a:sym typeface="Public Sans"/>
              </a:rPr>
              <a:t>Abstraction </a:t>
            </a:r>
          </a:p>
          <a:p>
            <a:pPr marL="639079" lvl="1" indent="-319540" algn="just">
              <a:lnSpc>
                <a:spcPts val="6008"/>
              </a:lnSpc>
              <a:buFont typeface="Arial"/>
              <a:buChar char="•"/>
            </a:pPr>
            <a:r>
              <a:rPr lang="en-US" sz="2960">
                <a:solidFill>
                  <a:srgbClr val="FFFFFF"/>
                </a:solidFill>
                <a:latin typeface="Public Sans"/>
                <a:ea typeface="Public Sans"/>
                <a:cs typeface="Public Sans"/>
                <a:sym typeface="Public Sans"/>
              </a:rPr>
              <a:t>Polymorphism</a:t>
            </a:r>
          </a:p>
          <a:p>
            <a:pPr marL="661018" lvl="1" indent="-330509" algn="just">
              <a:lnSpc>
                <a:spcPts val="6215"/>
              </a:lnSpc>
              <a:buAutoNum type="arabicPeriod"/>
            </a:pPr>
            <a:r>
              <a:rPr lang="en-US" sz="3061">
                <a:solidFill>
                  <a:srgbClr val="FFFFFF"/>
                </a:solidFill>
                <a:latin typeface="Public Sans"/>
                <a:ea typeface="Public Sans"/>
                <a:cs typeface="Public Sans"/>
                <a:sym typeface="Public Sans"/>
              </a:rPr>
              <a:t>Modular design : Separate Book, Member,</a:t>
            </a:r>
          </a:p>
          <a:p>
            <a:pPr algn="just">
              <a:lnSpc>
                <a:spcPts val="6215"/>
              </a:lnSpc>
            </a:pPr>
            <a:r>
              <a:rPr lang="en-US" sz="3061">
                <a:solidFill>
                  <a:srgbClr val="FFFFFF"/>
                </a:solidFill>
                <a:latin typeface="Public Sans"/>
                <a:ea typeface="Public Sans"/>
                <a:cs typeface="Public Sans"/>
                <a:sym typeface="Public Sans"/>
              </a:rPr>
              <a:t>       and Library classes.</a:t>
            </a:r>
          </a:p>
          <a:p>
            <a:pPr algn="just">
              <a:lnSpc>
                <a:spcPts val="6215"/>
              </a:lnSpc>
            </a:pPr>
            <a:r>
              <a:rPr lang="en-US" sz="3061">
                <a:solidFill>
                  <a:srgbClr val="FFFFFF"/>
                </a:solidFill>
                <a:latin typeface="Public Sans"/>
                <a:ea typeface="Public Sans"/>
                <a:cs typeface="Public Sans"/>
                <a:sym typeface="Public Sans"/>
              </a:rPr>
              <a:t>   3.File Handling:</a:t>
            </a:r>
          </a:p>
          <a:p>
            <a:pPr marL="1322037" lvl="2" indent="-440679" algn="l">
              <a:lnSpc>
                <a:spcPts val="6215"/>
              </a:lnSpc>
              <a:buAutoNum type="alphaLcPeriod"/>
            </a:pPr>
            <a:r>
              <a:rPr lang="en-US" sz="3061">
                <a:solidFill>
                  <a:srgbClr val="FFFFFF"/>
                </a:solidFill>
                <a:latin typeface="Public Sans"/>
                <a:ea typeface="Public Sans"/>
                <a:cs typeface="Public Sans"/>
                <a:sym typeface="Public Sans"/>
              </a:rPr>
              <a:t>Persistent storage of books and members.</a:t>
            </a:r>
          </a:p>
          <a:p>
            <a:pPr marL="1322037" lvl="2" indent="-440679" algn="l">
              <a:lnSpc>
                <a:spcPts val="6215"/>
              </a:lnSpc>
              <a:buAutoNum type="alphaLcPeriod"/>
            </a:pPr>
            <a:r>
              <a:rPr lang="en-US" sz="3061">
                <a:solidFill>
                  <a:srgbClr val="FFFFFF"/>
                </a:solidFill>
                <a:latin typeface="Public Sans"/>
                <a:ea typeface="Public Sans"/>
                <a:cs typeface="Public Sans"/>
                <a:sym typeface="Public Sans"/>
              </a:rPr>
              <a:t>load() and save() methods handle reading/writing.</a:t>
            </a:r>
          </a:p>
        </p:txBody>
      </p:sp>
      <p:sp>
        <p:nvSpPr>
          <p:cNvPr id="6" name="Freeform 6"/>
          <p:cNvSpPr/>
          <p:nvPr/>
        </p:nvSpPr>
        <p:spPr>
          <a:xfrm>
            <a:off x="9392110" y="2065164"/>
            <a:ext cx="8781377" cy="7803869"/>
          </a:xfrm>
          <a:custGeom>
            <a:avLst/>
            <a:gdLst/>
            <a:ahLst/>
            <a:cxnLst/>
            <a:rect l="l" t="t" r="r" b="b"/>
            <a:pathLst>
              <a:path w="8781377" h="7803869">
                <a:moveTo>
                  <a:pt x="0" y="0"/>
                </a:moveTo>
                <a:lnTo>
                  <a:pt x="8781378" y="0"/>
                </a:lnTo>
                <a:lnTo>
                  <a:pt x="8781378" y="7803869"/>
                </a:lnTo>
                <a:lnTo>
                  <a:pt x="0" y="7803869"/>
                </a:lnTo>
                <a:lnTo>
                  <a:pt x="0" y="0"/>
                </a:lnTo>
                <a:close/>
              </a:path>
            </a:pathLst>
          </a:custGeom>
          <a:blipFill>
            <a:blip r:embed="rId2"/>
            <a:stretch>
              <a:fillRect l="-2825" t="-4037" b="-11667"/>
            </a:stretch>
          </a:blipFill>
        </p:spPr>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111230"/>
        </a:solidFill>
        <a:effectLst/>
      </p:bgPr>
    </p:bg>
    <p:spTree>
      <p:nvGrpSpPr>
        <p:cNvPr id="1" name=""/>
        <p:cNvGrpSpPr/>
        <p:nvPr/>
      </p:nvGrpSpPr>
      <p:grpSpPr>
        <a:xfrm>
          <a:off x="0" y="0"/>
          <a:ext cx="0" cy="0"/>
          <a:chOff x="0" y="0"/>
          <a:chExt cx="0" cy="0"/>
        </a:xfrm>
      </p:grpSpPr>
      <p:sp>
        <p:nvSpPr>
          <p:cNvPr id="2" name="AutoShape 2"/>
          <p:cNvSpPr/>
          <p:nvPr/>
        </p:nvSpPr>
        <p:spPr>
          <a:xfrm>
            <a:off x="0" y="9258300"/>
            <a:ext cx="18288000" cy="1028700"/>
          </a:xfrm>
          <a:prstGeom prst="rect">
            <a:avLst/>
          </a:prstGeom>
          <a:solidFill>
            <a:srgbClr val="252634"/>
          </a:solidFill>
        </p:spPr>
      </p:sp>
      <p:sp>
        <p:nvSpPr>
          <p:cNvPr id="3" name="Freeform 3"/>
          <p:cNvSpPr/>
          <p:nvPr/>
        </p:nvSpPr>
        <p:spPr>
          <a:xfrm>
            <a:off x="9531742" y="2237648"/>
            <a:ext cx="8565404" cy="6750617"/>
          </a:xfrm>
          <a:custGeom>
            <a:avLst/>
            <a:gdLst/>
            <a:ahLst/>
            <a:cxnLst/>
            <a:rect l="l" t="t" r="r" b="b"/>
            <a:pathLst>
              <a:path w="8565404" h="6750617">
                <a:moveTo>
                  <a:pt x="0" y="0"/>
                </a:moveTo>
                <a:lnTo>
                  <a:pt x="8565404" y="0"/>
                </a:lnTo>
                <a:lnTo>
                  <a:pt x="8565404" y="6750617"/>
                </a:lnTo>
                <a:lnTo>
                  <a:pt x="0" y="6750617"/>
                </a:lnTo>
                <a:lnTo>
                  <a:pt x="0" y="0"/>
                </a:lnTo>
                <a:close/>
              </a:path>
            </a:pathLst>
          </a:custGeom>
          <a:blipFill>
            <a:blip r:embed="rId2"/>
            <a:stretch>
              <a:fillRect t="-14899" b="-11983"/>
            </a:stretch>
          </a:blipFill>
        </p:spPr>
      </p:sp>
      <p:sp>
        <p:nvSpPr>
          <p:cNvPr id="4" name="TextBox 4"/>
          <p:cNvSpPr txBox="1"/>
          <p:nvPr/>
        </p:nvSpPr>
        <p:spPr>
          <a:xfrm>
            <a:off x="6171689" y="285287"/>
            <a:ext cx="7292668" cy="1095375"/>
          </a:xfrm>
          <a:prstGeom prst="rect">
            <a:avLst/>
          </a:prstGeom>
        </p:spPr>
        <p:txBody>
          <a:bodyPr lIns="0" tIns="0" rIns="0" bIns="0" rtlCol="0" anchor="t">
            <a:spAutoFit/>
          </a:bodyPr>
          <a:lstStyle/>
          <a:p>
            <a:pPr algn="l">
              <a:lnSpc>
                <a:spcPts val="8520"/>
              </a:lnSpc>
            </a:pPr>
            <a:r>
              <a:rPr lang="en-US" sz="7100" b="1">
                <a:solidFill>
                  <a:srgbClr val="FFFFFF"/>
                </a:solidFill>
                <a:latin typeface="Public Sans Bold"/>
                <a:ea typeface="Public Sans Bold"/>
                <a:cs typeface="Public Sans Bold"/>
                <a:sym typeface="Public Sans Bold"/>
              </a:rPr>
              <a:t>Concepts Used</a:t>
            </a:r>
          </a:p>
        </p:txBody>
      </p:sp>
      <p:sp>
        <p:nvSpPr>
          <p:cNvPr id="5" name="TextBox 5"/>
          <p:cNvSpPr txBox="1"/>
          <p:nvPr/>
        </p:nvSpPr>
        <p:spPr>
          <a:xfrm>
            <a:off x="153777" y="1999523"/>
            <a:ext cx="9148940" cy="5886409"/>
          </a:xfrm>
          <a:prstGeom prst="rect">
            <a:avLst/>
          </a:prstGeom>
        </p:spPr>
        <p:txBody>
          <a:bodyPr lIns="0" tIns="0" rIns="0" bIns="0" rtlCol="0" anchor="t">
            <a:spAutoFit/>
          </a:bodyPr>
          <a:lstStyle/>
          <a:p>
            <a:pPr algn="just">
              <a:lnSpc>
                <a:spcPts val="5857"/>
              </a:lnSpc>
            </a:pPr>
            <a:r>
              <a:rPr lang="en-US" sz="2943">
                <a:solidFill>
                  <a:srgbClr val="FFFFFF"/>
                </a:solidFill>
                <a:latin typeface="Public Sans"/>
                <a:ea typeface="Public Sans"/>
                <a:cs typeface="Public Sans"/>
                <a:sym typeface="Public Sans"/>
              </a:rPr>
              <a:t>1.Data Structures:</a:t>
            </a:r>
          </a:p>
          <a:p>
            <a:pPr algn="just">
              <a:lnSpc>
                <a:spcPts val="5857"/>
              </a:lnSpc>
            </a:pPr>
            <a:r>
              <a:rPr lang="en-US" sz="2943">
                <a:solidFill>
                  <a:srgbClr val="FFFFFF"/>
                </a:solidFill>
                <a:latin typeface="Public Sans"/>
                <a:ea typeface="Public Sans"/>
                <a:cs typeface="Public Sans"/>
                <a:sym typeface="Public Sans"/>
              </a:rPr>
              <a:t>    a. Dict :Store books and members using IDs as   keys.</a:t>
            </a:r>
          </a:p>
          <a:p>
            <a:pPr algn="just">
              <a:lnSpc>
                <a:spcPts val="5857"/>
              </a:lnSpc>
            </a:pPr>
            <a:r>
              <a:rPr lang="en-US" sz="2943">
                <a:solidFill>
                  <a:srgbClr val="FFFFFF"/>
                </a:solidFill>
                <a:latin typeface="Public Sans"/>
                <a:ea typeface="Public Sans"/>
                <a:cs typeface="Public Sans"/>
                <a:sym typeface="Public Sans"/>
              </a:rPr>
              <a:t>    b. List : Track borrowed book IDs.</a:t>
            </a:r>
          </a:p>
          <a:p>
            <a:pPr algn="just">
              <a:lnSpc>
                <a:spcPts val="5857"/>
              </a:lnSpc>
            </a:pPr>
            <a:endParaRPr lang="en-US" sz="2943">
              <a:solidFill>
                <a:srgbClr val="FFFFFF"/>
              </a:solidFill>
              <a:latin typeface="Public Sans"/>
              <a:ea typeface="Public Sans"/>
              <a:cs typeface="Public Sans"/>
              <a:sym typeface="Public Sans"/>
            </a:endParaRPr>
          </a:p>
          <a:p>
            <a:pPr algn="just">
              <a:lnSpc>
                <a:spcPts val="5857"/>
              </a:lnSpc>
            </a:pPr>
            <a:r>
              <a:rPr lang="en-US" sz="2943">
                <a:solidFill>
                  <a:srgbClr val="FFFFFF"/>
                </a:solidFill>
                <a:latin typeface="Public Sans"/>
                <a:ea typeface="Public Sans"/>
                <a:cs typeface="Public Sans"/>
                <a:sym typeface="Public Sans"/>
              </a:rPr>
              <a:t>2. CLI Interaction:</a:t>
            </a:r>
          </a:p>
          <a:p>
            <a:pPr algn="just">
              <a:lnSpc>
                <a:spcPts val="5857"/>
              </a:lnSpc>
            </a:pPr>
            <a:r>
              <a:rPr lang="en-US" sz="2943">
                <a:solidFill>
                  <a:srgbClr val="FFFFFF"/>
                </a:solidFill>
                <a:latin typeface="Public Sans"/>
                <a:ea typeface="Public Sans"/>
                <a:cs typeface="Public Sans"/>
                <a:sym typeface="Public Sans"/>
              </a:rPr>
              <a:t>   Menu-driven input loop (while True:) using  input().</a:t>
            </a:r>
          </a:p>
          <a:p>
            <a:pPr algn="just">
              <a:lnSpc>
                <a:spcPts val="5857"/>
              </a:lnSpc>
            </a:pPr>
            <a:endParaRPr lang="en-US" sz="2943">
              <a:solidFill>
                <a:srgbClr val="FFFFFF"/>
              </a:solidFill>
              <a:latin typeface="Public Sans"/>
              <a:ea typeface="Public Sans"/>
              <a:cs typeface="Public Sans"/>
              <a:sym typeface="Public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111230"/>
        </a:solidFill>
        <a:effectLst/>
      </p:bgPr>
    </p:bg>
    <p:spTree>
      <p:nvGrpSpPr>
        <p:cNvPr id="1" name=""/>
        <p:cNvGrpSpPr/>
        <p:nvPr/>
      </p:nvGrpSpPr>
      <p:grpSpPr>
        <a:xfrm>
          <a:off x="0" y="0"/>
          <a:ext cx="0" cy="0"/>
          <a:chOff x="0" y="0"/>
          <a:chExt cx="0" cy="0"/>
        </a:xfrm>
      </p:grpSpPr>
      <p:sp>
        <p:nvSpPr>
          <p:cNvPr id="2" name="AutoShape 2"/>
          <p:cNvSpPr/>
          <p:nvPr/>
        </p:nvSpPr>
        <p:spPr>
          <a:xfrm>
            <a:off x="0" y="0"/>
            <a:ext cx="18288000" cy="1811719"/>
          </a:xfrm>
          <a:prstGeom prst="rect">
            <a:avLst/>
          </a:prstGeom>
          <a:solidFill>
            <a:srgbClr val="111230"/>
          </a:solidFill>
        </p:spPr>
      </p:sp>
      <p:sp>
        <p:nvSpPr>
          <p:cNvPr id="3" name="AutoShape 3"/>
          <p:cNvSpPr/>
          <p:nvPr/>
        </p:nvSpPr>
        <p:spPr>
          <a:xfrm>
            <a:off x="1726261" y="3353082"/>
            <a:ext cx="14835479" cy="0"/>
          </a:xfrm>
          <a:prstGeom prst="line">
            <a:avLst/>
          </a:prstGeom>
          <a:ln w="9525" cap="rnd">
            <a:solidFill>
              <a:srgbClr val="252634"/>
            </a:solidFill>
            <a:prstDash val="solid"/>
            <a:headEnd type="none" w="sm" len="sm"/>
            <a:tailEnd type="none" w="sm" len="sm"/>
          </a:ln>
        </p:spPr>
      </p:sp>
      <p:sp>
        <p:nvSpPr>
          <p:cNvPr id="4" name="TextBox 4"/>
          <p:cNvSpPr txBox="1"/>
          <p:nvPr/>
        </p:nvSpPr>
        <p:spPr>
          <a:xfrm>
            <a:off x="1503136" y="353410"/>
            <a:ext cx="15281729" cy="1085850"/>
          </a:xfrm>
          <a:prstGeom prst="rect">
            <a:avLst/>
          </a:prstGeom>
        </p:spPr>
        <p:txBody>
          <a:bodyPr lIns="0" tIns="0" rIns="0" bIns="0" rtlCol="0" anchor="t">
            <a:spAutoFit/>
          </a:bodyPr>
          <a:lstStyle/>
          <a:p>
            <a:pPr algn="ctr">
              <a:lnSpc>
                <a:spcPts val="8400"/>
              </a:lnSpc>
            </a:pPr>
            <a:r>
              <a:rPr lang="en-US" sz="7000" b="1">
                <a:solidFill>
                  <a:srgbClr val="FFFFFF"/>
                </a:solidFill>
                <a:latin typeface="Public Sans Bold"/>
                <a:ea typeface="Public Sans Bold"/>
                <a:cs typeface="Public Sans Bold"/>
                <a:sym typeface="Public Sans Bold"/>
              </a:rPr>
              <a:t> Library System Manager Workflow</a:t>
            </a:r>
          </a:p>
        </p:txBody>
      </p:sp>
      <p:sp>
        <p:nvSpPr>
          <p:cNvPr id="5" name="Freeform 5"/>
          <p:cNvSpPr/>
          <p:nvPr/>
        </p:nvSpPr>
        <p:spPr>
          <a:xfrm>
            <a:off x="114512" y="8869726"/>
            <a:ext cx="18288000" cy="1417274"/>
          </a:xfrm>
          <a:custGeom>
            <a:avLst/>
            <a:gdLst/>
            <a:ahLst/>
            <a:cxnLst/>
            <a:rect l="l" t="t" r="r" b="b"/>
            <a:pathLst>
              <a:path w="18288000" h="1417274">
                <a:moveTo>
                  <a:pt x="0" y="0"/>
                </a:moveTo>
                <a:lnTo>
                  <a:pt x="18288000" y="0"/>
                </a:lnTo>
                <a:lnTo>
                  <a:pt x="18288000" y="1417274"/>
                </a:lnTo>
                <a:lnTo>
                  <a:pt x="0" y="1417274"/>
                </a:lnTo>
                <a:lnTo>
                  <a:pt x="0" y="0"/>
                </a:lnTo>
                <a:close/>
              </a:path>
            </a:pathLst>
          </a:custGeom>
          <a:blipFill>
            <a:blip r:embed="rId2"/>
            <a:stretch>
              <a:fillRect t="-131685" b="-260961"/>
            </a:stretch>
          </a:blipFill>
        </p:spPr>
      </p:sp>
      <p:sp>
        <p:nvSpPr>
          <p:cNvPr id="6" name="Freeform 6"/>
          <p:cNvSpPr/>
          <p:nvPr/>
        </p:nvSpPr>
        <p:spPr>
          <a:xfrm>
            <a:off x="9144000" y="2435803"/>
            <a:ext cx="9144000" cy="5413183"/>
          </a:xfrm>
          <a:custGeom>
            <a:avLst/>
            <a:gdLst/>
            <a:ahLst/>
            <a:cxnLst/>
            <a:rect l="l" t="t" r="r" b="b"/>
            <a:pathLst>
              <a:path w="9144000" h="5413183">
                <a:moveTo>
                  <a:pt x="0" y="0"/>
                </a:moveTo>
                <a:lnTo>
                  <a:pt x="9144000" y="0"/>
                </a:lnTo>
                <a:lnTo>
                  <a:pt x="9144000" y="5413183"/>
                </a:lnTo>
                <a:lnTo>
                  <a:pt x="0" y="5413183"/>
                </a:lnTo>
                <a:lnTo>
                  <a:pt x="0" y="0"/>
                </a:lnTo>
                <a:close/>
              </a:path>
            </a:pathLst>
          </a:custGeom>
          <a:blipFill>
            <a:blip r:embed="rId3"/>
            <a:stretch>
              <a:fillRect l="-3048" t="-26930" r="-9808" b="-82"/>
            </a:stretch>
          </a:blipFill>
        </p:spPr>
      </p:sp>
      <p:sp>
        <p:nvSpPr>
          <p:cNvPr id="7" name="TextBox 7"/>
          <p:cNvSpPr txBox="1"/>
          <p:nvPr/>
        </p:nvSpPr>
        <p:spPr>
          <a:xfrm>
            <a:off x="114512" y="1484133"/>
            <a:ext cx="8895890" cy="6779166"/>
          </a:xfrm>
          <a:prstGeom prst="rect">
            <a:avLst/>
          </a:prstGeom>
        </p:spPr>
        <p:txBody>
          <a:bodyPr lIns="0" tIns="0" rIns="0" bIns="0" rtlCol="0" anchor="t">
            <a:spAutoFit/>
          </a:bodyPr>
          <a:lstStyle/>
          <a:p>
            <a:pPr algn="l">
              <a:lnSpc>
                <a:spcPts val="5482"/>
              </a:lnSpc>
            </a:pPr>
            <a:endParaRPr/>
          </a:p>
          <a:p>
            <a:pPr marL="591884" lvl="1" indent="-295942" algn="l">
              <a:lnSpc>
                <a:spcPts val="5482"/>
              </a:lnSpc>
              <a:buAutoNum type="arabicPeriod"/>
            </a:pPr>
            <a:r>
              <a:rPr lang="en-US" sz="2741">
                <a:solidFill>
                  <a:srgbClr val="FFFFFF"/>
                </a:solidFill>
                <a:latin typeface="Public Sans"/>
                <a:ea typeface="Public Sans"/>
                <a:cs typeface="Public Sans"/>
                <a:sym typeface="Public Sans"/>
              </a:rPr>
              <a:t>Administrator Tasks: Manages books (add/remove) and registers members.</a:t>
            </a:r>
          </a:p>
          <a:p>
            <a:pPr marL="591884" lvl="1" indent="-295942" algn="l">
              <a:lnSpc>
                <a:spcPts val="5482"/>
              </a:lnSpc>
              <a:buAutoNum type="arabicPeriod"/>
            </a:pPr>
            <a:r>
              <a:rPr lang="en-US" sz="2741">
                <a:solidFill>
                  <a:srgbClr val="FFFFFF"/>
                </a:solidFill>
                <a:latin typeface="Public Sans"/>
                <a:ea typeface="Public Sans"/>
                <a:cs typeface="Public Sans"/>
                <a:sym typeface="Public Sans"/>
              </a:rPr>
              <a:t>Member Actions: Borrows and returns books, and can view a list of members.</a:t>
            </a:r>
          </a:p>
          <a:p>
            <a:pPr marL="591884" lvl="1" indent="-295942" algn="l">
              <a:lnSpc>
                <a:spcPts val="5482"/>
              </a:lnSpc>
              <a:buAutoNum type="arabicPeriod"/>
            </a:pPr>
            <a:r>
              <a:rPr lang="en-US" sz="2741">
                <a:solidFill>
                  <a:srgbClr val="FFFFFF"/>
                </a:solidFill>
                <a:latin typeface="Public Sans"/>
                <a:ea typeface="Public Sans"/>
                <a:cs typeface="Public Sans"/>
                <a:sym typeface="Public Sans"/>
              </a:rPr>
              <a:t>Book Flow: Books are added/removed by the administrator and borrowed/returned by members.</a:t>
            </a:r>
          </a:p>
          <a:p>
            <a:pPr marL="591884" lvl="1" indent="-295942" algn="l">
              <a:lnSpc>
                <a:spcPts val="5482"/>
              </a:lnSpc>
              <a:buAutoNum type="arabicPeriod"/>
            </a:pPr>
            <a:r>
              <a:rPr lang="en-US" sz="2741">
                <a:solidFill>
                  <a:srgbClr val="FFFFFF"/>
                </a:solidFill>
                <a:latin typeface="Public Sans"/>
                <a:ea typeface="Public Sans"/>
                <a:cs typeface="Public Sans"/>
                <a:sym typeface="Public Sans"/>
              </a:rPr>
              <a:t>User Registration: Administrators register members for library access.</a:t>
            </a:r>
          </a:p>
          <a:p>
            <a:pPr algn="l">
              <a:lnSpc>
                <a:spcPts val="3838"/>
              </a:lnSpc>
            </a:pPr>
            <a:endParaRPr lang="en-US" sz="2741">
              <a:solidFill>
                <a:srgbClr val="FFFFFF"/>
              </a:solidFill>
              <a:latin typeface="Public Sans"/>
              <a:ea typeface="Public Sans"/>
              <a:cs typeface="Public Sans"/>
              <a:sym typeface="Public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11230"/>
        </a:solidFill>
        <a:effectLst/>
      </p:bgPr>
    </p:bg>
    <p:spTree>
      <p:nvGrpSpPr>
        <p:cNvPr id="1" name=""/>
        <p:cNvGrpSpPr/>
        <p:nvPr/>
      </p:nvGrpSpPr>
      <p:grpSpPr>
        <a:xfrm>
          <a:off x="0" y="0"/>
          <a:ext cx="0" cy="0"/>
          <a:chOff x="0" y="0"/>
          <a:chExt cx="0" cy="0"/>
        </a:xfrm>
      </p:grpSpPr>
      <p:sp>
        <p:nvSpPr>
          <p:cNvPr id="2" name="AutoShape 2"/>
          <p:cNvSpPr/>
          <p:nvPr/>
        </p:nvSpPr>
        <p:spPr>
          <a:xfrm>
            <a:off x="0" y="0"/>
            <a:ext cx="18288000" cy="1811719"/>
          </a:xfrm>
          <a:prstGeom prst="rect">
            <a:avLst/>
          </a:prstGeom>
          <a:solidFill>
            <a:srgbClr val="111230"/>
          </a:solidFill>
        </p:spPr>
      </p:sp>
      <p:grpSp>
        <p:nvGrpSpPr>
          <p:cNvPr id="3" name="Group 3"/>
          <p:cNvGrpSpPr/>
          <p:nvPr/>
        </p:nvGrpSpPr>
        <p:grpSpPr>
          <a:xfrm>
            <a:off x="1503136" y="284243"/>
            <a:ext cx="14632825" cy="1488914"/>
            <a:chOff x="0" y="0"/>
            <a:chExt cx="19510433" cy="1985219"/>
          </a:xfrm>
        </p:grpSpPr>
        <p:sp>
          <p:nvSpPr>
            <p:cNvPr id="4" name="AutoShape 4"/>
            <p:cNvSpPr/>
            <p:nvPr/>
          </p:nvSpPr>
          <p:spPr>
            <a:xfrm>
              <a:off x="284867" y="1978869"/>
              <a:ext cx="18940699" cy="0"/>
            </a:xfrm>
            <a:prstGeom prst="line">
              <a:avLst/>
            </a:prstGeom>
            <a:ln w="12700" cap="rnd">
              <a:solidFill>
                <a:srgbClr val="252634"/>
              </a:solidFill>
              <a:prstDash val="solid"/>
              <a:headEnd type="none" w="sm" len="sm"/>
              <a:tailEnd type="none" w="sm" len="sm"/>
            </a:ln>
          </p:spPr>
        </p:sp>
        <p:sp>
          <p:nvSpPr>
            <p:cNvPr id="5" name="TextBox 5"/>
            <p:cNvSpPr txBox="1"/>
            <p:nvPr/>
          </p:nvSpPr>
          <p:spPr>
            <a:xfrm>
              <a:off x="0" y="-19050"/>
              <a:ext cx="19510433" cy="1454150"/>
            </a:xfrm>
            <a:prstGeom prst="rect">
              <a:avLst/>
            </a:prstGeom>
          </p:spPr>
          <p:txBody>
            <a:bodyPr lIns="0" tIns="0" rIns="0" bIns="0" rtlCol="0" anchor="t">
              <a:spAutoFit/>
            </a:bodyPr>
            <a:lstStyle/>
            <a:p>
              <a:pPr algn="ctr">
                <a:lnSpc>
                  <a:spcPts val="8520"/>
                </a:lnSpc>
              </a:pPr>
              <a:r>
                <a:rPr lang="en-US" sz="7100" b="1">
                  <a:solidFill>
                    <a:srgbClr val="FFFFFF"/>
                  </a:solidFill>
                  <a:latin typeface="Public Sans Bold"/>
                  <a:ea typeface="Public Sans Bold"/>
                  <a:cs typeface="Public Sans Bold"/>
                  <a:sym typeface="Public Sans Bold"/>
                </a:rPr>
                <a:t>CLI Menu (run_cli)</a:t>
              </a:r>
            </a:p>
          </p:txBody>
        </p:sp>
      </p:grpSp>
      <p:sp>
        <p:nvSpPr>
          <p:cNvPr id="6" name="Freeform 6"/>
          <p:cNvSpPr/>
          <p:nvPr/>
        </p:nvSpPr>
        <p:spPr>
          <a:xfrm>
            <a:off x="114512" y="8869726"/>
            <a:ext cx="18288000" cy="1417274"/>
          </a:xfrm>
          <a:custGeom>
            <a:avLst/>
            <a:gdLst/>
            <a:ahLst/>
            <a:cxnLst/>
            <a:rect l="l" t="t" r="r" b="b"/>
            <a:pathLst>
              <a:path w="18288000" h="1417274">
                <a:moveTo>
                  <a:pt x="0" y="0"/>
                </a:moveTo>
                <a:lnTo>
                  <a:pt x="18288000" y="0"/>
                </a:lnTo>
                <a:lnTo>
                  <a:pt x="18288000" y="1417274"/>
                </a:lnTo>
                <a:lnTo>
                  <a:pt x="0" y="1417274"/>
                </a:lnTo>
                <a:lnTo>
                  <a:pt x="0" y="0"/>
                </a:lnTo>
                <a:close/>
              </a:path>
            </a:pathLst>
          </a:custGeom>
          <a:blipFill>
            <a:blip r:embed="rId2"/>
            <a:stretch>
              <a:fillRect t="-131685" b="-260961"/>
            </a:stretch>
          </a:blipFill>
        </p:spPr>
      </p:sp>
      <p:sp>
        <p:nvSpPr>
          <p:cNvPr id="7" name="Freeform 7"/>
          <p:cNvSpPr/>
          <p:nvPr/>
        </p:nvSpPr>
        <p:spPr>
          <a:xfrm>
            <a:off x="10005327" y="1811719"/>
            <a:ext cx="8045417" cy="7059031"/>
          </a:xfrm>
          <a:custGeom>
            <a:avLst/>
            <a:gdLst/>
            <a:ahLst/>
            <a:cxnLst/>
            <a:rect l="l" t="t" r="r" b="b"/>
            <a:pathLst>
              <a:path w="8045417" h="7059031">
                <a:moveTo>
                  <a:pt x="0" y="0"/>
                </a:moveTo>
                <a:lnTo>
                  <a:pt x="8045418" y="0"/>
                </a:lnTo>
                <a:lnTo>
                  <a:pt x="8045418" y="7059031"/>
                </a:lnTo>
                <a:lnTo>
                  <a:pt x="0" y="7059031"/>
                </a:lnTo>
                <a:lnTo>
                  <a:pt x="0" y="0"/>
                </a:lnTo>
                <a:close/>
              </a:path>
            </a:pathLst>
          </a:custGeom>
          <a:blipFill>
            <a:blip r:embed="rId3"/>
            <a:stretch>
              <a:fillRect t="-6986" b="-6986"/>
            </a:stretch>
          </a:blipFill>
        </p:spPr>
      </p:sp>
      <p:sp>
        <p:nvSpPr>
          <p:cNvPr id="8" name="TextBox 8"/>
          <p:cNvSpPr txBox="1"/>
          <p:nvPr/>
        </p:nvSpPr>
        <p:spPr>
          <a:xfrm>
            <a:off x="1028700" y="1535494"/>
            <a:ext cx="8838513" cy="7335256"/>
          </a:xfrm>
          <a:prstGeom prst="rect">
            <a:avLst/>
          </a:prstGeom>
        </p:spPr>
        <p:txBody>
          <a:bodyPr lIns="0" tIns="0" rIns="0" bIns="0" rtlCol="0" anchor="t">
            <a:spAutoFit/>
          </a:bodyPr>
          <a:lstStyle/>
          <a:p>
            <a:pPr algn="l">
              <a:lnSpc>
                <a:spcPts val="6883"/>
              </a:lnSpc>
            </a:pPr>
            <a:endParaRPr/>
          </a:p>
          <a:p>
            <a:pPr algn="l">
              <a:lnSpc>
                <a:spcPts val="6883"/>
              </a:lnSpc>
            </a:pPr>
            <a:r>
              <a:rPr lang="en-US" sz="3441">
                <a:solidFill>
                  <a:srgbClr val="FFFFFF"/>
                </a:solidFill>
                <a:latin typeface="Public Sans"/>
                <a:ea typeface="Public Sans"/>
                <a:cs typeface="Public Sans"/>
                <a:sym typeface="Public Sans"/>
              </a:rPr>
              <a:t>A. Provides interactive user interface:</a:t>
            </a:r>
          </a:p>
          <a:p>
            <a:pPr marL="743087" lvl="1" indent="-371544" algn="l">
              <a:lnSpc>
                <a:spcPts val="6883"/>
              </a:lnSpc>
              <a:buAutoNum type="arabicPeriod"/>
            </a:pPr>
            <a:r>
              <a:rPr lang="en-US" sz="3441">
                <a:solidFill>
                  <a:srgbClr val="FFFFFF"/>
                </a:solidFill>
                <a:latin typeface="Public Sans"/>
                <a:ea typeface="Public Sans"/>
                <a:cs typeface="Public Sans"/>
                <a:sym typeface="Public Sans"/>
              </a:rPr>
              <a:t>Add / Remove Book</a:t>
            </a:r>
          </a:p>
          <a:p>
            <a:pPr marL="743087" lvl="1" indent="-371544" algn="l">
              <a:lnSpc>
                <a:spcPts val="6883"/>
              </a:lnSpc>
              <a:buAutoNum type="arabicPeriod"/>
            </a:pPr>
            <a:r>
              <a:rPr lang="en-US" sz="3441">
                <a:solidFill>
                  <a:srgbClr val="FFFFFF"/>
                </a:solidFill>
                <a:latin typeface="Public Sans"/>
                <a:ea typeface="Public Sans"/>
                <a:cs typeface="Public Sans"/>
                <a:sym typeface="Public Sans"/>
              </a:rPr>
              <a:t>Register Member</a:t>
            </a:r>
          </a:p>
          <a:p>
            <a:pPr marL="743087" lvl="1" indent="-371544" algn="l">
              <a:lnSpc>
                <a:spcPts val="6883"/>
              </a:lnSpc>
              <a:buAutoNum type="arabicPeriod"/>
            </a:pPr>
            <a:r>
              <a:rPr lang="en-US" sz="3441">
                <a:solidFill>
                  <a:srgbClr val="FFFFFF"/>
                </a:solidFill>
                <a:latin typeface="Public Sans"/>
                <a:ea typeface="Public Sans"/>
                <a:cs typeface="Public Sans"/>
                <a:sym typeface="Public Sans"/>
              </a:rPr>
              <a:t>Borrow / Return Book</a:t>
            </a:r>
          </a:p>
          <a:p>
            <a:pPr marL="743087" lvl="1" indent="-371544" algn="l">
              <a:lnSpc>
                <a:spcPts val="6883"/>
              </a:lnSpc>
              <a:buAutoNum type="arabicPeriod"/>
            </a:pPr>
            <a:r>
              <a:rPr lang="en-US" sz="3441">
                <a:solidFill>
                  <a:srgbClr val="FFFFFF"/>
                </a:solidFill>
                <a:latin typeface="Public Sans"/>
                <a:ea typeface="Public Sans"/>
                <a:cs typeface="Public Sans"/>
                <a:sym typeface="Public Sans"/>
              </a:rPr>
              <a:t>List Books / Members</a:t>
            </a:r>
          </a:p>
          <a:p>
            <a:pPr marL="743087" lvl="1" indent="-371544" algn="l">
              <a:lnSpc>
                <a:spcPts val="6883"/>
              </a:lnSpc>
              <a:buAutoNum type="arabicPeriod"/>
            </a:pPr>
            <a:r>
              <a:rPr lang="en-US" sz="3441">
                <a:solidFill>
                  <a:srgbClr val="FFFFFF"/>
                </a:solidFill>
                <a:latin typeface="Public Sans"/>
                <a:ea typeface="Public Sans"/>
                <a:cs typeface="Public Sans"/>
                <a:sym typeface="Public Sans"/>
              </a:rPr>
              <a:t>Exit Program</a:t>
            </a:r>
          </a:p>
          <a:p>
            <a:pPr algn="l">
              <a:lnSpc>
                <a:spcPts val="4818"/>
              </a:lnSpc>
            </a:pPr>
            <a:r>
              <a:rPr lang="en-US" sz="3441">
                <a:solidFill>
                  <a:srgbClr val="FFFFFF"/>
                </a:solidFill>
                <a:latin typeface="Public Sans"/>
                <a:ea typeface="Public Sans"/>
                <a:cs typeface="Public Sans"/>
                <a:sym typeface="Public Sans"/>
              </a:rPr>
              <a:t>B. Uses while True loop with input validation.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111230"/>
        </a:solidFill>
        <a:effectLst/>
      </p:bgPr>
    </p:bg>
    <p:spTree>
      <p:nvGrpSpPr>
        <p:cNvPr id="1" name=""/>
        <p:cNvGrpSpPr/>
        <p:nvPr/>
      </p:nvGrpSpPr>
      <p:grpSpPr>
        <a:xfrm>
          <a:off x="0" y="0"/>
          <a:ext cx="0" cy="0"/>
          <a:chOff x="0" y="0"/>
          <a:chExt cx="0" cy="0"/>
        </a:xfrm>
      </p:grpSpPr>
      <p:sp>
        <p:nvSpPr>
          <p:cNvPr id="2" name="AutoShape 2"/>
          <p:cNvSpPr/>
          <p:nvPr/>
        </p:nvSpPr>
        <p:spPr>
          <a:xfrm>
            <a:off x="1028700" y="3261485"/>
            <a:ext cx="5152716" cy="0"/>
          </a:xfrm>
          <a:prstGeom prst="line">
            <a:avLst/>
          </a:prstGeom>
          <a:ln w="9525" cap="rnd">
            <a:solidFill>
              <a:srgbClr val="FFFFFF"/>
            </a:solidFill>
            <a:prstDash val="solid"/>
            <a:headEnd type="none" w="sm" len="sm"/>
            <a:tailEnd type="none" w="sm" len="sm"/>
          </a:ln>
        </p:spPr>
      </p:sp>
      <p:sp>
        <p:nvSpPr>
          <p:cNvPr id="3" name="AutoShape 3"/>
          <p:cNvSpPr/>
          <p:nvPr/>
        </p:nvSpPr>
        <p:spPr>
          <a:xfrm>
            <a:off x="1028700" y="6257489"/>
            <a:ext cx="5152716" cy="0"/>
          </a:xfrm>
          <a:prstGeom prst="line">
            <a:avLst/>
          </a:prstGeom>
          <a:ln w="9525" cap="rnd">
            <a:solidFill>
              <a:srgbClr val="FFFFFF"/>
            </a:solidFill>
            <a:prstDash val="solid"/>
            <a:headEnd type="none" w="sm" len="sm"/>
            <a:tailEnd type="none" w="sm" len="sm"/>
          </a:ln>
        </p:spPr>
      </p:sp>
      <p:sp>
        <p:nvSpPr>
          <p:cNvPr id="4" name="AutoShape 4"/>
          <p:cNvSpPr/>
          <p:nvPr/>
        </p:nvSpPr>
        <p:spPr>
          <a:xfrm>
            <a:off x="6567642" y="3261485"/>
            <a:ext cx="5152716" cy="0"/>
          </a:xfrm>
          <a:prstGeom prst="line">
            <a:avLst/>
          </a:prstGeom>
          <a:ln w="9525" cap="rnd">
            <a:solidFill>
              <a:srgbClr val="FFFFFF"/>
            </a:solidFill>
            <a:prstDash val="solid"/>
            <a:headEnd type="none" w="sm" len="sm"/>
            <a:tailEnd type="none" w="sm" len="sm"/>
          </a:ln>
        </p:spPr>
      </p:sp>
      <p:sp>
        <p:nvSpPr>
          <p:cNvPr id="5" name="AutoShape 5"/>
          <p:cNvSpPr/>
          <p:nvPr/>
        </p:nvSpPr>
        <p:spPr>
          <a:xfrm>
            <a:off x="6567642" y="6257489"/>
            <a:ext cx="5152716" cy="0"/>
          </a:xfrm>
          <a:prstGeom prst="line">
            <a:avLst/>
          </a:prstGeom>
          <a:ln w="9525" cap="rnd">
            <a:solidFill>
              <a:srgbClr val="FFFFFF"/>
            </a:solidFill>
            <a:prstDash val="solid"/>
            <a:headEnd type="none" w="sm" len="sm"/>
            <a:tailEnd type="none" w="sm" len="sm"/>
          </a:ln>
        </p:spPr>
      </p:sp>
      <p:sp>
        <p:nvSpPr>
          <p:cNvPr id="6" name="AutoShape 6"/>
          <p:cNvSpPr/>
          <p:nvPr/>
        </p:nvSpPr>
        <p:spPr>
          <a:xfrm>
            <a:off x="12106584" y="3256722"/>
            <a:ext cx="5152716" cy="0"/>
          </a:xfrm>
          <a:prstGeom prst="line">
            <a:avLst/>
          </a:prstGeom>
          <a:ln w="9525" cap="rnd">
            <a:solidFill>
              <a:srgbClr val="FFFFFF"/>
            </a:solidFill>
            <a:prstDash val="solid"/>
            <a:headEnd type="none" w="sm" len="sm"/>
            <a:tailEnd type="none" w="sm" len="sm"/>
          </a:ln>
        </p:spPr>
      </p:sp>
      <p:sp>
        <p:nvSpPr>
          <p:cNvPr id="7" name="Freeform 7"/>
          <p:cNvSpPr/>
          <p:nvPr/>
        </p:nvSpPr>
        <p:spPr>
          <a:xfrm>
            <a:off x="1028700" y="4135471"/>
            <a:ext cx="1257557" cy="1257557"/>
          </a:xfrm>
          <a:custGeom>
            <a:avLst/>
            <a:gdLst/>
            <a:ahLst/>
            <a:cxnLst/>
            <a:rect l="l" t="t" r="r" b="b"/>
            <a:pathLst>
              <a:path w="1257557" h="1257557">
                <a:moveTo>
                  <a:pt x="0" y="0"/>
                </a:moveTo>
                <a:lnTo>
                  <a:pt x="1257557" y="0"/>
                </a:lnTo>
                <a:lnTo>
                  <a:pt x="1257557" y="1257557"/>
                </a:lnTo>
                <a:lnTo>
                  <a:pt x="0" y="1257557"/>
                </a:lnTo>
                <a:lnTo>
                  <a:pt x="0" y="0"/>
                </a:lnTo>
                <a:close/>
              </a:path>
            </a:pathLst>
          </a:custGeom>
          <a:blipFill>
            <a:blip r:embed="rId2"/>
            <a:stretch>
              <a:fillRect/>
            </a:stretch>
          </a:blipFill>
        </p:spPr>
      </p:sp>
      <p:sp>
        <p:nvSpPr>
          <p:cNvPr id="8" name="Freeform 8"/>
          <p:cNvSpPr/>
          <p:nvPr/>
        </p:nvSpPr>
        <p:spPr>
          <a:xfrm>
            <a:off x="6796242" y="3972290"/>
            <a:ext cx="1045321" cy="1171210"/>
          </a:xfrm>
          <a:custGeom>
            <a:avLst/>
            <a:gdLst/>
            <a:ahLst/>
            <a:cxnLst/>
            <a:rect l="l" t="t" r="r" b="b"/>
            <a:pathLst>
              <a:path w="1045321" h="1171210">
                <a:moveTo>
                  <a:pt x="0" y="0"/>
                </a:moveTo>
                <a:lnTo>
                  <a:pt x="1045321" y="0"/>
                </a:lnTo>
                <a:lnTo>
                  <a:pt x="1045321" y="1171210"/>
                </a:lnTo>
                <a:lnTo>
                  <a:pt x="0" y="1171210"/>
                </a:lnTo>
                <a:lnTo>
                  <a:pt x="0" y="0"/>
                </a:lnTo>
                <a:close/>
              </a:path>
            </a:pathLst>
          </a:custGeom>
          <a:blipFill>
            <a:blip r:embed="rId3"/>
            <a:stretch>
              <a:fillRect l="-10934" r="-10934" b="-8769"/>
            </a:stretch>
          </a:blipFill>
        </p:spPr>
      </p:sp>
      <p:sp>
        <p:nvSpPr>
          <p:cNvPr id="9" name="Freeform 9"/>
          <p:cNvSpPr/>
          <p:nvPr/>
        </p:nvSpPr>
        <p:spPr>
          <a:xfrm>
            <a:off x="12501408" y="3972290"/>
            <a:ext cx="1311810" cy="1311810"/>
          </a:xfrm>
          <a:custGeom>
            <a:avLst/>
            <a:gdLst/>
            <a:ahLst/>
            <a:cxnLst/>
            <a:rect l="l" t="t" r="r" b="b"/>
            <a:pathLst>
              <a:path w="1311810" h="1311810">
                <a:moveTo>
                  <a:pt x="0" y="0"/>
                </a:moveTo>
                <a:lnTo>
                  <a:pt x="1311810" y="0"/>
                </a:lnTo>
                <a:lnTo>
                  <a:pt x="1311810" y="1311810"/>
                </a:lnTo>
                <a:lnTo>
                  <a:pt x="0" y="1311810"/>
                </a:lnTo>
                <a:lnTo>
                  <a:pt x="0" y="0"/>
                </a:lnTo>
                <a:close/>
              </a:path>
            </a:pathLst>
          </a:custGeom>
          <a:blipFill>
            <a:blip r:embed="rId4"/>
            <a:stretch>
              <a:fillRect/>
            </a:stretch>
          </a:blipFill>
        </p:spPr>
      </p:sp>
      <p:sp>
        <p:nvSpPr>
          <p:cNvPr id="10" name="Freeform 10"/>
          <p:cNvSpPr/>
          <p:nvPr/>
        </p:nvSpPr>
        <p:spPr>
          <a:xfrm>
            <a:off x="1120280" y="6562289"/>
            <a:ext cx="1382574" cy="1382574"/>
          </a:xfrm>
          <a:custGeom>
            <a:avLst/>
            <a:gdLst/>
            <a:ahLst/>
            <a:cxnLst/>
            <a:rect l="l" t="t" r="r" b="b"/>
            <a:pathLst>
              <a:path w="1382574" h="1382574">
                <a:moveTo>
                  <a:pt x="0" y="0"/>
                </a:moveTo>
                <a:lnTo>
                  <a:pt x="1382574" y="0"/>
                </a:lnTo>
                <a:lnTo>
                  <a:pt x="1382574" y="1382574"/>
                </a:lnTo>
                <a:lnTo>
                  <a:pt x="0" y="1382574"/>
                </a:lnTo>
                <a:lnTo>
                  <a:pt x="0" y="0"/>
                </a:lnTo>
                <a:close/>
              </a:path>
            </a:pathLst>
          </a:custGeom>
          <a:blipFill>
            <a:blip r:embed="rId5"/>
            <a:stretch>
              <a:fillRect/>
            </a:stretch>
          </a:blipFill>
        </p:spPr>
      </p:sp>
      <p:sp>
        <p:nvSpPr>
          <p:cNvPr id="11" name="Freeform 11"/>
          <p:cNvSpPr/>
          <p:nvPr/>
        </p:nvSpPr>
        <p:spPr>
          <a:xfrm>
            <a:off x="6796242" y="6562289"/>
            <a:ext cx="1220141" cy="1413923"/>
          </a:xfrm>
          <a:custGeom>
            <a:avLst/>
            <a:gdLst/>
            <a:ahLst/>
            <a:cxnLst/>
            <a:rect l="l" t="t" r="r" b="b"/>
            <a:pathLst>
              <a:path w="1220141" h="1413923">
                <a:moveTo>
                  <a:pt x="0" y="0"/>
                </a:moveTo>
                <a:lnTo>
                  <a:pt x="1220141" y="0"/>
                </a:lnTo>
                <a:lnTo>
                  <a:pt x="1220141" y="1413923"/>
                </a:lnTo>
                <a:lnTo>
                  <a:pt x="0" y="1413923"/>
                </a:lnTo>
                <a:lnTo>
                  <a:pt x="0" y="0"/>
                </a:lnTo>
                <a:close/>
              </a:path>
            </a:pathLst>
          </a:custGeom>
          <a:blipFill>
            <a:blip r:embed="rId6"/>
            <a:stretch>
              <a:fillRect l="-31467" t="-2147" r="-19486" b="-28118"/>
            </a:stretch>
          </a:blipFill>
        </p:spPr>
      </p:sp>
      <p:sp>
        <p:nvSpPr>
          <p:cNvPr id="12" name="Freeform 12"/>
          <p:cNvSpPr/>
          <p:nvPr/>
        </p:nvSpPr>
        <p:spPr>
          <a:xfrm>
            <a:off x="0" y="9098076"/>
            <a:ext cx="18288000" cy="1188924"/>
          </a:xfrm>
          <a:custGeom>
            <a:avLst/>
            <a:gdLst/>
            <a:ahLst/>
            <a:cxnLst/>
            <a:rect l="l" t="t" r="r" b="b"/>
            <a:pathLst>
              <a:path w="18288000" h="1188924">
                <a:moveTo>
                  <a:pt x="0" y="0"/>
                </a:moveTo>
                <a:lnTo>
                  <a:pt x="18288000" y="0"/>
                </a:lnTo>
                <a:lnTo>
                  <a:pt x="18288000" y="1188924"/>
                </a:lnTo>
                <a:lnTo>
                  <a:pt x="0" y="1188924"/>
                </a:lnTo>
                <a:lnTo>
                  <a:pt x="0" y="0"/>
                </a:lnTo>
                <a:close/>
              </a:path>
            </a:pathLst>
          </a:custGeom>
          <a:blipFill>
            <a:blip r:embed="rId7"/>
            <a:stretch>
              <a:fillRect t="-131498" b="-181892"/>
            </a:stretch>
          </a:blipFill>
        </p:spPr>
      </p:sp>
      <p:sp>
        <p:nvSpPr>
          <p:cNvPr id="13" name="TextBox 13"/>
          <p:cNvSpPr txBox="1"/>
          <p:nvPr/>
        </p:nvSpPr>
        <p:spPr>
          <a:xfrm>
            <a:off x="1028700" y="1019175"/>
            <a:ext cx="8115300" cy="1952625"/>
          </a:xfrm>
          <a:prstGeom prst="rect">
            <a:avLst/>
          </a:prstGeom>
        </p:spPr>
        <p:txBody>
          <a:bodyPr lIns="0" tIns="0" rIns="0" bIns="0" rtlCol="0" anchor="t">
            <a:spAutoFit/>
          </a:bodyPr>
          <a:lstStyle/>
          <a:p>
            <a:pPr algn="l">
              <a:lnSpc>
                <a:spcPts val="7686"/>
              </a:lnSpc>
            </a:pPr>
            <a:r>
              <a:rPr lang="en-US" sz="6405" b="1">
                <a:solidFill>
                  <a:srgbClr val="FFFFFF"/>
                </a:solidFill>
                <a:latin typeface="Public Sans Bold"/>
                <a:ea typeface="Public Sans Bold"/>
                <a:cs typeface="Public Sans Bold"/>
                <a:sym typeface="Public Sans Bold"/>
              </a:rPr>
              <a:t>Advantages</a:t>
            </a:r>
          </a:p>
          <a:p>
            <a:pPr algn="l">
              <a:lnSpc>
                <a:spcPts val="7686"/>
              </a:lnSpc>
            </a:pPr>
            <a:endParaRPr lang="en-US" sz="6405" b="1">
              <a:solidFill>
                <a:srgbClr val="FFFFFF"/>
              </a:solidFill>
              <a:latin typeface="Public Sans Bold"/>
              <a:ea typeface="Public Sans Bold"/>
              <a:cs typeface="Public Sans Bold"/>
              <a:sym typeface="Public Sans Bold"/>
            </a:endParaRPr>
          </a:p>
        </p:txBody>
      </p:sp>
      <p:sp>
        <p:nvSpPr>
          <p:cNvPr id="14" name="TextBox 14"/>
          <p:cNvSpPr txBox="1"/>
          <p:nvPr/>
        </p:nvSpPr>
        <p:spPr>
          <a:xfrm>
            <a:off x="2502854" y="3873976"/>
            <a:ext cx="3511371" cy="1372235"/>
          </a:xfrm>
          <a:prstGeom prst="rect">
            <a:avLst/>
          </a:prstGeom>
        </p:spPr>
        <p:txBody>
          <a:bodyPr lIns="0" tIns="0" rIns="0" bIns="0" rtlCol="0" anchor="t">
            <a:spAutoFit/>
          </a:bodyPr>
          <a:lstStyle/>
          <a:p>
            <a:pPr algn="l">
              <a:lnSpc>
                <a:spcPts val="3639"/>
              </a:lnSpc>
            </a:pPr>
            <a:r>
              <a:rPr lang="en-US" sz="2599">
                <a:solidFill>
                  <a:srgbClr val="FFFFFF"/>
                </a:solidFill>
                <a:latin typeface="Public Sans"/>
                <a:ea typeface="Public Sans"/>
                <a:cs typeface="Public Sans"/>
                <a:sym typeface="Public Sans"/>
              </a:rPr>
              <a:t>Automated system eliminates manual errors.</a:t>
            </a:r>
          </a:p>
        </p:txBody>
      </p:sp>
      <p:sp>
        <p:nvSpPr>
          <p:cNvPr id="15" name="TextBox 15"/>
          <p:cNvSpPr txBox="1"/>
          <p:nvPr/>
        </p:nvSpPr>
        <p:spPr>
          <a:xfrm>
            <a:off x="2689131" y="6401866"/>
            <a:ext cx="3492285" cy="1829435"/>
          </a:xfrm>
          <a:prstGeom prst="rect">
            <a:avLst/>
          </a:prstGeom>
        </p:spPr>
        <p:txBody>
          <a:bodyPr lIns="0" tIns="0" rIns="0" bIns="0" rtlCol="0" anchor="t">
            <a:spAutoFit/>
          </a:bodyPr>
          <a:lstStyle/>
          <a:p>
            <a:pPr algn="l">
              <a:lnSpc>
                <a:spcPts val="3639"/>
              </a:lnSpc>
            </a:pPr>
            <a:r>
              <a:rPr lang="en-US" sz="2599">
                <a:solidFill>
                  <a:srgbClr val="FFFFFF"/>
                </a:solidFill>
                <a:latin typeface="Public Sans"/>
                <a:ea typeface="Public Sans"/>
                <a:cs typeface="Public Sans"/>
                <a:sym typeface="Public Sans"/>
              </a:rPr>
              <a:t>Cross-platform accessibility through a responsive React interface.</a:t>
            </a:r>
          </a:p>
        </p:txBody>
      </p:sp>
      <p:sp>
        <p:nvSpPr>
          <p:cNvPr id="16" name="TextBox 16"/>
          <p:cNvSpPr txBox="1"/>
          <p:nvPr/>
        </p:nvSpPr>
        <p:spPr>
          <a:xfrm>
            <a:off x="7930874" y="4004096"/>
            <a:ext cx="3789484" cy="915035"/>
          </a:xfrm>
          <a:prstGeom prst="rect">
            <a:avLst/>
          </a:prstGeom>
        </p:spPr>
        <p:txBody>
          <a:bodyPr lIns="0" tIns="0" rIns="0" bIns="0" rtlCol="0" anchor="t">
            <a:spAutoFit/>
          </a:bodyPr>
          <a:lstStyle/>
          <a:p>
            <a:pPr algn="l">
              <a:lnSpc>
                <a:spcPts val="3639"/>
              </a:lnSpc>
            </a:pPr>
            <a:r>
              <a:rPr lang="en-US" sz="2599">
                <a:solidFill>
                  <a:srgbClr val="FFFFFF"/>
                </a:solidFill>
                <a:latin typeface="Public Sans"/>
                <a:ea typeface="Public Sans"/>
                <a:cs typeface="Public Sans"/>
                <a:sym typeface="Public Sans"/>
              </a:rPr>
              <a:t>Real-time updates for book availability.</a:t>
            </a:r>
          </a:p>
        </p:txBody>
      </p:sp>
      <p:sp>
        <p:nvSpPr>
          <p:cNvPr id="17" name="TextBox 17"/>
          <p:cNvSpPr txBox="1"/>
          <p:nvPr/>
        </p:nvSpPr>
        <p:spPr>
          <a:xfrm>
            <a:off x="8283299" y="6401866"/>
            <a:ext cx="3437059" cy="1829435"/>
          </a:xfrm>
          <a:prstGeom prst="rect">
            <a:avLst/>
          </a:prstGeom>
        </p:spPr>
        <p:txBody>
          <a:bodyPr lIns="0" tIns="0" rIns="0" bIns="0" rtlCol="0" anchor="t">
            <a:spAutoFit/>
          </a:bodyPr>
          <a:lstStyle/>
          <a:p>
            <a:pPr algn="l">
              <a:lnSpc>
                <a:spcPts val="3639"/>
              </a:lnSpc>
            </a:pPr>
            <a:r>
              <a:rPr lang="en-US" sz="2599">
                <a:solidFill>
                  <a:srgbClr val="FFFFFF"/>
                </a:solidFill>
                <a:latin typeface="Public Sans"/>
                <a:ea typeface="Public Sans"/>
                <a:cs typeface="Public Sans"/>
                <a:sym typeface="Public Sans"/>
              </a:rPr>
              <a:t>Time-efficient workflows for book and member management.</a:t>
            </a:r>
          </a:p>
        </p:txBody>
      </p:sp>
      <p:sp>
        <p:nvSpPr>
          <p:cNvPr id="18" name="TextBox 18"/>
          <p:cNvSpPr txBox="1"/>
          <p:nvPr/>
        </p:nvSpPr>
        <p:spPr>
          <a:xfrm>
            <a:off x="14015125" y="3873976"/>
            <a:ext cx="3417799" cy="1372235"/>
          </a:xfrm>
          <a:prstGeom prst="rect">
            <a:avLst/>
          </a:prstGeom>
        </p:spPr>
        <p:txBody>
          <a:bodyPr lIns="0" tIns="0" rIns="0" bIns="0" rtlCol="0" anchor="t">
            <a:spAutoFit/>
          </a:bodyPr>
          <a:lstStyle/>
          <a:p>
            <a:pPr algn="l">
              <a:lnSpc>
                <a:spcPts val="3639"/>
              </a:lnSpc>
            </a:pPr>
            <a:r>
              <a:rPr lang="en-US" sz="2599">
                <a:solidFill>
                  <a:srgbClr val="FFFFFF"/>
                </a:solidFill>
                <a:latin typeface="Public Sans"/>
                <a:ea typeface="Public Sans"/>
                <a:cs typeface="Public Sans"/>
                <a:sym typeface="Public Sans"/>
              </a:rPr>
              <a:t>Scalable architecture suitable for growing libraries.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111230"/>
        </a:solidFill>
        <a:effectLst/>
      </p:bgPr>
    </p:bg>
    <p:spTree>
      <p:nvGrpSpPr>
        <p:cNvPr id="1" name=""/>
        <p:cNvGrpSpPr/>
        <p:nvPr/>
      </p:nvGrpSpPr>
      <p:grpSpPr>
        <a:xfrm>
          <a:off x="0" y="0"/>
          <a:ext cx="0" cy="0"/>
          <a:chOff x="0" y="0"/>
          <a:chExt cx="0" cy="0"/>
        </a:xfrm>
      </p:grpSpPr>
      <p:sp>
        <p:nvSpPr>
          <p:cNvPr id="2" name="TextBox 2"/>
          <p:cNvSpPr txBox="1"/>
          <p:nvPr/>
        </p:nvSpPr>
        <p:spPr>
          <a:xfrm>
            <a:off x="562064" y="1597694"/>
            <a:ext cx="14819650" cy="1095375"/>
          </a:xfrm>
          <a:prstGeom prst="rect">
            <a:avLst/>
          </a:prstGeom>
        </p:spPr>
        <p:txBody>
          <a:bodyPr lIns="0" tIns="0" rIns="0" bIns="0" rtlCol="0" anchor="t">
            <a:spAutoFit/>
          </a:bodyPr>
          <a:lstStyle/>
          <a:p>
            <a:pPr algn="l">
              <a:lnSpc>
                <a:spcPts val="8520"/>
              </a:lnSpc>
            </a:pPr>
            <a:r>
              <a:rPr lang="en-US" sz="7100" b="1">
                <a:solidFill>
                  <a:srgbClr val="FFFFFF"/>
                </a:solidFill>
                <a:latin typeface="Public Sans Bold"/>
                <a:ea typeface="Public Sans Bold"/>
                <a:cs typeface="Public Sans Bold"/>
                <a:sym typeface="Public Sans Bold"/>
              </a:rPr>
              <a:t>Conclusion </a:t>
            </a:r>
          </a:p>
        </p:txBody>
      </p:sp>
      <p:sp>
        <p:nvSpPr>
          <p:cNvPr id="3" name="TextBox 3"/>
          <p:cNvSpPr txBox="1"/>
          <p:nvPr/>
        </p:nvSpPr>
        <p:spPr>
          <a:xfrm>
            <a:off x="562064" y="3414960"/>
            <a:ext cx="17163873" cy="4705350"/>
          </a:xfrm>
          <a:prstGeom prst="rect">
            <a:avLst/>
          </a:prstGeom>
        </p:spPr>
        <p:txBody>
          <a:bodyPr lIns="0" tIns="0" rIns="0" bIns="0" rtlCol="0" anchor="t">
            <a:spAutoFit/>
          </a:bodyPr>
          <a:lstStyle/>
          <a:p>
            <a:pPr algn="just">
              <a:lnSpc>
                <a:spcPts val="4199"/>
              </a:lnSpc>
              <a:spcBef>
                <a:spcPct val="0"/>
              </a:spcBef>
            </a:pPr>
            <a:r>
              <a:rPr lang="en-US" sz="2999">
                <a:solidFill>
                  <a:srgbClr val="FFFFFF"/>
                </a:solidFill>
                <a:latin typeface="Public Sans"/>
                <a:ea typeface="Public Sans"/>
                <a:cs typeface="Public Sans"/>
                <a:sym typeface="Public Sans"/>
              </a:rPr>
              <a:t>This comprehensive Smart Library Management System integrates Python, Django, React, and SQLite to create a reliable and user-friendly solution. The backend, built with Python's object-oriented design and file handling, ensures the system is well-organized and easy to maintain. A smooth and responsive interface is provided by the seamless integration of React and Django, while SQLite guarantees efficient data storage and quick access. Ultimately, the system improves accessibility and simplifies daily tasks for librarians, members, and administrators, and its scalable and flexible design allows for future enhancements like role-based access, advanced search, and analytics.</a:t>
            </a:r>
          </a:p>
          <a:p>
            <a:pPr algn="just">
              <a:lnSpc>
                <a:spcPts val="4199"/>
              </a:lnSpc>
              <a:spcBef>
                <a:spcPct val="0"/>
              </a:spcBef>
            </a:pPr>
            <a:endParaRPr lang="en-US" sz="2999">
              <a:solidFill>
                <a:srgbClr val="FFFFFF"/>
              </a:solidFill>
              <a:latin typeface="Public Sans"/>
              <a:ea typeface="Public Sans"/>
              <a:cs typeface="Public Sans"/>
              <a:sym typeface="Public San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111230"/>
        </a:solidFill>
        <a:effectLst/>
      </p:bgPr>
    </p:bg>
    <p:spTree>
      <p:nvGrpSpPr>
        <p:cNvPr id="1" name=""/>
        <p:cNvGrpSpPr/>
        <p:nvPr/>
      </p:nvGrpSpPr>
      <p:grpSpPr>
        <a:xfrm>
          <a:off x="0" y="0"/>
          <a:ext cx="0" cy="0"/>
          <a:chOff x="0" y="0"/>
          <a:chExt cx="0" cy="0"/>
        </a:xfrm>
      </p:grpSpPr>
      <p:sp>
        <p:nvSpPr>
          <p:cNvPr id="2" name="TextBox 2"/>
          <p:cNvSpPr txBox="1"/>
          <p:nvPr/>
        </p:nvSpPr>
        <p:spPr>
          <a:xfrm>
            <a:off x="2115753" y="3102657"/>
            <a:ext cx="14621173" cy="3344742"/>
          </a:xfrm>
          <a:prstGeom prst="rect">
            <a:avLst/>
          </a:prstGeom>
        </p:spPr>
        <p:txBody>
          <a:bodyPr lIns="0" tIns="0" rIns="0" bIns="0" rtlCol="0" anchor="t">
            <a:spAutoFit/>
          </a:bodyPr>
          <a:lstStyle/>
          <a:p>
            <a:pPr algn="ctr">
              <a:lnSpc>
                <a:spcPts val="27219"/>
              </a:lnSpc>
              <a:spcBef>
                <a:spcPct val="0"/>
              </a:spcBef>
            </a:pPr>
            <a:r>
              <a:rPr lang="en-US" sz="19442" b="1">
                <a:solidFill>
                  <a:srgbClr val="FFFFFF"/>
                </a:solidFill>
                <a:latin typeface="Public Sans Bold"/>
                <a:ea typeface="Public Sans Bold"/>
                <a:cs typeface="Public Sans Bold"/>
                <a:sym typeface="Public Sa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2160</Words>
  <Application>Microsoft Macintosh PowerPoint</Application>
  <PresentationFormat>Custom</PresentationFormat>
  <Paragraphs>299</Paragraphs>
  <Slides>41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Public Sans Bold</vt:lpstr>
      <vt:lpstr>Calibri</vt:lpstr>
      <vt:lpstr>Canva Sans Bold</vt:lpstr>
      <vt:lpstr>Public Sans</vt:lpstr>
      <vt:lpstr>Canva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Dark Grey and White Simple and Professional Motivation Workshop Webinar Keynote Presentation</dc:title>
  <cp:lastModifiedBy>Gagana H</cp:lastModifiedBy>
  <cp:revision>1</cp:revision>
  <dcterms:created xsi:type="dcterms:W3CDTF">2006-08-16T00:00:00Z</dcterms:created>
  <dcterms:modified xsi:type="dcterms:W3CDTF">2025-09-12T17:53:37Z</dcterms:modified>
  <dc:identifier>DAGydcKYbFc</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name="NXPowerLiteLastOptimized" pid="2">
    <vt:lpwstr>2215175</vt:lpwstr>
  </property>
  <property fmtid="{D5CDD505-2E9C-101B-9397-08002B2CF9AE}" name="NXPowerLiteSettings" pid="3">
    <vt:lpwstr>F7000400038000</vt:lpwstr>
  </property>
  <property fmtid="{D5CDD505-2E9C-101B-9397-08002B2CF9AE}" name="NXPowerLiteVersion" pid="4">
    <vt:lpwstr>S10.9.0</vt:lpwstr>
  </property>
</Properties>
</file>