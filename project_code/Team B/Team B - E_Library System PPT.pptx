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Default Extension="wdp" ContentType="image/vnd.ms-photo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59" r:id="rId5"/>
    <p:sldId id="292" r:id="rId6"/>
    <p:sldId id="262" r:id="rId7"/>
    <p:sldId id="265" r:id="rId8"/>
    <p:sldId id="297" r:id="rId9"/>
    <p:sldId id="300" r:id="rId10"/>
    <p:sldId id="266" r:id="rId11"/>
    <p:sldId id="299" r:id="rId12"/>
    <p:sldId id="301" r:id="rId13"/>
    <p:sldId id="295" r:id="rId14"/>
    <p:sldId id="302" r:id="rId15"/>
    <p:sldId id="279" r:id="rId16"/>
    <p:sldId id="280" r:id="rId17"/>
    <p:sldId id="267" r:id="rId18"/>
    <p:sldId id="269" r:id="rId19"/>
    <p:sldId id="271" r:id="rId20"/>
    <p:sldId id="270" r:id="rId21"/>
    <p:sldId id="268" r:id="rId22"/>
    <p:sldId id="296" r:id="rId23"/>
    <p:sldId id="275" r:id="rId24"/>
    <p:sldId id="274" r:id="rId25"/>
    <p:sldId id="298" r:id="rId26"/>
    <p:sldId id="273" r:id="rId27"/>
    <p:sldId id="281" r:id="rId28"/>
    <p:sldId id="282" r:id="rId29"/>
    <p:sldId id="283" r:id="rId30"/>
    <p:sldId id="284" r:id="rId31"/>
    <p:sldId id="285" r:id="rId32"/>
  </p:sldIdLst>
  <p:sldSz cx="18288000" cy="10287000"/>
  <p:notesSz cx="6858000" cy="9144000"/>
  <p:embeddedFontLst>
    <p:embeddedFont>
      <p:font typeface="Arimo" charset="0"/>
      <p:regular r:id="rId35"/>
    </p:embeddedFont>
    <p:embeddedFont>
      <p:font typeface="Calibri" pitchFamily="34" charset="0"/>
      <p:regular r:id="rId36"/>
      <p:bold r:id="rId37"/>
      <p:italic r:id="rId38"/>
      <p:boldItalic r:id="rId39"/>
    </p:embeddedFont>
    <p:embeddedFont>
      <p:font typeface="Arimo Bold" charset="0"/>
      <p:regular r:id="rId40"/>
    </p:embeddedFont>
    <p:embeddedFont>
      <p:font typeface="Poppins ExtraBold" charset="0"/>
      <p:bold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51329"/>
    <a:srgbClr val="823C9D"/>
    <a:srgbClr val="0F0818"/>
    <a:srgbClr val="180229"/>
    <a:srgbClr val="06000C"/>
    <a:srgbClr val="07010F"/>
    <a:srgbClr val="020103"/>
    <a:srgbClr val="150B23"/>
    <a:srgbClr val="180523"/>
    <a:srgbClr val="19062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628" autoAdjust="0"/>
    <p:restoredTop sz="94622" autoAdjust="0"/>
  </p:normalViewPr>
  <p:slideViewPr>
    <p:cSldViewPr>
      <p:cViewPr varScale="1">
        <p:scale>
          <a:sx n="45" d="100"/>
          <a:sy n="45" d="100"/>
        </p:scale>
        <p:origin x="-114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3F50C-8B5E-4233-BC92-18C373EDAF60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83B58-A84D-4831-9544-2C4F3C807F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16.09.2025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=""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dbd4967bc8_1_29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dbd4967bc8_1_29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dbd4967bc8_1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dbd4967bc8_1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5055-F124-4986-9AFA-46DCEC6DB93D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F91F3-3A54-457C-A80D-608102C0AE93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D00A-7CE7-4B91-8A27-6EE03A4F169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C68F-DCED-4B18-8A57-5CC33516B500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0FC3-9615-4D40-BE5A-19B630B24AC0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935DA-BE13-439D-9E2E-FF92E9925D5C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F9BBB-16B0-42F1-84C8-4134B9B3BB5E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2331F-B14F-42AA-9EE5-F3E52196D2E4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02E11-7C8B-4F7A-B410-E430D91786E1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6D97-747C-4BD3-8BC1-84B517FC20F7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9ED9-756B-489B-A5B6-2764E421CC0F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>
            <a:spLocks noGrp="1"/>
          </p:cNvSpPr>
          <p:nvPr>
            <p:ph type="title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1"/>
          </p:nvPr>
        </p:nvSpPr>
        <p:spPr>
          <a:xfrm>
            <a:off x="1745000" y="8279400"/>
            <a:ext cx="4679400" cy="12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2"/>
          </p:nvPr>
        </p:nvSpPr>
        <p:spPr>
          <a:xfrm>
            <a:off x="1744802" y="7250150"/>
            <a:ext cx="46794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1550" y="7230559"/>
            <a:ext cx="3727000" cy="2911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4100" y="121809"/>
            <a:ext cx="3727000" cy="2911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51" y="7650000"/>
            <a:ext cx="3727002" cy="23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>
            <a:spLocks noGrp="1"/>
          </p:cNvSpPr>
          <p:nvPr>
            <p:ph type="subTitle" idx="3"/>
          </p:nvPr>
        </p:nvSpPr>
        <p:spPr>
          <a:xfrm>
            <a:off x="6804400" y="8279400"/>
            <a:ext cx="4679400" cy="12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subTitle" idx="4"/>
          </p:nvPr>
        </p:nvSpPr>
        <p:spPr>
          <a:xfrm>
            <a:off x="6804202" y="7250150"/>
            <a:ext cx="46794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subTitle" idx="5"/>
          </p:nvPr>
        </p:nvSpPr>
        <p:spPr>
          <a:xfrm>
            <a:off x="11863800" y="8279400"/>
            <a:ext cx="4679400" cy="12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subTitle" idx="6"/>
          </p:nvPr>
        </p:nvSpPr>
        <p:spPr>
          <a:xfrm>
            <a:off x="11863602" y="7250150"/>
            <a:ext cx="46794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ubTitle" idx="7"/>
          </p:nvPr>
        </p:nvSpPr>
        <p:spPr>
          <a:xfrm>
            <a:off x="1745000" y="4742176"/>
            <a:ext cx="4679400" cy="12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8"/>
          </p:nvPr>
        </p:nvSpPr>
        <p:spPr>
          <a:xfrm>
            <a:off x="1744802" y="3712926"/>
            <a:ext cx="46794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9"/>
          </p:nvPr>
        </p:nvSpPr>
        <p:spPr>
          <a:xfrm>
            <a:off x="6804400" y="4742176"/>
            <a:ext cx="4679400" cy="12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13"/>
          </p:nvPr>
        </p:nvSpPr>
        <p:spPr>
          <a:xfrm>
            <a:off x="6804202" y="3712926"/>
            <a:ext cx="46794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subTitle" idx="14"/>
          </p:nvPr>
        </p:nvSpPr>
        <p:spPr>
          <a:xfrm>
            <a:off x="11863800" y="4742176"/>
            <a:ext cx="4679400" cy="12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ubTitle" idx="15"/>
          </p:nvPr>
        </p:nvSpPr>
        <p:spPr>
          <a:xfrm>
            <a:off x="11863602" y="3712926"/>
            <a:ext cx="46794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Poppins ExtraBold"/>
              <a:buNone/>
              <a:defRPr sz="4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5484024" y="-108074"/>
            <a:ext cx="3019952" cy="31416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5"/>
          <p:cNvCxnSpPr/>
          <p:nvPr/>
        </p:nvCxnSpPr>
        <p:spPr>
          <a:xfrm>
            <a:off x="1440000" y="2153950"/>
            <a:ext cx="1348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pic>
        <p:nvPicPr>
          <p:cNvPr id="157" name="Google Shape;15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28001" y="1533500"/>
            <a:ext cx="1240850" cy="1240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032068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>
            <a:spLocks noGrp="1"/>
          </p:cNvSpPr>
          <p:nvPr>
            <p:ph type="title"/>
          </p:nvPr>
        </p:nvSpPr>
        <p:spPr>
          <a:xfrm>
            <a:off x="1440000" y="890050"/>
            <a:ext cx="154080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1550" y="7230559"/>
            <a:ext cx="3727000" cy="2911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4100" y="121809"/>
            <a:ext cx="3727000" cy="2911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51" y="7650000"/>
            <a:ext cx="3727002" cy="23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>
            <a:spLocks noGrp="1"/>
          </p:cNvSpPr>
          <p:nvPr>
            <p:ph type="subTitle" idx="1"/>
          </p:nvPr>
        </p:nvSpPr>
        <p:spPr>
          <a:xfrm>
            <a:off x="1912300" y="4271250"/>
            <a:ext cx="6492000" cy="24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14" name="Google Shape;2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5484024" y="-108074"/>
            <a:ext cx="3019952" cy="31416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0"/>
          <p:cNvCxnSpPr/>
          <p:nvPr/>
        </p:nvCxnSpPr>
        <p:spPr>
          <a:xfrm>
            <a:off x="1440000" y="2153950"/>
            <a:ext cx="1348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pic>
        <p:nvPicPr>
          <p:cNvPr id="216" name="Google Shape;2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28001" y="1533500"/>
            <a:ext cx="1240850" cy="1240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385700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121E9-9EA4-47BB-A534-7AF6FB0216FA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2.jpe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2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8.png"/><Relationship Id="rId10" Type="http://schemas.openxmlformats.org/officeDocument/2006/relationships/image" Target="../media/image30.svg"/><Relationship Id="rId4" Type="http://schemas.openxmlformats.org/officeDocument/2006/relationships/image" Target="../media/image5.png"/><Relationship Id="rId9" Type="http://schemas.openxmlformats.org/officeDocument/2006/relationships/image" Target="../media/image30.png"/><Relationship Id="rId14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5.png"/><Relationship Id="rId5" Type="http://schemas.openxmlformats.org/officeDocument/2006/relationships/image" Target="../media/image17.png"/><Relationship Id="rId10" Type="http://schemas.openxmlformats.org/officeDocument/2006/relationships/image" Target="../media/image38.svg"/><Relationship Id="rId4" Type="http://schemas.openxmlformats.org/officeDocument/2006/relationships/image" Target="../media/image5.png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jpe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8.jpe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jpe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e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13" Type="http://schemas.openxmlformats.org/officeDocument/2006/relationships/image" Target="../media/image50.png"/><Relationship Id="rId3" Type="http://schemas.openxmlformats.org/officeDocument/2006/relationships/image" Target="../media/image6.png"/><Relationship Id="rId7" Type="http://schemas.openxmlformats.org/officeDocument/2006/relationships/image" Target="../media/image47.png"/><Relationship Id="rId12" Type="http://schemas.openxmlformats.org/officeDocument/2006/relationships/image" Target="../media/image5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9.png"/><Relationship Id="rId5" Type="http://schemas.openxmlformats.org/officeDocument/2006/relationships/image" Target="../media/image17.png"/><Relationship Id="rId10" Type="http://schemas.openxmlformats.org/officeDocument/2006/relationships/image" Target="../media/image55.svg"/><Relationship Id="rId4" Type="http://schemas.openxmlformats.org/officeDocument/2006/relationships/image" Target="../media/image5.png"/><Relationship Id="rId9" Type="http://schemas.openxmlformats.org/officeDocument/2006/relationships/image" Target="../media/image48.png"/><Relationship Id="rId14" Type="http://schemas.openxmlformats.org/officeDocument/2006/relationships/image" Target="../media/image5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259850" y="205550"/>
            <a:ext cx="5833100" cy="3730400"/>
          </a:xfrm>
          <a:custGeom>
            <a:avLst/>
            <a:gdLst/>
            <a:ahLst/>
            <a:cxnLst/>
            <a:rect l="l" t="t" r="r" b="b"/>
            <a:pathLst>
              <a:path w="5833100" h="3730400">
                <a:moveTo>
                  <a:pt x="5833100" y="0"/>
                </a:moveTo>
                <a:lnTo>
                  <a:pt x="0" y="0"/>
                </a:lnTo>
                <a:lnTo>
                  <a:pt x="0" y="3730400"/>
                </a:lnTo>
                <a:lnTo>
                  <a:pt x="5833100" y="3730400"/>
                </a:lnTo>
                <a:lnTo>
                  <a:pt x="58331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07500" y="5604400"/>
            <a:ext cx="5669198" cy="4429102"/>
          </a:xfrm>
          <a:custGeom>
            <a:avLst/>
            <a:gdLst/>
            <a:ahLst/>
            <a:cxnLst/>
            <a:rect l="l" t="t" r="r" b="b"/>
            <a:pathLst>
              <a:path w="5669198" h="4429102">
                <a:moveTo>
                  <a:pt x="0" y="0"/>
                </a:moveTo>
                <a:lnTo>
                  <a:pt x="5669198" y="0"/>
                </a:lnTo>
                <a:lnTo>
                  <a:pt x="5669198" y="4429102"/>
                </a:lnTo>
                <a:lnTo>
                  <a:pt x="0" y="4429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91450" y="205550"/>
            <a:ext cx="5485250" cy="3500600"/>
          </a:xfrm>
          <a:custGeom>
            <a:avLst/>
            <a:gdLst/>
            <a:ahLst/>
            <a:cxnLst/>
            <a:rect l="l" t="t" r="r" b="b"/>
            <a:pathLst>
              <a:path w="5485250" h="3500600">
                <a:moveTo>
                  <a:pt x="0" y="0"/>
                </a:moveTo>
                <a:lnTo>
                  <a:pt x="5485250" y="0"/>
                </a:lnTo>
                <a:lnTo>
                  <a:pt x="5485250" y="3500600"/>
                </a:lnTo>
                <a:lnTo>
                  <a:pt x="0" y="3500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9850" y="6470150"/>
            <a:ext cx="5571890" cy="3563350"/>
          </a:xfrm>
          <a:custGeom>
            <a:avLst/>
            <a:gdLst/>
            <a:ahLst/>
            <a:cxnLst/>
            <a:rect l="l" t="t" r="r" b="b"/>
            <a:pathLst>
              <a:path w="5571890" h="3563350">
                <a:moveTo>
                  <a:pt x="0" y="0"/>
                </a:moveTo>
                <a:lnTo>
                  <a:pt x="5571890" y="0"/>
                </a:lnTo>
                <a:lnTo>
                  <a:pt x="5571890" y="3563350"/>
                </a:lnTo>
                <a:lnTo>
                  <a:pt x="0" y="3563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40000" y="1080000"/>
            <a:ext cx="2009048" cy="2009048"/>
            <a:chOff x="0" y="0"/>
            <a:chExt cx="2678731" cy="2678731"/>
          </a:xfrm>
        </p:grpSpPr>
        <p:sp>
          <p:nvSpPr>
            <p:cNvPr id="7" name="Freeform 7"/>
            <p:cNvSpPr/>
            <p:nvPr/>
          </p:nvSpPr>
          <p:spPr>
            <a:xfrm>
              <a:off x="254" y="254"/>
              <a:ext cx="2678303" cy="2678303"/>
            </a:xfrm>
            <a:custGeom>
              <a:avLst/>
              <a:gdLst/>
              <a:ahLst/>
              <a:cxnLst/>
              <a:rect l="l" t="t" r="r" b="b"/>
              <a:pathLst>
                <a:path w="2678303" h="2678303">
                  <a:moveTo>
                    <a:pt x="0" y="0"/>
                  </a:moveTo>
                  <a:lnTo>
                    <a:pt x="0" y="2678303"/>
                  </a:lnTo>
                  <a:lnTo>
                    <a:pt x="288544" y="2678303"/>
                  </a:lnTo>
                  <a:lnTo>
                    <a:pt x="288544" y="284861"/>
                  </a:lnTo>
                  <a:lnTo>
                    <a:pt x="2678303" y="284861"/>
                  </a:lnTo>
                  <a:lnTo>
                    <a:pt x="267830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 rot="-10800000">
            <a:off x="14839676" y="7180976"/>
            <a:ext cx="2008324" cy="2008324"/>
            <a:chOff x="0" y="0"/>
            <a:chExt cx="2677765" cy="2677765"/>
          </a:xfrm>
        </p:grpSpPr>
        <p:sp>
          <p:nvSpPr>
            <p:cNvPr id="9" name="Freeform 9"/>
            <p:cNvSpPr/>
            <p:nvPr/>
          </p:nvSpPr>
          <p:spPr>
            <a:xfrm>
              <a:off x="254" y="254"/>
              <a:ext cx="2677287" cy="2677287"/>
            </a:xfrm>
            <a:custGeom>
              <a:avLst/>
              <a:gdLst/>
              <a:ahLst/>
              <a:cxnLst/>
              <a:rect l="l" t="t" r="r" b="b"/>
              <a:pathLst>
                <a:path w="2677287" h="2677287">
                  <a:moveTo>
                    <a:pt x="0" y="0"/>
                  </a:moveTo>
                  <a:lnTo>
                    <a:pt x="0" y="2677287"/>
                  </a:lnTo>
                  <a:lnTo>
                    <a:pt x="288417" y="2677287"/>
                  </a:lnTo>
                  <a:lnTo>
                    <a:pt x="288417" y="284734"/>
                  </a:lnTo>
                  <a:lnTo>
                    <a:pt x="2677287" y="284734"/>
                  </a:lnTo>
                  <a:lnTo>
                    <a:pt x="267728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Freeform 10"/>
          <p:cNvSpPr/>
          <p:nvPr/>
        </p:nvSpPr>
        <p:spPr>
          <a:xfrm flipH="1">
            <a:off x="14604784" y="-67450"/>
            <a:ext cx="3910420" cy="4067948"/>
          </a:xfrm>
          <a:custGeom>
            <a:avLst/>
            <a:gdLst/>
            <a:ahLst/>
            <a:cxnLst/>
            <a:rect l="l" t="t" r="r" b="b"/>
            <a:pathLst>
              <a:path w="3910420" h="4067948">
                <a:moveTo>
                  <a:pt x="3910420" y="0"/>
                </a:moveTo>
                <a:lnTo>
                  <a:pt x="0" y="0"/>
                </a:lnTo>
                <a:lnTo>
                  <a:pt x="0" y="4067948"/>
                </a:lnTo>
                <a:lnTo>
                  <a:pt x="3910420" y="4067948"/>
                </a:lnTo>
                <a:lnTo>
                  <a:pt x="391042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5400000">
            <a:off x="-15666" y="6522250"/>
            <a:ext cx="3910420" cy="4067948"/>
          </a:xfrm>
          <a:custGeom>
            <a:avLst/>
            <a:gdLst/>
            <a:ahLst/>
            <a:cxnLst/>
            <a:rect l="l" t="t" r="r" b="b"/>
            <a:pathLst>
              <a:path w="3910420" h="4067948">
                <a:moveTo>
                  <a:pt x="0" y="0"/>
                </a:moveTo>
                <a:lnTo>
                  <a:pt x="3910420" y="0"/>
                </a:lnTo>
                <a:lnTo>
                  <a:pt x="3910420" y="4067948"/>
                </a:lnTo>
                <a:lnTo>
                  <a:pt x="0" y="4067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42939" y="3533775"/>
            <a:ext cx="12601950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E-LIBRARY SYSTEM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42925" y="6848600"/>
            <a:ext cx="1260195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Presented </a:t>
            </a:r>
            <a:r>
              <a:rPr lang="en-US" sz="32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By : Raksha G A &amp; Shreya Gore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>
          <a:xfrm rot="-10800000" flipH="1">
            <a:off x="0" y="8358210"/>
            <a:ext cx="2285952" cy="1928790"/>
          </a:xfrm>
          <a:custGeom>
            <a:avLst/>
            <a:gdLst/>
            <a:ahLst/>
            <a:cxnLst/>
            <a:rect l="l" t="t" r="r" b="b"/>
            <a:pathLst>
              <a:path w="3569848" h="3713700">
                <a:moveTo>
                  <a:pt x="3569848" y="0"/>
                </a:moveTo>
                <a:lnTo>
                  <a:pt x="0" y="0"/>
                </a:lnTo>
                <a:lnTo>
                  <a:pt x="0" y="3713700"/>
                </a:lnTo>
                <a:lnTo>
                  <a:pt x="3569848" y="3713700"/>
                </a:lnTo>
                <a:lnTo>
                  <a:pt x="3569848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-61175"/>
            <a:ext cx="9017646" cy="10409350"/>
          </a:xfrm>
          <a:prstGeom prst="rect">
            <a:avLst/>
          </a:prstGeom>
          <a:solidFill>
            <a:srgbClr val="1C1A41">
              <a:alpha val="0"/>
            </a:srgbClr>
          </a:solidFill>
        </p:spPr>
      </p:sp>
      <p:sp>
        <p:nvSpPr>
          <p:cNvPr id="5" name="TextBox 5"/>
          <p:cNvSpPr txBox="1"/>
          <p:nvPr/>
        </p:nvSpPr>
        <p:spPr>
          <a:xfrm>
            <a:off x="6551712" y="837168"/>
            <a:ext cx="5975359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6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5315" y="2263180"/>
            <a:ext cx="8181670" cy="6853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9791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Libraries need a simple way to manage their collection of books and members.</a:t>
            </a:r>
          </a:p>
          <a:p>
            <a:pPr marL="859791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This project is both a console-based (menu-driven) and web-based application.</a:t>
            </a:r>
          </a:p>
          <a:p>
            <a:pPr marL="859791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It automates book issuing, returning, and fine calculation.</a:t>
            </a:r>
          </a:p>
          <a:p>
            <a:pPr marL="690881" lvl="1" indent="-345440" algn="just">
              <a:lnSpc>
                <a:spcPct val="15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Built as a Full-Stack Application: </a:t>
            </a:r>
          </a:p>
          <a:p>
            <a:pPr marL="859791" lvl="1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Backend: Python (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Django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+ REST API) </a:t>
            </a:r>
          </a:p>
          <a:p>
            <a:pPr marL="859791" lvl="1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Frontend: React.js (with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Axios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) </a:t>
            </a:r>
          </a:p>
          <a:p>
            <a:pPr marL="859791" lvl="1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Database: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SQLite</a:t>
            </a:r>
            <a:endParaRPr lang="en-US" sz="30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</p:txBody>
      </p:sp>
      <p:sp>
        <p:nvSpPr>
          <p:cNvPr id="10" name="AutoShape 4" descr="Generated image">
            <a:extLst>
              <a:ext uri="{FF2B5EF4-FFF2-40B4-BE49-F238E27FC236}">
                <a16:creationId xmlns="" xmlns:a16="http://schemas.microsoft.com/office/drawing/2014/main" id="{7B2000A2-8290-2B6D-3481-272A24F47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6553200" cy="6553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FE69C741-C981-F854-7AB3-B572FFC29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493" b="9983"/>
          <a:stretch>
            <a:fillRect/>
          </a:stretch>
        </p:blipFill>
        <p:spPr>
          <a:xfrm>
            <a:off x="9270356" y="2427163"/>
            <a:ext cx="8610006" cy="7108825"/>
          </a:xfrm>
          <a:prstGeom prst="rect">
            <a:avLst/>
          </a:prstGeom>
        </p:spPr>
      </p:pic>
      <p:sp>
        <p:nvSpPr>
          <p:cNvPr id="7" name="Freeform 3"/>
          <p:cNvSpPr/>
          <p:nvPr/>
        </p:nvSpPr>
        <p:spPr>
          <a:xfrm rot="-10800000">
            <a:off x="0" y="0"/>
            <a:ext cx="2660480" cy="1521230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3"/>
          <p:cNvSpPr/>
          <p:nvPr/>
        </p:nvSpPr>
        <p:spPr>
          <a:xfrm rot="-10800000">
            <a:off x="0" y="8429648"/>
            <a:ext cx="3643274" cy="185735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3"/>
          <p:cNvSpPr/>
          <p:nvPr/>
        </p:nvSpPr>
        <p:spPr>
          <a:xfrm rot="-10800000">
            <a:off x="14644725" y="8429648"/>
            <a:ext cx="3643274" cy="185735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3"/>
          <p:cNvSpPr/>
          <p:nvPr/>
        </p:nvSpPr>
        <p:spPr>
          <a:xfrm rot="-10800000">
            <a:off x="14644726" y="1"/>
            <a:ext cx="3643274" cy="185735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3"/>
          <p:cNvSpPr/>
          <p:nvPr/>
        </p:nvSpPr>
        <p:spPr>
          <a:xfrm rot="-10800000">
            <a:off x="5357785" y="8429648"/>
            <a:ext cx="6500858" cy="185735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31550" y="7312950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54100" y="121808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800" y="7786121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0" y="0"/>
                </a:moveTo>
                <a:lnTo>
                  <a:pt x="3727002" y="0"/>
                </a:lnTo>
                <a:lnTo>
                  <a:pt x="3727002" y="2383500"/>
                </a:lnTo>
                <a:lnTo>
                  <a:pt x="0" y="238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433736" y="-102000"/>
            <a:ext cx="3569848" cy="3713700"/>
          </a:xfrm>
          <a:custGeom>
            <a:avLst/>
            <a:gdLst/>
            <a:ahLst/>
            <a:cxnLst/>
            <a:rect l="l" t="t" r="r" b="b"/>
            <a:pathLst>
              <a:path w="3569848" h="3713700">
                <a:moveTo>
                  <a:pt x="3569848" y="0"/>
                </a:moveTo>
                <a:lnTo>
                  <a:pt x="0" y="0"/>
                </a:lnTo>
                <a:lnTo>
                  <a:pt x="0" y="3713700"/>
                </a:lnTo>
                <a:lnTo>
                  <a:pt x="3569848" y="3713700"/>
                </a:lnTo>
                <a:lnTo>
                  <a:pt x="3569848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-137096" y="7603934"/>
            <a:ext cx="3569848" cy="3713700"/>
          </a:xfrm>
          <a:custGeom>
            <a:avLst/>
            <a:gdLst/>
            <a:ahLst/>
            <a:cxnLst/>
            <a:rect l="l" t="t" r="r" b="b"/>
            <a:pathLst>
              <a:path w="3569848" h="3713700">
                <a:moveTo>
                  <a:pt x="3569848" y="0"/>
                </a:moveTo>
                <a:lnTo>
                  <a:pt x="0" y="0"/>
                </a:lnTo>
                <a:lnTo>
                  <a:pt x="0" y="3713700"/>
                </a:lnTo>
                <a:lnTo>
                  <a:pt x="3569848" y="3713700"/>
                </a:lnTo>
                <a:lnTo>
                  <a:pt x="3569848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27992" y="1008550"/>
            <a:ext cx="2290668" cy="2290800"/>
          </a:xfrm>
          <a:custGeom>
            <a:avLst/>
            <a:gdLst/>
            <a:ahLst/>
            <a:cxnLst/>
            <a:rect l="l" t="t" r="r" b="b"/>
            <a:pathLst>
              <a:path w="2290668" h="2290800">
                <a:moveTo>
                  <a:pt x="0" y="0"/>
                </a:moveTo>
                <a:lnTo>
                  <a:pt x="2290668" y="0"/>
                </a:lnTo>
                <a:lnTo>
                  <a:pt x="2290668" y="2290800"/>
                </a:lnTo>
                <a:lnTo>
                  <a:pt x="0" y="2290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5900" y="2230150"/>
            <a:ext cx="1769850" cy="1769892"/>
          </a:xfrm>
          <a:custGeom>
            <a:avLst/>
            <a:gdLst/>
            <a:ahLst/>
            <a:cxnLst/>
            <a:rect l="l" t="t" r="r" b="b"/>
            <a:pathLst>
              <a:path w="1769850" h="1769892">
                <a:moveTo>
                  <a:pt x="0" y="0"/>
                </a:moveTo>
                <a:lnTo>
                  <a:pt x="1769850" y="0"/>
                </a:lnTo>
                <a:lnTo>
                  <a:pt x="1769850" y="1769892"/>
                </a:lnTo>
                <a:lnTo>
                  <a:pt x="0" y="1769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r="-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60200" y="2230150"/>
            <a:ext cx="1769850" cy="1769892"/>
          </a:xfrm>
          <a:custGeom>
            <a:avLst/>
            <a:gdLst/>
            <a:ahLst/>
            <a:cxnLst/>
            <a:rect l="l" t="t" r="r" b="b"/>
            <a:pathLst>
              <a:path w="1769850" h="1769892">
                <a:moveTo>
                  <a:pt x="0" y="0"/>
                </a:moveTo>
                <a:lnTo>
                  <a:pt x="1769850" y="0"/>
                </a:lnTo>
                <a:lnTo>
                  <a:pt x="1769850" y="1769892"/>
                </a:lnTo>
                <a:lnTo>
                  <a:pt x="0" y="1769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r="-1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05900" y="7405463"/>
            <a:ext cx="1769850" cy="1769892"/>
          </a:xfrm>
          <a:custGeom>
            <a:avLst/>
            <a:gdLst/>
            <a:ahLst/>
            <a:cxnLst/>
            <a:rect l="l" t="t" r="r" b="b"/>
            <a:pathLst>
              <a:path w="1769850" h="1769892">
                <a:moveTo>
                  <a:pt x="0" y="0"/>
                </a:moveTo>
                <a:lnTo>
                  <a:pt x="1769850" y="0"/>
                </a:lnTo>
                <a:lnTo>
                  <a:pt x="1769850" y="1769892"/>
                </a:lnTo>
                <a:lnTo>
                  <a:pt x="0" y="1769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r="-1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360200" y="7405463"/>
            <a:ext cx="1769850" cy="1769892"/>
          </a:xfrm>
          <a:custGeom>
            <a:avLst/>
            <a:gdLst/>
            <a:ahLst/>
            <a:cxnLst/>
            <a:rect l="l" t="t" r="r" b="b"/>
            <a:pathLst>
              <a:path w="1769850" h="1769892">
                <a:moveTo>
                  <a:pt x="0" y="0"/>
                </a:moveTo>
                <a:lnTo>
                  <a:pt x="1769850" y="0"/>
                </a:lnTo>
                <a:lnTo>
                  <a:pt x="1769850" y="1769892"/>
                </a:lnTo>
                <a:lnTo>
                  <a:pt x="0" y="1769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r="-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1425" y="819550"/>
            <a:ext cx="1522515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OBJECTIVES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9025" y="2491979"/>
            <a:ext cx="25129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57225" y="2768163"/>
            <a:ext cx="5486775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To create a simple computer-based library system.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98175" y="2491979"/>
            <a:ext cx="25129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15825" y="2791100"/>
            <a:ext cx="526785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To store and manage details of books and users.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175" y="7716388"/>
            <a:ext cx="25129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87212" y="7747484"/>
            <a:ext cx="514635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To automatically calculate fines for late returns.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88650" y="7716388"/>
            <a:ext cx="25129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06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36537" y="7611613"/>
            <a:ext cx="606075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To develop a user-friendly web interface for easy access and management of the library system.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05112" y="4901804"/>
            <a:ext cx="1769850" cy="1769892"/>
          </a:xfrm>
          <a:custGeom>
            <a:avLst/>
            <a:gdLst/>
            <a:ahLst/>
            <a:cxnLst/>
            <a:rect l="l" t="t" r="r" b="b"/>
            <a:pathLst>
              <a:path w="1769850" h="1769892">
                <a:moveTo>
                  <a:pt x="0" y="0"/>
                </a:moveTo>
                <a:lnTo>
                  <a:pt x="1769850" y="0"/>
                </a:lnTo>
                <a:lnTo>
                  <a:pt x="1769850" y="1769892"/>
                </a:lnTo>
                <a:lnTo>
                  <a:pt x="0" y="1769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r="-1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359412" y="4901804"/>
            <a:ext cx="1769850" cy="1769892"/>
          </a:xfrm>
          <a:custGeom>
            <a:avLst/>
            <a:gdLst/>
            <a:ahLst/>
            <a:cxnLst/>
            <a:rect l="l" t="t" r="r" b="b"/>
            <a:pathLst>
              <a:path w="1769850" h="1769892">
                <a:moveTo>
                  <a:pt x="0" y="0"/>
                </a:moveTo>
                <a:lnTo>
                  <a:pt x="1769850" y="0"/>
                </a:lnTo>
                <a:lnTo>
                  <a:pt x="1769850" y="1769892"/>
                </a:lnTo>
                <a:lnTo>
                  <a:pt x="0" y="1769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r="-1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34350" y="5217450"/>
            <a:ext cx="25129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07069" y="5312700"/>
            <a:ext cx="514635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To provide functions to issue and return books.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13187" y="5217450"/>
            <a:ext cx="251295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736537" y="5312700"/>
            <a:ext cx="514635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To keep a transaction history with due dates.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/>
          <p:cNvSpPr/>
          <p:nvPr/>
        </p:nvSpPr>
        <p:spPr>
          <a:xfrm>
            <a:off x="-337626" y="-108022"/>
            <a:ext cx="2837892" cy="3179820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sp>
        <p:nvSpPr>
          <p:cNvPr id="7" name="Freeform 2"/>
          <p:cNvSpPr/>
          <p:nvPr/>
        </p:nvSpPr>
        <p:spPr>
          <a:xfrm>
            <a:off x="0" y="0"/>
            <a:ext cx="2214514" cy="2071666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2"/>
          <p:cNvSpPr/>
          <p:nvPr/>
        </p:nvSpPr>
        <p:spPr>
          <a:xfrm>
            <a:off x="15216230" y="7215202"/>
            <a:ext cx="3071770" cy="3071798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5263" y="423164"/>
            <a:ext cx="955747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58248" y="1785914"/>
            <a:ext cx="9067800" cy="7347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5847"/>
              </a:lnSpc>
              <a:buAutoNum type="arabicPeriod"/>
            </a:pPr>
            <a:r>
              <a:rPr lang="en-US" sz="33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Managing library operations manually is slow and error-prone.</a:t>
            </a:r>
          </a:p>
          <a:p>
            <a:pPr marL="734059" lvl="1" indent="-367030" algn="l">
              <a:lnSpc>
                <a:spcPts val="5847"/>
              </a:lnSpc>
              <a:buAutoNum type="arabicPeriod"/>
            </a:pPr>
            <a:r>
              <a:rPr lang="en-US" sz="33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It is hard to keep track of which books are available and which are issued.</a:t>
            </a:r>
          </a:p>
          <a:p>
            <a:pPr marL="734059" lvl="1" indent="-367030" algn="l">
              <a:lnSpc>
                <a:spcPts val="5847"/>
              </a:lnSpc>
              <a:buAutoNum type="arabicPeriod"/>
            </a:pPr>
            <a:r>
              <a:rPr lang="en-US" sz="33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Late return fines are difficult to calculate without proper records.</a:t>
            </a:r>
          </a:p>
          <a:p>
            <a:pPr marL="734059" lvl="1" indent="-367030" algn="l">
              <a:lnSpc>
                <a:spcPts val="5847"/>
              </a:lnSpc>
              <a:buAutoNum type="arabicPeriod"/>
            </a:pPr>
            <a:r>
              <a:rPr lang="en-US" sz="33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There is no simple system to store book/user data permanently.</a:t>
            </a:r>
          </a:p>
          <a:p>
            <a:pPr marL="734059" lvl="1" indent="-367030" algn="l">
              <a:lnSpc>
                <a:spcPts val="5847"/>
              </a:lnSpc>
              <a:buAutoNum type="arabicPeriod"/>
            </a:pPr>
            <a:r>
              <a:rPr lang="en-US" sz="33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Hence, a digital solution is needed for effective library management.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990B0D58-46DD-45C2-D154-B9761F5A8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88" y="1939644"/>
            <a:ext cx="8458202" cy="792419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reeform 2"/>
          <p:cNvSpPr/>
          <p:nvPr/>
        </p:nvSpPr>
        <p:spPr>
          <a:xfrm>
            <a:off x="15144792" y="0"/>
            <a:ext cx="3143208" cy="2000228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3"/>
          <p:cNvSpPr/>
          <p:nvPr/>
        </p:nvSpPr>
        <p:spPr>
          <a:xfrm rot="-10800000">
            <a:off x="15930610" y="8286772"/>
            <a:ext cx="3007304" cy="2332158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5216230" y="-67450"/>
            <a:ext cx="3298974" cy="2139116"/>
          </a:xfrm>
          <a:custGeom>
            <a:avLst/>
            <a:gdLst/>
            <a:ahLst/>
            <a:cxnLst/>
            <a:rect l="l" t="t" r="r" b="b"/>
            <a:pathLst>
              <a:path w="3910420" h="4067948">
                <a:moveTo>
                  <a:pt x="3910420" y="0"/>
                </a:moveTo>
                <a:lnTo>
                  <a:pt x="0" y="0"/>
                </a:lnTo>
                <a:lnTo>
                  <a:pt x="0" y="4067948"/>
                </a:lnTo>
                <a:lnTo>
                  <a:pt x="3910420" y="4067948"/>
                </a:lnTo>
                <a:lnTo>
                  <a:pt x="391042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 scaled="0"/>
        </a:gra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1"/>
          <p:cNvSpPr txBox="1">
            <a:spLocks noGrp="1"/>
          </p:cNvSpPr>
          <p:nvPr>
            <p:ph type="title"/>
          </p:nvPr>
        </p:nvSpPr>
        <p:spPr>
          <a:xfrm>
            <a:off x="1440000" y="449321"/>
            <a:ext cx="15408000" cy="1145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PROJECT OVERVIEW</a:t>
            </a:r>
            <a:endParaRPr sz="6000" b="1" dirty="0">
              <a:solidFill>
                <a:schemeClr val="bg1"/>
              </a:solidFill>
            </a:endParaRPr>
          </a:p>
        </p:txBody>
      </p:sp>
      <p:sp>
        <p:nvSpPr>
          <p:cNvPr id="915" name="Google Shape;915;p41"/>
          <p:cNvSpPr txBox="1">
            <a:spLocks noGrp="1"/>
          </p:cNvSpPr>
          <p:nvPr>
            <p:ph type="subTitle" idx="1"/>
          </p:nvPr>
        </p:nvSpPr>
        <p:spPr>
          <a:xfrm>
            <a:off x="1144704" y="2338926"/>
            <a:ext cx="8124587" cy="6766974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+mj-lt"/>
              </a:rPr>
              <a:t>    A complete web-based library management system designed to digitalize core operations.</a:t>
            </a:r>
            <a:br>
              <a:rPr lang="en-US" sz="3500" dirty="0">
                <a:solidFill>
                  <a:schemeClr val="bg1"/>
                </a:solidFill>
                <a:latin typeface="+mj-lt"/>
              </a:rPr>
            </a:br>
            <a:endParaRPr lang="en-US" sz="3500" dirty="0">
              <a:solidFill>
                <a:schemeClr val="bg1"/>
              </a:solidFill>
              <a:latin typeface="+mj-lt"/>
            </a:endParaRPr>
          </a:p>
          <a:p>
            <a:pPr marL="571500" indent="-571500">
              <a:buSzPct val="70000"/>
              <a:buFont typeface="+mj-lt"/>
              <a:buAutoNum type="romanLcPeriod"/>
            </a:pPr>
            <a:r>
              <a:rPr lang="en-US" sz="3500" b="1" dirty="0">
                <a:solidFill>
                  <a:schemeClr val="bg1"/>
                </a:solidFill>
                <a:latin typeface="+mj-lt"/>
              </a:rPr>
              <a:t>Frontend:</a:t>
            </a:r>
            <a:r>
              <a:rPr lang="en-US" sz="3500" dirty="0">
                <a:solidFill>
                  <a:schemeClr val="bg1"/>
                </a:solidFill>
                <a:latin typeface="+mj-lt"/>
              </a:rPr>
              <a:t> React.js </a:t>
            </a:r>
          </a:p>
          <a:p>
            <a:pPr marL="571500" indent="-571500">
              <a:buSzPct val="70000"/>
              <a:buFont typeface="+mj-lt"/>
              <a:buAutoNum type="romanLcPeriod"/>
            </a:pPr>
            <a:r>
              <a:rPr lang="en-US" sz="3500" b="1" dirty="0">
                <a:solidFill>
                  <a:schemeClr val="bg1"/>
                </a:solidFill>
                <a:latin typeface="+mj-lt"/>
              </a:rPr>
              <a:t>Backend:</a:t>
            </a:r>
            <a:r>
              <a:rPr lang="en-US" sz="3500" dirty="0">
                <a:solidFill>
                  <a:schemeClr val="bg1"/>
                </a:solidFill>
                <a:latin typeface="+mj-lt"/>
              </a:rPr>
              <a:t> Django REST Framework</a:t>
            </a:r>
          </a:p>
          <a:p>
            <a:pPr marL="571500" indent="-571500">
              <a:buSzPct val="70000"/>
              <a:buFont typeface="+mj-lt"/>
              <a:buAutoNum type="romanLcPeriod"/>
            </a:pPr>
            <a:r>
              <a:rPr lang="en-US" sz="3500" b="1" dirty="0">
                <a:solidFill>
                  <a:schemeClr val="bg1"/>
                </a:solidFill>
                <a:latin typeface="+mj-lt"/>
              </a:rPr>
              <a:t>Database:</a:t>
            </a:r>
            <a:r>
              <a:rPr lang="en-US" sz="3500" dirty="0">
                <a:solidFill>
                  <a:schemeClr val="bg1"/>
                </a:solidFill>
                <a:latin typeface="+mj-lt"/>
              </a:rPr>
              <a:t> SQLite</a:t>
            </a:r>
            <a:br>
              <a:rPr lang="en-US" sz="3500" dirty="0">
                <a:solidFill>
                  <a:schemeClr val="bg1"/>
                </a:solidFill>
                <a:latin typeface="+mj-lt"/>
              </a:rPr>
            </a:br>
            <a:endParaRPr lang="en-US" sz="3500" dirty="0">
              <a:solidFill>
                <a:schemeClr val="bg1"/>
              </a:solidFill>
              <a:latin typeface="+mj-lt"/>
            </a:endParaRPr>
          </a:p>
          <a:p>
            <a:r>
              <a:rPr lang="en-US" sz="3500" b="1" dirty="0">
                <a:solidFill>
                  <a:schemeClr val="bg1"/>
                </a:solidFill>
                <a:latin typeface="+mj-lt"/>
              </a:rPr>
              <a:t>   Python Backend Logic:</a:t>
            </a:r>
            <a:r>
              <a:rPr lang="en-US" sz="3500" dirty="0">
                <a:solidFill>
                  <a:schemeClr val="bg1"/>
                </a:solidFill>
                <a:latin typeface="+mj-lt"/>
              </a:rPr>
              <a:t> </a:t>
            </a:r>
            <a:br>
              <a:rPr lang="en-US" sz="3500" dirty="0">
                <a:solidFill>
                  <a:schemeClr val="bg1"/>
                </a:solidFill>
                <a:latin typeface="+mj-lt"/>
              </a:rPr>
            </a:br>
            <a:r>
              <a:rPr lang="en-US" sz="3500" dirty="0">
                <a:solidFill>
                  <a:schemeClr val="bg1"/>
                </a:solidFill>
                <a:latin typeface="+mj-lt"/>
              </a:rPr>
              <a:t>Implements object-oriented principles for managing data, fine calculation, and process automation.</a:t>
            </a:r>
          </a:p>
          <a:p>
            <a:pPr marL="0" indent="0">
              <a:spcAft>
                <a:spcPts val="2400"/>
              </a:spcAft>
            </a:pPr>
            <a:endParaRPr sz="35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l="8789" t="10986" r="9179" b="4052"/>
          <a:stretch>
            <a:fillRect/>
          </a:stretch>
        </p:blipFill>
        <p:spPr bwMode="auto">
          <a:xfrm>
            <a:off x="8877226" y="2214542"/>
            <a:ext cx="8619702" cy="6858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rot="-10800000" flipH="1">
            <a:off x="-714444" y="7643830"/>
            <a:ext cx="4500529" cy="2928921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33987" y="1098398"/>
            <a:ext cx="9882177" cy="73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FUNCTIONAL REQUIREMENTS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06529" y="2558640"/>
            <a:ext cx="5831205" cy="61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7999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User Management </a:t>
            </a:r>
          </a:p>
          <a:p>
            <a:pPr marL="690877" lvl="1" indent="-345439" algn="l">
              <a:lnSpc>
                <a:spcPts val="7999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 Management </a:t>
            </a:r>
          </a:p>
          <a:p>
            <a:pPr marL="690877" lvl="1" indent="-345439" algn="l">
              <a:lnSpc>
                <a:spcPts val="7999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Transaction Management </a:t>
            </a:r>
          </a:p>
          <a:p>
            <a:pPr marL="690877" lvl="1" indent="-345439" algn="l">
              <a:lnSpc>
                <a:spcPts val="7999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Fine Calculation </a:t>
            </a:r>
          </a:p>
          <a:p>
            <a:pPr marL="690877" lvl="1" indent="-345439" algn="l">
              <a:lnSpc>
                <a:spcPts val="7999"/>
              </a:lnSpc>
              <a:buAutoNum type="arabicPeriod"/>
            </a:pPr>
            <a:r>
              <a:rPr lang="en-US" sz="3500" dirty="0" smtClean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Display users and books</a:t>
            </a:r>
            <a:endParaRPr lang="en-US" sz="35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690877" lvl="1" indent="-345439" algn="l">
              <a:lnSpc>
                <a:spcPts val="7999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API Communication </a:t>
            </a:r>
          </a:p>
        </p:txBody>
      </p:sp>
      <p:sp>
        <p:nvSpPr>
          <p:cNvPr id="6" name="Freeform 4"/>
          <p:cNvSpPr/>
          <p:nvPr/>
        </p:nvSpPr>
        <p:spPr>
          <a:xfrm rot="-10800000" flipH="1">
            <a:off x="-428692" y="0"/>
            <a:ext cx="3286148" cy="300036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6"/>
          <p:cNvSpPr/>
          <p:nvPr/>
        </p:nvSpPr>
        <p:spPr>
          <a:xfrm rot="-10800000" flipH="1">
            <a:off x="13787470" y="0"/>
            <a:ext cx="4500529" cy="2928921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2"/>
          <p:cNvSpPr/>
          <p:nvPr/>
        </p:nvSpPr>
        <p:spPr>
          <a:xfrm>
            <a:off x="-428692" y="0"/>
            <a:ext cx="2909330" cy="2608316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10" name="Freeform 5"/>
          <p:cNvSpPr/>
          <p:nvPr/>
        </p:nvSpPr>
        <p:spPr>
          <a:xfrm rot="-5400000">
            <a:off x="15620368" y="-547014"/>
            <a:ext cx="2571732" cy="3665760"/>
          </a:xfrm>
          <a:custGeom>
            <a:avLst/>
            <a:gdLst/>
            <a:ahLst/>
            <a:cxnLst/>
            <a:rect l="l" t="t" r="r" b="b"/>
            <a:pathLst>
              <a:path w="3244172" h="3358300">
                <a:moveTo>
                  <a:pt x="0" y="0"/>
                </a:moveTo>
                <a:lnTo>
                  <a:pt x="3244172" y="0"/>
                </a:lnTo>
                <a:lnTo>
                  <a:pt x="3244172" y="3358300"/>
                </a:lnTo>
                <a:lnTo>
                  <a:pt x="0" y="33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F7603C-3E46-8C7E-A5F3-C21E35A707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0072" t="8072" r="10740" b="7056"/>
          <a:stretch>
            <a:fillRect/>
          </a:stretch>
        </p:blipFill>
        <p:spPr>
          <a:xfrm>
            <a:off x="2214514" y="2561878"/>
            <a:ext cx="7143800" cy="6979575"/>
          </a:xfrm>
          <a:prstGeom prst="rect">
            <a:avLst/>
          </a:prstGeom>
        </p:spPr>
      </p:pic>
      <p:sp>
        <p:nvSpPr>
          <p:cNvPr id="11" name="Freeform 2"/>
          <p:cNvSpPr/>
          <p:nvPr/>
        </p:nvSpPr>
        <p:spPr>
          <a:xfrm rot="-10800000">
            <a:off x="15216230" y="7643830"/>
            <a:ext cx="3571900" cy="2928958"/>
          </a:xfrm>
          <a:custGeom>
            <a:avLst/>
            <a:gdLst/>
            <a:ahLst/>
            <a:cxnLst/>
            <a:rect l="l" t="t" r="r" b="b"/>
            <a:pathLst>
              <a:path w="3746726" h="2804278">
                <a:moveTo>
                  <a:pt x="0" y="0"/>
                </a:moveTo>
                <a:lnTo>
                  <a:pt x="3746726" y="0"/>
                </a:lnTo>
                <a:lnTo>
                  <a:pt x="3746726" y="2804278"/>
                </a:lnTo>
                <a:lnTo>
                  <a:pt x="0" y="2804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495" b="-19495"/>
            </a:stretch>
          </a:blipFill>
        </p:spPr>
      </p:sp>
      <p:sp>
        <p:nvSpPr>
          <p:cNvPr id="12" name="Freeform 4"/>
          <p:cNvSpPr/>
          <p:nvPr/>
        </p:nvSpPr>
        <p:spPr>
          <a:xfrm rot="-10800000" flipH="1">
            <a:off x="14716164" y="7572392"/>
            <a:ext cx="3212652" cy="2383500"/>
          </a:xfrm>
          <a:custGeom>
            <a:avLst/>
            <a:gdLst/>
            <a:ahLst/>
            <a:cxnLst/>
            <a:rect l="l" t="t" r="r" b="b"/>
            <a:pathLst>
              <a:path w="3212652" h="2383500">
                <a:moveTo>
                  <a:pt x="3212652" y="0"/>
                </a:moveTo>
                <a:lnTo>
                  <a:pt x="0" y="0"/>
                </a:lnTo>
                <a:lnTo>
                  <a:pt x="0" y="2383500"/>
                </a:lnTo>
                <a:lnTo>
                  <a:pt x="3212652" y="2383500"/>
                </a:lnTo>
                <a:lnTo>
                  <a:pt x="3212652" y="0"/>
                </a:lnTo>
                <a:close/>
              </a:path>
            </a:pathLst>
          </a:custGeom>
          <a:blipFill>
            <a:blip r:embed="rId7"/>
            <a:stretch>
              <a:fillRect l="-16010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31550" y="7230558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0" y="-17196"/>
            <a:ext cx="6013000" cy="1316867"/>
          </a:xfrm>
          <a:custGeom>
            <a:avLst/>
            <a:gdLst/>
            <a:ahLst/>
            <a:cxnLst/>
            <a:rect l="l" t="t" r="r" b="b"/>
            <a:pathLst>
              <a:path w="6013000" h="1316867">
                <a:moveTo>
                  <a:pt x="0" y="0"/>
                </a:moveTo>
                <a:lnTo>
                  <a:pt x="6013000" y="0"/>
                </a:lnTo>
                <a:lnTo>
                  <a:pt x="6013000" y="1316867"/>
                </a:lnTo>
                <a:lnTo>
                  <a:pt x="0" y="1316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8921" b="-6780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119259" y="8686429"/>
            <a:ext cx="5836643" cy="1600571"/>
          </a:xfrm>
          <a:custGeom>
            <a:avLst/>
            <a:gdLst/>
            <a:ahLst/>
            <a:cxnLst/>
            <a:rect l="l" t="t" r="r" b="b"/>
            <a:pathLst>
              <a:path w="5836643" h="1600571">
                <a:moveTo>
                  <a:pt x="0" y="0"/>
                </a:moveTo>
                <a:lnTo>
                  <a:pt x="5836643" y="0"/>
                </a:lnTo>
                <a:lnTo>
                  <a:pt x="5836643" y="1600571"/>
                </a:lnTo>
                <a:lnTo>
                  <a:pt x="0" y="1600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1061" b="-4214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75848" y="701055"/>
            <a:ext cx="335286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FEATURES</a:t>
            </a:r>
          </a:p>
        </p:txBody>
      </p:sp>
      <p:sp>
        <p:nvSpPr>
          <p:cNvPr id="6" name="Freeform 6"/>
          <p:cNvSpPr/>
          <p:nvPr/>
        </p:nvSpPr>
        <p:spPr>
          <a:xfrm>
            <a:off x="14561000" y="-17196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152112" y="2150110"/>
            <a:ext cx="6433199" cy="704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 &amp; User Management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Issue &amp; Return System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Automated Fine Calculation 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React Frontend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Django REST APIs 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Scalability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5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User Friendly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5820" y="2214542"/>
            <a:ext cx="8286808" cy="7344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 scaled="0"/>
        </a:gra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3CF7CBD-C6CA-D8F4-7810-B38C5661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/>
          <p:cNvSpPr/>
          <p:nvPr/>
        </p:nvSpPr>
        <p:spPr>
          <a:xfrm>
            <a:off x="14431550" y="7230558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4"/>
          <p:cNvSpPr/>
          <p:nvPr/>
        </p:nvSpPr>
        <p:spPr>
          <a:xfrm>
            <a:off x="4119259" y="8686429"/>
            <a:ext cx="5836643" cy="1600571"/>
          </a:xfrm>
          <a:custGeom>
            <a:avLst/>
            <a:gdLst/>
            <a:ahLst/>
            <a:cxnLst/>
            <a:rect l="l" t="t" r="r" b="b"/>
            <a:pathLst>
              <a:path w="5836643" h="1600571">
                <a:moveTo>
                  <a:pt x="0" y="0"/>
                </a:moveTo>
                <a:lnTo>
                  <a:pt x="5836643" y="0"/>
                </a:lnTo>
                <a:lnTo>
                  <a:pt x="5836643" y="1600571"/>
                </a:lnTo>
                <a:lnTo>
                  <a:pt x="0" y="1600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1061" b="-42146"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7AB614C-3FEC-F286-D1D4-576B98DA864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sharpenSoften amount="59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81" y="2431797"/>
            <a:ext cx="8816823" cy="7043024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D0A5EE01-46CC-D9EB-EA62-3EF5681DA24E}"/>
              </a:ext>
            </a:extLst>
          </p:cNvPr>
          <p:cNvSpPr txBox="1"/>
          <p:nvPr/>
        </p:nvSpPr>
        <p:spPr>
          <a:xfrm>
            <a:off x="3167335" y="823020"/>
            <a:ext cx="12487085" cy="101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chemeClr val="bg1"/>
                </a:solidFill>
                <a:latin typeface="+mj-lt"/>
                <a:ea typeface="Arimo Bold"/>
                <a:cs typeface="Arimo Bold"/>
                <a:sym typeface="Arimo Bold"/>
              </a:rPr>
              <a:t>USER INTERFACE</a:t>
            </a:r>
            <a:endParaRPr lang="en-US" sz="6000" b="1" dirty="0">
              <a:solidFill>
                <a:schemeClr val="bg1"/>
              </a:solidFill>
              <a:latin typeface="+mj-lt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63577F0D-0E28-580E-B0B1-3403196AE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8136" y="2766792"/>
            <a:ext cx="6840898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Tech Stack: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b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React.js </a:t>
            </a:r>
            <a:b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Axios (API calls)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35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500" b="1" dirty="0">
                <a:solidFill>
                  <a:schemeClr val="bg1"/>
                </a:solidFill>
              </a:rPr>
              <a:t>API Integration</a:t>
            </a:r>
            <a:r>
              <a:rPr lang="en-US" sz="3500" b="1" dirty="0" smtClean="0">
                <a:solidFill>
                  <a:schemeClr val="bg1"/>
                </a:solidFill>
              </a:rPr>
              <a:t>:</a:t>
            </a:r>
            <a:endParaRPr lang="en-US" sz="3500" dirty="0">
              <a:solidFill>
                <a:schemeClr val="bg1"/>
              </a:solidFill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3500" dirty="0">
                <a:solidFill>
                  <a:schemeClr val="bg1"/>
                </a:solidFill>
              </a:rPr>
              <a:t>Axios instance (api.js) connects to Django REST API (http://127.0.0.1:8000/api</a:t>
            </a:r>
            <a:r>
              <a:rPr lang="en-US" sz="3500" dirty="0" smtClean="0">
                <a:solidFill>
                  <a:schemeClr val="bg1"/>
                </a:solidFill>
              </a:rPr>
              <a:t>/).</a:t>
            </a:r>
            <a:endParaRPr lang="en-US" sz="3500" dirty="0">
              <a:solidFill>
                <a:schemeClr val="bg1"/>
              </a:solidFill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3500" dirty="0">
                <a:solidFill>
                  <a:schemeClr val="bg1"/>
                </a:solidFill>
              </a:rPr>
              <a:t>Uses </a:t>
            </a:r>
            <a:r>
              <a:rPr lang="en-US" sz="3500" dirty="0" err="1">
                <a:solidFill>
                  <a:schemeClr val="bg1"/>
                </a:solidFill>
              </a:rPr>
              <a:t>useEffect</a:t>
            </a:r>
            <a:r>
              <a:rPr lang="en-US" sz="3500" dirty="0">
                <a:solidFill>
                  <a:schemeClr val="bg1"/>
                </a:solidFill>
              </a:rPr>
              <a:t> to fetch data and </a:t>
            </a:r>
            <a:r>
              <a:rPr lang="en-US" sz="3500" dirty="0" err="1">
                <a:solidFill>
                  <a:schemeClr val="bg1"/>
                </a:solidFill>
              </a:rPr>
              <a:t>useState</a:t>
            </a:r>
            <a:r>
              <a:rPr lang="en-US" sz="3500" dirty="0">
                <a:solidFill>
                  <a:schemeClr val="bg1"/>
                </a:solidFill>
              </a:rPr>
              <a:t> to manage form inputs.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8" name="Freeform 3"/>
          <p:cNvSpPr/>
          <p:nvPr/>
        </p:nvSpPr>
        <p:spPr>
          <a:xfrm rot="-10800000">
            <a:off x="0" y="-17196"/>
            <a:ext cx="6013000" cy="1316867"/>
          </a:xfrm>
          <a:custGeom>
            <a:avLst/>
            <a:gdLst/>
            <a:ahLst/>
            <a:cxnLst/>
            <a:rect l="l" t="t" r="r" b="b"/>
            <a:pathLst>
              <a:path w="6013000" h="1316867">
                <a:moveTo>
                  <a:pt x="0" y="0"/>
                </a:moveTo>
                <a:lnTo>
                  <a:pt x="6013000" y="0"/>
                </a:lnTo>
                <a:lnTo>
                  <a:pt x="6013000" y="1316867"/>
                </a:lnTo>
                <a:lnTo>
                  <a:pt x="0" y="131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8921" b="-67809"/>
            </a:stretch>
          </a:blipFill>
        </p:spPr>
      </p:sp>
      <p:sp>
        <p:nvSpPr>
          <p:cNvPr id="10" name="Freeform 6"/>
          <p:cNvSpPr/>
          <p:nvPr/>
        </p:nvSpPr>
        <p:spPr>
          <a:xfrm>
            <a:off x="14561000" y="-17196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="" xmlns:p14="http://schemas.microsoft.com/office/powerpoint/2010/main" val="306780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 scaled="0"/>
        </a:gra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B1BB1752-5550-525A-10B0-9F2ACC86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/>
          <p:cNvSpPr/>
          <p:nvPr/>
        </p:nvSpPr>
        <p:spPr>
          <a:xfrm>
            <a:off x="14431550" y="7230558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3"/>
          <p:cNvSpPr/>
          <p:nvPr/>
        </p:nvSpPr>
        <p:spPr>
          <a:xfrm rot="-10800000">
            <a:off x="0" y="-17196"/>
            <a:ext cx="6013000" cy="1316867"/>
          </a:xfrm>
          <a:custGeom>
            <a:avLst/>
            <a:gdLst/>
            <a:ahLst/>
            <a:cxnLst/>
            <a:rect l="l" t="t" r="r" b="b"/>
            <a:pathLst>
              <a:path w="6013000" h="1316867">
                <a:moveTo>
                  <a:pt x="0" y="0"/>
                </a:moveTo>
                <a:lnTo>
                  <a:pt x="6013000" y="0"/>
                </a:lnTo>
                <a:lnTo>
                  <a:pt x="6013000" y="1316867"/>
                </a:lnTo>
                <a:lnTo>
                  <a:pt x="0" y="131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8921" b="-67809"/>
            </a:stretch>
          </a:blipFill>
        </p:spPr>
      </p:sp>
      <p:sp>
        <p:nvSpPr>
          <p:cNvPr id="9" name="Freeform 4"/>
          <p:cNvSpPr/>
          <p:nvPr/>
        </p:nvSpPr>
        <p:spPr>
          <a:xfrm>
            <a:off x="4119259" y="8686429"/>
            <a:ext cx="5836643" cy="1600571"/>
          </a:xfrm>
          <a:custGeom>
            <a:avLst/>
            <a:gdLst/>
            <a:ahLst/>
            <a:cxnLst/>
            <a:rect l="l" t="t" r="r" b="b"/>
            <a:pathLst>
              <a:path w="5836643" h="1600571">
                <a:moveTo>
                  <a:pt x="0" y="0"/>
                </a:moveTo>
                <a:lnTo>
                  <a:pt x="5836643" y="0"/>
                </a:lnTo>
                <a:lnTo>
                  <a:pt x="5836643" y="1600571"/>
                </a:lnTo>
                <a:lnTo>
                  <a:pt x="0" y="1600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1061" b="-42146"/>
            </a:stretch>
          </a:blipFill>
        </p:spPr>
      </p:sp>
      <p:sp>
        <p:nvSpPr>
          <p:cNvPr id="10" name="Freeform 6"/>
          <p:cNvSpPr/>
          <p:nvPr/>
        </p:nvSpPr>
        <p:spPr>
          <a:xfrm>
            <a:off x="14561000" y="-17196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134536A9-3F02-F0FC-6494-B0C87141BA44}"/>
              </a:ext>
            </a:extLst>
          </p:cNvPr>
          <p:cNvSpPr txBox="1"/>
          <p:nvPr/>
        </p:nvSpPr>
        <p:spPr>
          <a:xfrm>
            <a:off x="3167335" y="823020"/>
            <a:ext cx="12487085" cy="101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chemeClr val="bg1"/>
                </a:solidFill>
                <a:latin typeface="+mj-lt"/>
                <a:ea typeface="Arimo Bold"/>
                <a:cs typeface="Arimo Bold"/>
                <a:sym typeface="Arimo Bold"/>
              </a:rPr>
              <a:t>INTERFACE ENHANCEMENTS</a:t>
            </a:r>
            <a:endParaRPr lang="en-US" sz="6000" b="1" dirty="0">
              <a:solidFill>
                <a:schemeClr val="bg1"/>
              </a:solidFill>
              <a:latin typeface="+mj-lt"/>
              <a:ea typeface="Arimo Bold"/>
              <a:cs typeface="Arimo Bold"/>
              <a:sym typeface="Arimo Bold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EA54F586-49CB-84DC-6045-3729CE077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3080" y="2537341"/>
            <a:ext cx="6840898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/>
            <a:r>
              <a:rPr lang="en-IN" sz="3500" b="1" dirty="0" smtClean="0">
                <a:solidFill>
                  <a:schemeClr val="bg1"/>
                </a:solidFill>
              </a:rPr>
              <a:t>3. UI </a:t>
            </a:r>
            <a:r>
              <a:rPr lang="en-IN" sz="3500" b="1" dirty="0">
                <a:solidFill>
                  <a:schemeClr val="bg1"/>
                </a:solidFill>
              </a:rPr>
              <a:t>Enhancements</a:t>
            </a:r>
            <a:r>
              <a:rPr lang="en-IN" sz="3500" b="1" dirty="0" smtClean="0">
                <a:solidFill>
                  <a:schemeClr val="bg1"/>
                </a:solidFill>
              </a:rPr>
              <a:t>:</a:t>
            </a:r>
            <a:endParaRPr lang="en-IN" sz="3500" dirty="0">
              <a:solidFill>
                <a:schemeClr val="bg1"/>
              </a:solidFill>
            </a:endParaRPr>
          </a:p>
          <a:p>
            <a:pPr marL="571500" indent="-571500">
              <a:buFont typeface="+mj-lt"/>
              <a:buAutoNum type="romanUcPeriod"/>
            </a:pPr>
            <a:r>
              <a:rPr lang="en-IN" sz="3500" dirty="0">
                <a:solidFill>
                  <a:schemeClr val="bg1"/>
                </a:solidFill>
              </a:rPr>
              <a:t>Dropdowns for selecting users/books.</a:t>
            </a:r>
          </a:p>
          <a:p>
            <a:pPr marL="571500" indent="-571500">
              <a:buFont typeface="+mj-lt"/>
              <a:buAutoNum type="romanUcPeriod"/>
            </a:pPr>
            <a:r>
              <a:rPr lang="en-IN" sz="3500" dirty="0">
                <a:solidFill>
                  <a:schemeClr val="bg1"/>
                </a:solidFill>
              </a:rPr>
              <a:t>Instant feedback messages ( success /  error).</a:t>
            </a:r>
            <a:br>
              <a:rPr lang="en-IN" sz="3500" dirty="0">
                <a:solidFill>
                  <a:schemeClr val="bg1"/>
                </a:solidFill>
              </a:rPr>
            </a:br>
            <a:endParaRPr lang="en-IN" sz="3500" dirty="0">
              <a:solidFill>
                <a:schemeClr val="bg1"/>
              </a:solidFill>
            </a:endParaRPr>
          </a:p>
          <a:p>
            <a:pPr marL="514350" indent="-514350"/>
            <a:r>
              <a:rPr lang="en-IN" sz="3500" dirty="0" smtClean="0">
                <a:solidFill>
                  <a:schemeClr val="bg1"/>
                </a:solidFill>
              </a:rPr>
              <a:t>4. Availability </a:t>
            </a:r>
            <a:r>
              <a:rPr lang="en-IN" sz="3500" dirty="0">
                <a:solidFill>
                  <a:schemeClr val="bg1"/>
                </a:solidFill>
              </a:rPr>
              <a:t>now updates </a:t>
            </a:r>
            <a:r>
              <a:rPr lang="en-IN" sz="3500" dirty="0" smtClean="0">
                <a:solidFill>
                  <a:schemeClr val="bg1"/>
                </a:solidFill>
              </a:rPr>
              <a:t>correctly:</a:t>
            </a:r>
            <a:endParaRPr lang="en-IN" sz="3500" dirty="0">
              <a:solidFill>
                <a:schemeClr val="bg1"/>
              </a:solidFill>
            </a:endParaRPr>
          </a:p>
          <a:p>
            <a:pPr marL="571500" indent="-571500">
              <a:buFont typeface="+mj-lt"/>
              <a:buAutoNum type="romanUcPeriod"/>
            </a:pPr>
            <a:r>
              <a:rPr lang="en-IN" sz="3500" b="1" dirty="0" smtClean="0">
                <a:solidFill>
                  <a:schemeClr val="bg1"/>
                </a:solidFill>
              </a:rPr>
              <a:t>Issue</a:t>
            </a:r>
            <a:r>
              <a:rPr lang="en-IN" sz="3500" dirty="0" smtClean="0">
                <a:solidFill>
                  <a:schemeClr val="bg1"/>
                </a:solidFill>
              </a:rPr>
              <a:t> </a:t>
            </a:r>
            <a:r>
              <a:rPr lang="en-IN" sz="3500" dirty="0">
                <a:solidFill>
                  <a:schemeClr val="bg1"/>
                </a:solidFill>
              </a:rPr>
              <a:t>→ Marks book as </a:t>
            </a:r>
            <a:r>
              <a:rPr lang="en-IN" sz="3500" i="1" dirty="0" smtClean="0">
                <a:solidFill>
                  <a:schemeClr val="bg1"/>
                </a:solidFill>
              </a:rPr>
              <a:t>unavailable</a:t>
            </a:r>
            <a:r>
              <a:rPr lang="en-IN" sz="3500" dirty="0" smtClean="0">
                <a:solidFill>
                  <a:schemeClr val="bg1"/>
                </a:solidFill>
              </a:rPr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IN" sz="3500" b="1" dirty="0" smtClean="0">
                <a:solidFill>
                  <a:schemeClr val="bg1"/>
                </a:solidFill>
              </a:rPr>
              <a:t>Return</a:t>
            </a:r>
            <a:r>
              <a:rPr lang="en-IN" sz="3500" dirty="0" smtClean="0">
                <a:solidFill>
                  <a:schemeClr val="bg1"/>
                </a:solidFill>
              </a:rPr>
              <a:t> </a:t>
            </a:r>
            <a:r>
              <a:rPr lang="en-IN" sz="3500" dirty="0">
                <a:solidFill>
                  <a:schemeClr val="bg1"/>
                </a:solidFill>
              </a:rPr>
              <a:t>→ Marks book as </a:t>
            </a:r>
            <a:r>
              <a:rPr lang="en-IN" sz="3500" i="1" dirty="0">
                <a:solidFill>
                  <a:schemeClr val="bg1"/>
                </a:solidFill>
              </a:rPr>
              <a:t>available</a:t>
            </a:r>
            <a:r>
              <a:rPr lang="en-IN" sz="3500" dirty="0">
                <a:solidFill>
                  <a:schemeClr val="bg1"/>
                </a:solidFill>
              </a:rPr>
              <a:t> again.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B22A47D-95F0-99F3-DE18-FAABCD48C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287" t="8412" b="9667"/>
          <a:stretch>
            <a:fillRect/>
          </a:stretch>
        </p:blipFill>
        <p:spPr>
          <a:xfrm>
            <a:off x="785754" y="2428856"/>
            <a:ext cx="8934310" cy="664373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973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10F"/>
            </a:gs>
            <a:gs pos="50000">
              <a:srgbClr val="180229"/>
            </a:gs>
            <a:gs pos="100000">
              <a:srgbClr val="06000C"/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/>
          <p:cNvSpPr/>
          <p:nvPr/>
        </p:nvSpPr>
        <p:spPr>
          <a:xfrm rot="-10800000" flipH="1">
            <a:off x="0" y="8429648"/>
            <a:ext cx="2935310" cy="1857352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extBox 2"/>
          <p:cNvSpPr txBox="1"/>
          <p:nvPr/>
        </p:nvSpPr>
        <p:spPr>
          <a:xfrm>
            <a:off x="8932441" y="2593405"/>
            <a:ext cx="8482564" cy="5196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6944"/>
              </a:lnSpc>
              <a:buAutoNum type="arabicPeriod"/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Books.js </a:t>
            </a:r>
            <a:br>
              <a:rPr lang="en-US" sz="3200" b="1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</a:b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List all books along with availability status of the book.</a:t>
            </a:r>
          </a:p>
          <a:p>
            <a:pPr marL="690881" lvl="1" indent="-345440" algn="l">
              <a:lnSpc>
                <a:spcPts val="6944"/>
              </a:lnSpc>
              <a:buAutoNum type="arabicPeriod"/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Users.js </a:t>
            </a:r>
            <a:br>
              <a:rPr lang="en-US" sz="3200" b="1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</a:b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Show registered users on the frontend and store the users in the database.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13850" y="8490034"/>
            <a:ext cx="3263312" cy="1685058"/>
          </a:xfrm>
          <a:custGeom>
            <a:avLst/>
            <a:gdLst/>
            <a:ahLst/>
            <a:cxnLst/>
            <a:rect l="l" t="t" r="r" b="b"/>
            <a:pathLst>
              <a:path w="3263312" h="1685058">
                <a:moveTo>
                  <a:pt x="3263312" y="0"/>
                </a:moveTo>
                <a:lnTo>
                  <a:pt x="0" y="0"/>
                </a:lnTo>
                <a:lnTo>
                  <a:pt x="0" y="1685058"/>
                </a:lnTo>
                <a:lnTo>
                  <a:pt x="3263312" y="1685058"/>
                </a:lnTo>
                <a:lnTo>
                  <a:pt x="3263312" y="0"/>
                </a:lnTo>
                <a:close/>
              </a:path>
            </a:pathLst>
          </a:custGeom>
          <a:blipFill>
            <a:blip r:embed="rId3"/>
            <a:stretch>
              <a:fillRect t="-25649" b="-25649"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0" y="0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62257" y="932893"/>
            <a:ext cx="986828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KEY </a:t>
            </a: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COMPONENTS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="" xmlns:a16="http://schemas.microsoft.com/office/drawing/2014/main" id="{E462CB05-711C-0688-32D8-F875295F3C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" name="Freeform 7"/>
          <p:cNvSpPr/>
          <p:nvPr/>
        </p:nvSpPr>
        <p:spPr>
          <a:xfrm rot="-10800000" flipH="1">
            <a:off x="13787470" y="0"/>
            <a:ext cx="4500529" cy="2928921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2"/>
          <p:cNvSpPr/>
          <p:nvPr/>
        </p:nvSpPr>
        <p:spPr>
          <a:xfrm>
            <a:off x="-337626" y="-108022"/>
            <a:ext cx="2909330" cy="2608316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4745359-E372-B1C4-E344-7A2BC4B1C6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2459" b="16652"/>
          <a:stretch>
            <a:fillRect/>
          </a:stretch>
        </p:blipFill>
        <p:spPr>
          <a:xfrm>
            <a:off x="697882" y="2857484"/>
            <a:ext cx="8269868" cy="5357850"/>
          </a:xfrm>
          <a:prstGeom prst="rect">
            <a:avLst/>
          </a:prstGeom>
        </p:spPr>
      </p:pic>
      <p:sp>
        <p:nvSpPr>
          <p:cNvPr id="11" name="Freeform 5"/>
          <p:cNvSpPr/>
          <p:nvPr/>
        </p:nvSpPr>
        <p:spPr>
          <a:xfrm rot="-5400000">
            <a:off x="15620368" y="-547014"/>
            <a:ext cx="2571732" cy="3665760"/>
          </a:xfrm>
          <a:custGeom>
            <a:avLst/>
            <a:gdLst/>
            <a:ahLst/>
            <a:cxnLst/>
            <a:rect l="l" t="t" r="r" b="b"/>
            <a:pathLst>
              <a:path w="3244172" h="3358300">
                <a:moveTo>
                  <a:pt x="0" y="0"/>
                </a:moveTo>
                <a:lnTo>
                  <a:pt x="3244172" y="0"/>
                </a:lnTo>
                <a:lnTo>
                  <a:pt x="3244172" y="3358300"/>
                </a:lnTo>
                <a:lnTo>
                  <a:pt x="0" y="33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3"/>
          <p:cNvSpPr/>
          <p:nvPr/>
        </p:nvSpPr>
        <p:spPr>
          <a:xfrm rot="-10800000">
            <a:off x="15716296" y="8286772"/>
            <a:ext cx="2897880" cy="242889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/>
            <a:stretch>
              <a:fillRect/>
            </a:stretch>
          </a:blipFill>
        </p:spPr>
      </p:sp>
      <p:sp>
        <p:nvSpPr>
          <p:cNvPr id="13" name="Freeform 6"/>
          <p:cNvSpPr/>
          <p:nvPr/>
        </p:nvSpPr>
        <p:spPr>
          <a:xfrm rot="-10800000" flipH="1">
            <a:off x="15644858" y="8540272"/>
            <a:ext cx="2935310" cy="1746728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C44"/>
            </a:gs>
            <a:gs pos="74000">
              <a:srgbClr val="190626"/>
            </a:gs>
            <a:gs pos="83000">
              <a:srgbClr val="150B23"/>
            </a:gs>
            <a:gs pos="100000">
              <a:srgbClr val="180523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07C421EB-4024-6F3A-F9A0-602CB3C4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="" xmlns:a16="http://schemas.microsoft.com/office/drawing/2014/main" id="{FC0BCA3A-D6F3-29AC-2941-C637C9E67B06}"/>
              </a:ext>
            </a:extLst>
          </p:cNvPr>
          <p:cNvSpPr/>
          <p:nvPr/>
        </p:nvSpPr>
        <p:spPr>
          <a:xfrm rot="-10800000" flipH="1">
            <a:off x="0" y="8429648"/>
            <a:ext cx="2935310" cy="1857352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92A6D293-E55F-EF42-8ABA-0F0B0D9D7DBD}"/>
              </a:ext>
            </a:extLst>
          </p:cNvPr>
          <p:cNvSpPr txBox="1"/>
          <p:nvPr/>
        </p:nvSpPr>
        <p:spPr>
          <a:xfrm>
            <a:off x="8861852" y="2249906"/>
            <a:ext cx="8482564" cy="6081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5441" lvl="1">
              <a:lnSpc>
                <a:spcPts val="6944"/>
              </a:lnSpc>
            </a:pPr>
            <a:r>
              <a:rPr lang="en-US" sz="3200" b="1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  <a:t>3. Transactions.js </a:t>
            </a:r>
            <a:br>
              <a:rPr lang="en-US" sz="3200" b="1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</a:br>
            <a:r>
              <a:rPr lang="en-US" sz="3200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  <a:t>Track active and completed loans of the users      and store it</a:t>
            </a:r>
          </a:p>
          <a:p>
            <a:pPr marL="345441" lvl="1">
              <a:lnSpc>
                <a:spcPts val="6944"/>
              </a:lnSpc>
            </a:pPr>
            <a:r>
              <a:rPr lang="en-US" sz="3200" b="1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  <a:t>4. IssueBookForm.js </a:t>
            </a:r>
            <a:br>
              <a:rPr lang="en-US" sz="3200" b="1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</a:br>
            <a:r>
              <a:rPr lang="en-US" sz="3200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  <a:t>Issue book with due date</a:t>
            </a:r>
          </a:p>
          <a:p>
            <a:pPr marL="345441" lvl="1">
              <a:lnSpc>
                <a:spcPts val="6944"/>
              </a:lnSpc>
            </a:pPr>
            <a:r>
              <a:rPr lang="en-US" sz="3200" b="1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  <a:t>5. ReturnBookForm.js </a:t>
            </a:r>
            <a:br>
              <a:rPr lang="en-US" sz="3200" b="1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</a:br>
            <a:r>
              <a:rPr lang="en-US" sz="3200" dirty="0">
                <a:solidFill>
                  <a:srgbClr val="FFFFFF"/>
                </a:solidFill>
                <a:ea typeface="Calibri (MS)"/>
                <a:cs typeface="Calibri (MS)"/>
                <a:sym typeface="Calibri (MS)"/>
              </a:rPr>
              <a:t>Return book &amp; auto fine shown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="" xmlns:a16="http://schemas.microsoft.com/office/drawing/2014/main" id="{5E127C47-F465-4A26-6245-FC97432A6498}"/>
              </a:ext>
            </a:extLst>
          </p:cNvPr>
          <p:cNvSpPr/>
          <p:nvPr/>
        </p:nvSpPr>
        <p:spPr>
          <a:xfrm flipH="1">
            <a:off x="113850" y="8490034"/>
            <a:ext cx="3263312" cy="1685058"/>
          </a:xfrm>
          <a:custGeom>
            <a:avLst/>
            <a:gdLst/>
            <a:ahLst/>
            <a:cxnLst/>
            <a:rect l="l" t="t" r="r" b="b"/>
            <a:pathLst>
              <a:path w="3263312" h="1685058">
                <a:moveTo>
                  <a:pt x="3263312" y="0"/>
                </a:moveTo>
                <a:lnTo>
                  <a:pt x="0" y="0"/>
                </a:lnTo>
                <a:lnTo>
                  <a:pt x="0" y="1685058"/>
                </a:lnTo>
                <a:lnTo>
                  <a:pt x="3263312" y="1685058"/>
                </a:lnTo>
                <a:lnTo>
                  <a:pt x="3263312" y="0"/>
                </a:lnTo>
                <a:close/>
              </a:path>
            </a:pathLst>
          </a:custGeom>
          <a:blipFill>
            <a:blip r:embed="rId3"/>
            <a:stretch>
              <a:fillRect t="-25649" b="-25649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="" xmlns:a16="http://schemas.microsoft.com/office/drawing/2014/main" id="{74D9492A-6FDD-35C1-8FEC-A07376C52123}"/>
              </a:ext>
            </a:extLst>
          </p:cNvPr>
          <p:cNvSpPr/>
          <p:nvPr/>
        </p:nvSpPr>
        <p:spPr>
          <a:xfrm rot="-10800000" flipH="1">
            <a:off x="0" y="0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="" xmlns:a16="http://schemas.microsoft.com/office/drawing/2014/main" id="{0D3EF5C7-5A9B-1F9B-9418-AB04053F0D5A}"/>
              </a:ext>
            </a:extLst>
          </p:cNvPr>
          <p:cNvSpPr txBox="1"/>
          <p:nvPr/>
        </p:nvSpPr>
        <p:spPr>
          <a:xfrm>
            <a:off x="4209857" y="676275"/>
            <a:ext cx="986828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KEY </a:t>
            </a: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COMPONENTS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="" xmlns:a16="http://schemas.microsoft.com/office/drawing/2014/main" id="{1DE6CB49-CEF5-ADEE-C8C7-D8BF74137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922070BD-F01F-CCA1-04DB-4A86F96AB262}"/>
              </a:ext>
            </a:extLst>
          </p:cNvPr>
          <p:cNvSpPr/>
          <p:nvPr/>
        </p:nvSpPr>
        <p:spPr>
          <a:xfrm rot="-10800000" flipH="1">
            <a:off x="13973079" y="-108022"/>
            <a:ext cx="4500529" cy="2928921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2">
            <a:extLst>
              <a:ext uri="{FF2B5EF4-FFF2-40B4-BE49-F238E27FC236}">
                <a16:creationId xmlns="" xmlns:a16="http://schemas.microsoft.com/office/drawing/2014/main" id="{F5161617-6741-97EF-1255-97310D80F4B4}"/>
              </a:ext>
            </a:extLst>
          </p:cNvPr>
          <p:cNvSpPr/>
          <p:nvPr/>
        </p:nvSpPr>
        <p:spPr>
          <a:xfrm>
            <a:off x="-337626" y="-108022"/>
            <a:ext cx="2909330" cy="2608316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11" name="Freeform 5">
            <a:extLst>
              <a:ext uri="{FF2B5EF4-FFF2-40B4-BE49-F238E27FC236}">
                <a16:creationId xmlns="" xmlns:a16="http://schemas.microsoft.com/office/drawing/2014/main" id="{AB159DBA-A594-7407-E7A6-327811F0C228}"/>
              </a:ext>
            </a:extLst>
          </p:cNvPr>
          <p:cNvSpPr/>
          <p:nvPr/>
        </p:nvSpPr>
        <p:spPr>
          <a:xfrm rot="-5400000">
            <a:off x="15620368" y="-547014"/>
            <a:ext cx="2571732" cy="3665760"/>
          </a:xfrm>
          <a:custGeom>
            <a:avLst/>
            <a:gdLst/>
            <a:ahLst/>
            <a:cxnLst/>
            <a:rect l="l" t="t" r="r" b="b"/>
            <a:pathLst>
              <a:path w="3244172" h="3358300">
                <a:moveTo>
                  <a:pt x="0" y="0"/>
                </a:moveTo>
                <a:lnTo>
                  <a:pt x="3244172" y="0"/>
                </a:lnTo>
                <a:lnTo>
                  <a:pt x="3244172" y="3358300"/>
                </a:lnTo>
                <a:lnTo>
                  <a:pt x="0" y="3358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3">
            <a:extLst>
              <a:ext uri="{FF2B5EF4-FFF2-40B4-BE49-F238E27FC236}">
                <a16:creationId xmlns="" xmlns:a16="http://schemas.microsoft.com/office/drawing/2014/main" id="{EEC3DC93-1C5D-195B-2215-E40402A32E79}"/>
              </a:ext>
            </a:extLst>
          </p:cNvPr>
          <p:cNvSpPr/>
          <p:nvPr/>
        </p:nvSpPr>
        <p:spPr>
          <a:xfrm rot="-10800000">
            <a:off x="15716296" y="8286772"/>
            <a:ext cx="2897880" cy="242889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/>
            </a:stretch>
          </a:blipFill>
        </p:spPr>
      </p:sp>
      <p:sp>
        <p:nvSpPr>
          <p:cNvPr id="13" name="Freeform 6">
            <a:extLst>
              <a:ext uri="{FF2B5EF4-FFF2-40B4-BE49-F238E27FC236}">
                <a16:creationId xmlns="" xmlns:a16="http://schemas.microsoft.com/office/drawing/2014/main" id="{EA7059EB-D3CD-943A-8956-CBFF774CEC3D}"/>
              </a:ext>
            </a:extLst>
          </p:cNvPr>
          <p:cNvSpPr/>
          <p:nvPr/>
        </p:nvSpPr>
        <p:spPr>
          <a:xfrm rot="-10800000" flipH="1">
            <a:off x="15644858" y="8540272"/>
            <a:ext cx="2935310" cy="1746728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AutoShape 2">
            <a:extLst>
              <a:ext uri="{FF2B5EF4-FFF2-40B4-BE49-F238E27FC236}">
                <a16:creationId xmlns="" xmlns:a16="http://schemas.microsoft.com/office/drawing/2014/main" id="{DBFB9E5B-DCA1-5DC5-A8E7-F09993027E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AE4E5671-CAAE-DC1F-AC22-2156ED2B75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15" y="2505786"/>
            <a:ext cx="7016547" cy="592386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4222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10F"/>
            </a:gs>
            <a:gs pos="50000">
              <a:srgbClr val="180229"/>
            </a:gs>
            <a:gs pos="100000">
              <a:srgbClr val="06000C"/>
            </a:gs>
          </a:gsLst>
          <a:lin ang="2700006" scaled="0"/>
        </a:gra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C45C152F-247B-A201-07D7-EB667424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="" xmlns:a16="http://schemas.microsoft.com/office/drawing/2014/main" id="{2C585664-5826-3E69-7E58-944B41D8D88E}"/>
              </a:ext>
            </a:extLst>
          </p:cNvPr>
          <p:cNvSpPr/>
          <p:nvPr/>
        </p:nvSpPr>
        <p:spPr>
          <a:xfrm rot="-10800000" flipH="1">
            <a:off x="0" y="8429648"/>
            <a:ext cx="2935310" cy="1857352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F29B099E-C2D7-2F2B-10D7-D913AB29FD6E}"/>
              </a:ext>
            </a:extLst>
          </p:cNvPr>
          <p:cNvSpPr txBox="1"/>
          <p:nvPr/>
        </p:nvSpPr>
        <p:spPr>
          <a:xfrm>
            <a:off x="9518916" y="2760220"/>
            <a:ext cx="7124327" cy="616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IN" sz="3500" b="1" dirty="0" err="1">
                <a:solidFill>
                  <a:schemeClr val="bg1"/>
                </a:solidFill>
              </a:rPr>
              <a:t>useState</a:t>
            </a:r>
            <a:r>
              <a:rPr lang="en-IN" sz="3500" b="1" dirty="0">
                <a:solidFill>
                  <a:schemeClr val="bg1"/>
                </a:solidFill>
              </a:rPr>
              <a:t> Hook</a:t>
            </a:r>
            <a:r>
              <a:rPr lang="en-IN" sz="3500" dirty="0">
                <a:solidFill>
                  <a:schemeClr val="bg1"/>
                </a:solidFill>
              </a:rPr>
              <a:t> </a:t>
            </a:r>
            <a:br>
              <a:rPr lang="en-IN" sz="3500" dirty="0">
                <a:solidFill>
                  <a:schemeClr val="bg1"/>
                </a:solidFill>
              </a:rPr>
            </a:br>
            <a:r>
              <a:rPr lang="en-IN" sz="3500" dirty="0">
                <a:solidFill>
                  <a:schemeClr val="bg1"/>
                </a:solidFill>
              </a:rPr>
              <a:t>Stores dynamic data (users, books, transactions, form inputs).</a:t>
            </a:r>
          </a:p>
          <a:p>
            <a:pPr marL="571500" indent="-571500">
              <a:buFont typeface="+mj-lt"/>
              <a:buAutoNum type="romanUcPeriod"/>
            </a:pPr>
            <a:endParaRPr lang="en-IN" sz="3500" dirty="0">
              <a:solidFill>
                <a:schemeClr val="bg1"/>
              </a:solidFill>
            </a:endParaRPr>
          </a:p>
          <a:p>
            <a:pPr marL="571500" indent="-571500">
              <a:buFont typeface="+mj-lt"/>
              <a:buAutoNum type="romanUcPeriod"/>
            </a:pPr>
            <a:r>
              <a:rPr lang="en-IN" sz="3500" b="1" dirty="0" err="1">
                <a:solidFill>
                  <a:schemeClr val="bg1"/>
                </a:solidFill>
              </a:rPr>
              <a:t>useEffect</a:t>
            </a:r>
            <a:r>
              <a:rPr lang="en-IN" sz="3500" b="1" dirty="0">
                <a:solidFill>
                  <a:schemeClr val="bg1"/>
                </a:solidFill>
              </a:rPr>
              <a:t> Hook</a:t>
            </a:r>
            <a:r>
              <a:rPr lang="en-IN" sz="3500" dirty="0">
                <a:solidFill>
                  <a:schemeClr val="bg1"/>
                </a:solidFill>
              </a:rPr>
              <a:t> </a:t>
            </a:r>
            <a:br>
              <a:rPr lang="en-IN" sz="3500" dirty="0">
                <a:solidFill>
                  <a:schemeClr val="bg1"/>
                </a:solidFill>
              </a:rPr>
            </a:br>
            <a:r>
              <a:rPr lang="en-IN" sz="3500" dirty="0">
                <a:solidFill>
                  <a:schemeClr val="bg1"/>
                </a:solidFill>
              </a:rPr>
              <a:t>Automatically fetches data when component loads.</a:t>
            </a:r>
          </a:p>
          <a:p>
            <a:pPr marL="571500" indent="-571500">
              <a:buFont typeface="+mj-lt"/>
              <a:buAutoNum type="romanUcPeriod"/>
            </a:pPr>
            <a:endParaRPr lang="en-IN" sz="3500" dirty="0">
              <a:solidFill>
                <a:schemeClr val="bg1"/>
              </a:solidFill>
            </a:endParaRPr>
          </a:p>
          <a:p>
            <a:pPr marL="571500" indent="-571500">
              <a:buFont typeface="+mj-lt"/>
              <a:buAutoNum type="romanUcPeriod"/>
            </a:pPr>
            <a:r>
              <a:rPr lang="en-IN" sz="3500" dirty="0">
                <a:solidFill>
                  <a:schemeClr val="bg1"/>
                </a:solidFill>
              </a:rPr>
              <a:t>Ensures UI updates in real-time when issuing/returning books.</a:t>
            </a:r>
          </a:p>
          <a:p>
            <a:pPr marL="690881" lvl="1" indent="-345440" algn="l">
              <a:lnSpc>
                <a:spcPts val="6944"/>
              </a:lnSpc>
              <a:buAutoNum type="arabicPeriod"/>
            </a:pPr>
            <a:endParaRPr lang="en-US" sz="3500" dirty="0">
              <a:solidFill>
                <a:schemeClr val="bg1"/>
              </a:solidFill>
              <a:latin typeface="+mj-lt"/>
              <a:ea typeface="Calibri (MS)"/>
              <a:cs typeface="Calibri (MS)"/>
              <a:sym typeface="Calibri (MS)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="" xmlns:a16="http://schemas.microsoft.com/office/drawing/2014/main" id="{39E3D96A-81C5-03C1-F2E6-BF1EA0DB3B4E}"/>
              </a:ext>
            </a:extLst>
          </p:cNvPr>
          <p:cNvSpPr/>
          <p:nvPr/>
        </p:nvSpPr>
        <p:spPr>
          <a:xfrm flipH="1">
            <a:off x="113850" y="8490034"/>
            <a:ext cx="3263312" cy="1685058"/>
          </a:xfrm>
          <a:custGeom>
            <a:avLst/>
            <a:gdLst/>
            <a:ahLst/>
            <a:cxnLst/>
            <a:rect l="l" t="t" r="r" b="b"/>
            <a:pathLst>
              <a:path w="3263312" h="1685058">
                <a:moveTo>
                  <a:pt x="3263312" y="0"/>
                </a:moveTo>
                <a:lnTo>
                  <a:pt x="0" y="0"/>
                </a:lnTo>
                <a:lnTo>
                  <a:pt x="0" y="1685058"/>
                </a:lnTo>
                <a:lnTo>
                  <a:pt x="3263312" y="1685058"/>
                </a:lnTo>
                <a:lnTo>
                  <a:pt x="3263312" y="0"/>
                </a:lnTo>
                <a:close/>
              </a:path>
            </a:pathLst>
          </a:custGeom>
          <a:blipFill>
            <a:blip r:embed="rId3"/>
            <a:stretch>
              <a:fillRect t="-25649" b="-25649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="" xmlns:a16="http://schemas.microsoft.com/office/drawing/2014/main" id="{40068266-89E8-62CD-82FB-967A7254A2DB}"/>
              </a:ext>
            </a:extLst>
          </p:cNvPr>
          <p:cNvSpPr/>
          <p:nvPr/>
        </p:nvSpPr>
        <p:spPr>
          <a:xfrm rot="-10800000" flipH="1">
            <a:off x="0" y="0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="" xmlns:a16="http://schemas.microsoft.com/office/drawing/2014/main" id="{24289DB9-DE2B-6E7A-87E0-E821E1FDE712}"/>
              </a:ext>
            </a:extLst>
          </p:cNvPr>
          <p:cNvSpPr txBox="1"/>
          <p:nvPr/>
        </p:nvSpPr>
        <p:spPr>
          <a:xfrm>
            <a:off x="4362257" y="932893"/>
            <a:ext cx="1025998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STATE MANAGEMENT IN REACT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="" xmlns:a16="http://schemas.microsoft.com/office/drawing/2014/main" id="{63832A67-5ED3-6DA2-A8F6-30E10C7361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3B24BAFB-B438-2D14-7F68-0CB82FADB1DA}"/>
              </a:ext>
            </a:extLst>
          </p:cNvPr>
          <p:cNvSpPr/>
          <p:nvPr/>
        </p:nvSpPr>
        <p:spPr>
          <a:xfrm rot="-10800000" flipH="1">
            <a:off x="13965857" y="-108022"/>
            <a:ext cx="4500529" cy="2928921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2">
            <a:extLst>
              <a:ext uri="{FF2B5EF4-FFF2-40B4-BE49-F238E27FC236}">
                <a16:creationId xmlns="" xmlns:a16="http://schemas.microsoft.com/office/drawing/2014/main" id="{634024F9-7950-A62E-5DCD-BF89EFCBCCB7}"/>
              </a:ext>
            </a:extLst>
          </p:cNvPr>
          <p:cNvSpPr/>
          <p:nvPr/>
        </p:nvSpPr>
        <p:spPr>
          <a:xfrm>
            <a:off x="-337626" y="-108022"/>
            <a:ext cx="2909330" cy="2608316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11" name="Freeform 5">
            <a:extLst>
              <a:ext uri="{FF2B5EF4-FFF2-40B4-BE49-F238E27FC236}">
                <a16:creationId xmlns="" xmlns:a16="http://schemas.microsoft.com/office/drawing/2014/main" id="{896147BE-1667-BED0-6D8D-BFC09EB86778}"/>
              </a:ext>
            </a:extLst>
          </p:cNvPr>
          <p:cNvSpPr/>
          <p:nvPr/>
        </p:nvSpPr>
        <p:spPr>
          <a:xfrm rot="-5400000">
            <a:off x="15620368" y="-547014"/>
            <a:ext cx="2571732" cy="3665760"/>
          </a:xfrm>
          <a:custGeom>
            <a:avLst/>
            <a:gdLst/>
            <a:ahLst/>
            <a:cxnLst/>
            <a:rect l="l" t="t" r="r" b="b"/>
            <a:pathLst>
              <a:path w="3244172" h="3358300">
                <a:moveTo>
                  <a:pt x="0" y="0"/>
                </a:moveTo>
                <a:lnTo>
                  <a:pt x="3244172" y="0"/>
                </a:lnTo>
                <a:lnTo>
                  <a:pt x="3244172" y="3358300"/>
                </a:lnTo>
                <a:lnTo>
                  <a:pt x="0" y="3358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3">
            <a:extLst>
              <a:ext uri="{FF2B5EF4-FFF2-40B4-BE49-F238E27FC236}">
                <a16:creationId xmlns="" xmlns:a16="http://schemas.microsoft.com/office/drawing/2014/main" id="{D7C24274-1A3A-35BF-892F-F4BED1C56F80}"/>
              </a:ext>
            </a:extLst>
          </p:cNvPr>
          <p:cNvSpPr/>
          <p:nvPr/>
        </p:nvSpPr>
        <p:spPr>
          <a:xfrm rot="-10800000">
            <a:off x="15716296" y="8286772"/>
            <a:ext cx="2897880" cy="242889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/>
            </a:stretch>
          </a:blipFill>
        </p:spPr>
      </p:sp>
      <p:sp>
        <p:nvSpPr>
          <p:cNvPr id="13" name="Freeform 6">
            <a:extLst>
              <a:ext uri="{FF2B5EF4-FFF2-40B4-BE49-F238E27FC236}">
                <a16:creationId xmlns="" xmlns:a16="http://schemas.microsoft.com/office/drawing/2014/main" id="{62036EF2-95B5-A64C-B24B-E3D6B2F78DFA}"/>
              </a:ext>
            </a:extLst>
          </p:cNvPr>
          <p:cNvSpPr/>
          <p:nvPr/>
        </p:nvSpPr>
        <p:spPr>
          <a:xfrm rot="-10800000" flipH="1">
            <a:off x="15644858" y="8540272"/>
            <a:ext cx="2935310" cy="1746728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AutoShape 2">
            <a:extLst>
              <a:ext uri="{FF2B5EF4-FFF2-40B4-BE49-F238E27FC236}">
                <a16:creationId xmlns="" xmlns:a16="http://schemas.microsoft.com/office/drawing/2014/main" id="{AD801F77-4402-18B6-C0DF-9ED26497E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3F3B8DA-3279-1D26-9542-53696BD956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9226" b="14057"/>
          <a:stretch>
            <a:fillRect/>
          </a:stretch>
        </p:blipFill>
        <p:spPr>
          <a:xfrm>
            <a:off x="500002" y="2786046"/>
            <a:ext cx="8805284" cy="50720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866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 scaled="0"/>
        </a:gra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1CC99D90-AF9A-219F-5253-CA28C6ED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7"/>
          <p:cNvSpPr/>
          <p:nvPr/>
        </p:nvSpPr>
        <p:spPr>
          <a:xfrm rot="-10800000" flipH="1">
            <a:off x="14358974" y="8429648"/>
            <a:ext cx="3929025" cy="1857352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7"/>
          <p:cNvSpPr/>
          <p:nvPr/>
        </p:nvSpPr>
        <p:spPr>
          <a:xfrm rot="-10800000" flipH="1">
            <a:off x="0" y="8429648"/>
            <a:ext cx="3571836" cy="1857352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4AF42138-3537-A0B8-87D9-8D372EA7C4C3}"/>
              </a:ext>
            </a:extLst>
          </p:cNvPr>
          <p:cNvGrpSpPr/>
          <p:nvPr/>
        </p:nvGrpSpPr>
        <p:grpSpPr>
          <a:xfrm>
            <a:off x="201892" y="2664277"/>
            <a:ext cx="8084852" cy="6541474"/>
            <a:chOff x="0" y="0"/>
            <a:chExt cx="3336446" cy="5900830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DAE1B65C-2664-DECE-EF58-9BB563FF1DF6}"/>
                </a:ext>
              </a:extLst>
            </p:cNvPr>
            <p:cNvSpPr/>
            <p:nvPr/>
          </p:nvSpPr>
          <p:spPr>
            <a:xfrm>
              <a:off x="0" y="0"/>
              <a:ext cx="3336446" cy="5900830"/>
            </a:xfrm>
            <a:custGeom>
              <a:avLst/>
              <a:gdLst/>
              <a:ahLst/>
              <a:cxnLst/>
              <a:rect l="l" t="t" r="r" b="b"/>
              <a:pathLst>
                <a:path w="3336446" h="5900830">
                  <a:moveTo>
                    <a:pt x="3211986" y="5900830"/>
                  </a:moveTo>
                  <a:lnTo>
                    <a:pt x="124460" y="5900830"/>
                  </a:lnTo>
                  <a:cubicBezTo>
                    <a:pt x="55880" y="5900830"/>
                    <a:pt x="0" y="5844950"/>
                    <a:pt x="0" y="577637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11986" y="0"/>
                  </a:lnTo>
                  <a:cubicBezTo>
                    <a:pt x="3280566" y="0"/>
                    <a:pt x="3336446" y="55880"/>
                    <a:pt x="3336446" y="124460"/>
                  </a:cubicBezTo>
                  <a:lnTo>
                    <a:pt x="3336446" y="5776370"/>
                  </a:lnTo>
                  <a:cubicBezTo>
                    <a:pt x="3336446" y="5844950"/>
                    <a:pt x="3280566" y="5900830"/>
                    <a:pt x="3211986" y="5900830"/>
                  </a:cubicBezTo>
                  <a:close/>
                </a:path>
              </a:pathLst>
            </a:custGeom>
            <a:solidFill>
              <a:srgbClr val="443D6F"/>
            </a:solidFill>
          </p:spPr>
        </p:sp>
      </p:grpSp>
      <p:sp>
        <p:nvSpPr>
          <p:cNvPr id="4" name="TextBox 4">
            <a:extLst>
              <a:ext uri="{FF2B5EF4-FFF2-40B4-BE49-F238E27FC236}">
                <a16:creationId xmlns="" xmlns:a16="http://schemas.microsoft.com/office/drawing/2014/main" id="{ADF0C868-8624-AEFB-F7EE-8D5288FBDBFA}"/>
              </a:ext>
            </a:extLst>
          </p:cNvPr>
          <p:cNvSpPr txBox="1"/>
          <p:nvPr/>
        </p:nvSpPr>
        <p:spPr>
          <a:xfrm>
            <a:off x="785754" y="3071798"/>
            <a:ext cx="6743764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500" b="1" dirty="0">
                <a:solidFill>
                  <a:schemeClr val="bg1"/>
                </a:solidFill>
              </a:rPr>
              <a:t>Admin Site (Django Admin Panel)</a:t>
            </a:r>
            <a:endParaRPr lang="en-US" sz="3500" dirty="0">
              <a:solidFill>
                <a:schemeClr val="bg1"/>
              </a:solidFill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="" xmlns:a16="http://schemas.microsoft.com/office/drawing/2014/main" id="{2E7CA6A1-CBE1-E023-515E-7A66D02DE108}"/>
              </a:ext>
            </a:extLst>
          </p:cNvPr>
          <p:cNvSpPr txBox="1"/>
          <p:nvPr/>
        </p:nvSpPr>
        <p:spPr>
          <a:xfrm>
            <a:off x="714316" y="3929054"/>
            <a:ext cx="6965107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sz="3000" dirty="0">
                <a:solidFill>
                  <a:schemeClr val="bg1"/>
                </a:solidFill>
              </a:rPr>
              <a:t>Built-in Django feature to manage data easily.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3000" dirty="0">
                <a:solidFill>
                  <a:schemeClr val="bg1"/>
                </a:solidFill>
              </a:rPr>
              <a:t>Provides a web interface for Books, Users, and Transactions.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3000" dirty="0">
                <a:solidFill>
                  <a:schemeClr val="bg1"/>
                </a:solidFill>
              </a:rPr>
              <a:t>Admin can add, update, or delete records directly.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3000" dirty="0">
                <a:solidFill>
                  <a:schemeClr val="bg1"/>
                </a:solidFill>
              </a:rPr>
              <a:t>Useful for monitoring book availability, issued books, and fines.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3000" dirty="0">
                <a:solidFill>
                  <a:schemeClr val="bg1"/>
                </a:solidFill>
              </a:rPr>
              <a:t>Accessible at → http://127.0.0.1:8000/admin/.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="" xmlns:a16="http://schemas.microsoft.com/office/drawing/2014/main" id="{2944D8F0-C525-D686-FD1B-4CFFA3F48658}"/>
              </a:ext>
            </a:extLst>
          </p:cNvPr>
          <p:cNvSpPr txBox="1"/>
          <p:nvPr/>
        </p:nvSpPr>
        <p:spPr>
          <a:xfrm>
            <a:off x="2096887" y="866775"/>
            <a:ext cx="14094227" cy="112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DJANGO ADMINISTRATION PANEL</a:t>
            </a:r>
            <a:endParaRPr lang="en-US" sz="60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Freeform 2"/>
          <p:cNvSpPr/>
          <p:nvPr/>
        </p:nvSpPr>
        <p:spPr>
          <a:xfrm>
            <a:off x="-337626" y="-108022"/>
            <a:ext cx="3337958" cy="275119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5"/>
          <p:cNvSpPr/>
          <p:nvPr/>
        </p:nvSpPr>
        <p:spPr>
          <a:xfrm rot="-10800000" flipH="1">
            <a:off x="113850" y="121808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7"/>
          <p:cNvSpPr/>
          <p:nvPr/>
        </p:nvSpPr>
        <p:spPr>
          <a:xfrm rot="-10800000" flipH="1">
            <a:off x="13139550" y="12179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9" name="Picture 8" descr="Screenshot 2025-09-13 141649-Picsart-AiImageEnh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1058" y="2643171"/>
            <a:ext cx="9429816" cy="6572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98530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 scaled="0"/>
        </a:gra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1CC99D90-AF9A-219F-5253-CA28C6ED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7"/>
          <p:cNvSpPr/>
          <p:nvPr/>
        </p:nvSpPr>
        <p:spPr>
          <a:xfrm rot="-10800000" flipH="1">
            <a:off x="14358974" y="8429648"/>
            <a:ext cx="3929025" cy="1857352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7"/>
          <p:cNvSpPr/>
          <p:nvPr/>
        </p:nvSpPr>
        <p:spPr>
          <a:xfrm rot="-10800000" flipH="1">
            <a:off x="0" y="8429648"/>
            <a:ext cx="3571836" cy="1857352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="" xmlns:a16="http://schemas.microsoft.com/office/drawing/2014/main" id="{2E7CA6A1-CBE1-E023-515E-7A66D02DE108}"/>
              </a:ext>
            </a:extLst>
          </p:cNvPr>
          <p:cNvSpPr txBox="1"/>
          <p:nvPr/>
        </p:nvSpPr>
        <p:spPr>
          <a:xfrm>
            <a:off x="9358314" y="2714608"/>
            <a:ext cx="6965107" cy="584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 sz="3000" dirty="0" smtClean="0">
                <a:solidFill>
                  <a:schemeClr val="bg1"/>
                </a:solidFill>
              </a:rPr>
              <a:t>Business Logic:</a:t>
            </a:r>
          </a:p>
          <a:p>
            <a:pPr marL="514350" indent="-514350"/>
            <a:endParaRPr lang="en-US" sz="1000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3000" dirty="0" smtClean="0">
                <a:solidFill>
                  <a:schemeClr val="bg1"/>
                </a:solidFill>
              </a:rPr>
              <a:t>When a book is issued → Transaction</a:t>
            </a:r>
          </a:p>
          <a:p>
            <a:pPr marL="514350" indent="-514350"/>
            <a:r>
              <a:rPr lang="en-US" sz="3000" dirty="0" smtClean="0">
                <a:solidFill>
                  <a:schemeClr val="bg1"/>
                </a:solidFill>
              </a:rPr>
              <a:t>created, Book marked as unavailable.</a:t>
            </a:r>
          </a:p>
          <a:p>
            <a:pPr marL="514350" indent="-514350">
              <a:buFont typeface="+mj-lt"/>
              <a:buAutoNum type="alphaLcParenR" startAt="2"/>
            </a:pPr>
            <a:r>
              <a:rPr lang="en-US" sz="3000" dirty="0" smtClean="0">
                <a:solidFill>
                  <a:schemeClr val="bg1"/>
                </a:solidFill>
              </a:rPr>
              <a:t>When a book is returned → </a:t>
            </a:r>
            <a:r>
              <a:rPr lang="en-US" sz="3000" dirty="0" err="1" smtClean="0">
                <a:solidFill>
                  <a:schemeClr val="bg1"/>
                </a:solidFill>
              </a:rPr>
              <a:t>return_date</a:t>
            </a:r>
            <a:r>
              <a:rPr lang="en-US" sz="3000" dirty="0" smtClean="0">
                <a:solidFill>
                  <a:schemeClr val="bg1"/>
                </a:solidFill>
              </a:rPr>
              <a:t> </a:t>
            </a:r>
          </a:p>
          <a:p>
            <a:pPr marL="514350" indent="-514350"/>
            <a:r>
              <a:rPr lang="en-US" sz="3000" dirty="0" smtClean="0">
                <a:solidFill>
                  <a:schemeClr val="bg1"/>
                </a:solidFill>
              </a:rPr>
              <a:t>updated, Book marked available, fine </a:t>
            </a:r>
          </a:p>
          <a:p>
            <a:pPr marL="514350" indent="-514350"/>
            <a:r>
              <a:rPr lang="en-US" sz="3000" dirty="0" smtClean="0">
                <a:solidFill>
                  <a:schemeClr val="bg1"/>
                </a:solidFill>
              </a:rPr>
              <a:t>calculated automatically.</a:t>
            </a:r>
            <a:br>
              <a:rPr lang="en-US" sz="3000" dirty="0" smtClean="0">
                <a:solidFill>
                  <a:schemeClr val="bg1"/>
                </a:solidFill>
              </a:rPr>
            </a:br>
            <a:endParaRPr lang="en-US" sz="3000" dirty="0" smtClean="0">
              <a:solidFill>
                <a:schemeClr val="bg1"/>
              </a:solidFill>
            </a:endParaRPr>
          </a:p>
          <a:p>
            <a:pPr marL="514350" indent="-514350"/>
            <a:r>
              <a:rPr lang="en-US" sz="3000" dirty="0" smtClean="0">
                <a:solidFill>
                  <a:schemeClr val="bg1"/>
                </a:solidFill>
              </a:rPr>
              <a:t>2. Error Handling:</a:t>
            </a:r>
          </a:p>
          <a:p>
            <a:pPr marL="514350" indent="-514350"/>
            <a:endParaRPr lang="en-US" sz="1000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3000" dirty="0" smtClean="0">
                <a:solidFill>
                  <a:schemeClr val="bg1"/>
                </a:solidFill>
              </a:rPr>
              <a:t>Validates if a book is already issued.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000" dirty="0" smtClean="0">
                <a:solidFill>
                  <a:schemeClr val="bg1"/>
                </a:solidFill>
              </a:rPr>
              <a:t>Returns JSON errors for frontend to display.</a:t>
            </a:r>
          </a:p>
          <a:p>
            <a:pPr marL="514350" indent="-514350">
              <a:buFont typeface="+mj-lt"/>
              <a:buAutoNum type="romanLcPeriod"/>
            </a:pPr>
            <a:endParaRPr lang="en-US" sz="3000" dirty="0" smtClean="0">
              <a:solidFill>
                <a:schemeClr val="bg1"/>
              </a:solidFill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="" xmlns:a16="http://schemas.microsoft.com/office/drawing/2014/main" id="{2944D8F0-C525-D686-FD1B-4CFFA3F48658}"/>
              </a:ext>
            </a:extLst>
          </p:cNvPr>
          <p:cNvSpPr txBox="1"/>
          <p:nvPr/>
        </p:nvSpPr>
        <p:spPr>
          <a:xfrm>
            <a:off x="2096887" y="866775"/>
            <a:ext cx="14094227" cy="112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6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BUSINESS LOGIC</a:t>
            </a:r>
            <a:endParaRPr lang="en-US" sz="6000" b="1" dirty="0" smtClean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Freeform 2"/>
          <p:cNvSpPr/>
          <p:nvPr/>
        </p:nvSpPr>
        <p:spPr>
          <a:xfrm>
            <a:off x="-337626" y="-108022"/>
            <a:ext cx="3337958" cy="275119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5"/>
          <p:cNvSpPr/>
          <p:nvPr/>
        </p:nvSpPr>
        <p:spPr>
          <a:xfrm rot="-10800000" flipH="1">
            <a:off x="113850" y="121808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7"/>
          <p:cNvSpPr/>
          <p:nvPr/>
        </p:nvSpPr>
        <p:spPr>
          <a:xfrm rot="-10800000" flipH="1">
            <a:off x="13139550" y="12179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D5925402-F599-94B7-86D4-3CB8B737AF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="" xmlns:a14="http://schemas.microsoft.com/office/drawing/2010/main">
                  <a14:imgLayer r:embed="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2551" t="3604" r="9249" b="2748"/>
          <a:stretch>
            <a:fillRect/>
          </a:stretch>
        </p:blipFill>
        <p:spPr>
          <a:xfrm>
            <a:off x="2143076" y="2214542"/>
            <a:ext cx="6786610" cy="692948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8530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78030" y="7226657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54100" y="121808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16420" y="7793394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0" y="0"/>
                </a:moveTo>
                <a:lnTo>
                  <a:pt x="3727002" y="0"/>
                </a:lnTo>
                <a:lnTo>
                  <a:pt x="3727002" y="2383500"/>
                </a:lnTo>
                <a:lnTo>
                  <a:pt x="0" y="238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484024" y="-108074"/>
            <a:ext cx="3019952" cy="3141648"/>
          </a:xfrm>
          <a:custGeom>
            <a:avLst/>
            <a:gdLst/>
            <a:ahLst/>
            <a:cxnLst/>
            <a:rect l="l" t="t" r="r" b="b"/>
            <a:pathLst>
              <a:path w="3019952" h="3141648">
                <a:moveTo>
                  <a:pt x="3019952" y="0"/>
                </a:moveTo>
                <a:lnTo>
                  <a:pt x="0" y="0"/>
                </a:lnTo>
                <a:lnTo>
                  <a:pt x="0" y="3141648"/>
                </a:lnTo>
                <a:lnTo>
                  <a:pt x="3019952" y="3141648"/>
                </a:lnTo>
                <a:lnTo>
                  <a:pt x="3019952" y="0"/>
                </a:lnTo>
                <a:close/>
              </a:path>
            </a:pathLst>
          </a:custGeom>
          <a:blipFill>
            <a:blip r:embed="rId5" cstate="print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28000" y="1533500"/>
            <a:ext cx="1240850" cy="1240900"/>
          </a:xfrm>
          <a:custGeom>
            <a:avLst/>
            <a:gdLst/>
            <a:ahLst/>
            <a:cxnLst/>
            <a:rect l="l" t="t" r="r" b="b"/>
            <a:pathLst>
              <a:path w="1240850" h="1240900">
                <a:moveTo>
                  <a:pt x="0" y="0"/>
                </a:moveTo>
                <a:lnTo>
                  <a:pt x="1240850" y="0"/>
                </a:lnTo>
                <a:lnTo>
                  <a:pt x="1240850" y="1240900"/>
                </a:lnTo>
                <a:lnTo>
                  <a:pt x="0" y="124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1425" y="1014274"/>
            <a:ext cx="1522515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+mj-lt"/>
                <a:ea typeface="Arimo Bold"/>
                <a:cs typeface="Arimo Bold"/>
                <a:sym typeface="Arimo Bold"/>
              </a:rPr>
              <a:t>SYSTEM DESIGN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964719"/>
            <a:ext cx="5609569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44"/>
              </a:lnSpc>
            </a:pPr>
            <a:r>
              <a:rPr lang="en-US" sz="3203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Django REST API controls issuing, returning, fines, and user management.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0818" y="6222357"/>
            <a:ext cx="5467451" cy="65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+mj-lt"/>
                <a:ea typeface="Arimo"/>
                <a:cs typeface="Arimo"/>
                <a:sym typeface="Arimo"/>
              </a:rPr>
              <a:t>3.Application Layer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29755" y="6917094"/>
            <a:ext cx="5741969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Server logs for API actions; browser console for frontend errors.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29755" y="6230384"/>
            <a:ext cx="4496550" cy="65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+mj-lt"/>
                <a:ea typeface="Arimo"/>
                <a:cs typeface="Arimo"/>
                <a:sym typeface="Arimo"/>
              </a:rPr>
              <a:t>4. Logging Layer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82559" y="3775985"/>
            <a:ext cx="6856292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Backend: Models, Views, Serializers.</a:t>
            </a:r>
          </a:p>
          <a:p>
            <a:pPr algn="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Frontend: Components (Books, Users, Transactions, IssueBookForm).</a:t>
            </a:r>
          </a:p>
          <a:p>
            <a:pPr algn="r">
              <a:lnSpc>
                <a:spcPts val="3839"/>
              </a:lnSpc>
            </a:pPr>
            <a:endParaRPr lang="en-US" sz="320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2934" y="2957374"/>
            <a:ext cx="6542015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r">
              <a:lnSpc>
                <a:spcPts val="5280"/>
              </a:lnSpc>
              <a:buAutoNum type="arabicPeriod"/>
            </a:pPr>
            <a:r>
              <a:rPr lang="en-US" sz="4400">
                <a:solidFill>
                  <a:srgbClr val="FFFFFF"/>
                </a:solidFill>
                <a:latin typeface="+mj-lt"/>
                <a:ea typeface="Arimo"/>
                <a:cs typeface="Arimo"/>
                <a:sym typeface="Arimo"/>
              </a:rPr>
              <a:t>Modular Architecture  </a:t>
            </a:r>
          </a:p>
          <a:p>
            <a:pPr algn="r">
              <a:lnSpc>
                <a:spcPts val="5280"/>
              </a:lnSpc>
            </a:pPr>
            <a:endParaRPr lang="en-US" sz="4400">
              <a:solidFill>
                <a:srgbClr val="FFFFFF"/>
              </a:solidFill>
              <a:latin typeface="+mj-lt"/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593769" y="3930944"/>
            <a:ext cx="6091636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SQLite database with tables for Users, Books, and Transactions.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Data persists across sessions.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8690" y="3051943"/>
            <a:ext cx="4496550" cy="65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+mj-lt"/>
                <a:ea typeface="Arimo"/>
                <a:cs typeface="Arimo"/>
                <a:sym typeface="Arimo"/>
              </a:rPr>
              <a:t>2. Data Layer 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18295" y="3643174"/>
            <a:ext cx="6119973" cy="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1558370" y="3837897"/>
            <a:ext cx="4676850" cy="1905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V="1">
            <a:off x="1647101" y="6908157"/>
            <a:ext cx="4991168" cy="42275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11839607" y="6945669"/>
            <a:ext cx="4676850" cy="1905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6844949" y="3166113"/>
            <a:ext cx="1643892" cy="1643963"/>
          </a:xfrm>
          <a:custGeom>
            <a:avLst/>
            <a:gdLst/>
            <a:ahLst/>
            <a:cxnLst/>
            <a:rect l="l" t="t" r="r" b="b"/>
            <a:pathLst>
              <a:path w="1643892" h="1643963">
                <a:moveTo>
                  <a:pt x="0" y="0"/>
                </a:moveTo>
                <a:lnTo>
                  <a:pt x="1643893" y="0"/>
                </a:lnTo>
                <a:lnTo>
                  <a:pt x="1643893" y="1643963"/>
                </a:lnTo>
                <a:lnTo>
                  <a:pt x="0" y="164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270852" y="3070993"/>
            <a:ext cx="1686788" cy="1686860"/>
          </a:xfrm>
          <a:custGeom>
            <a:avLst/>
            <a:gdLst/>
            <a:ahLst/>
            <a:cxnLst/>
            <a:rect l="l" t="t" r="r" b="b"/>
            <a:pathLst>
              <a:path w="1686788" h="1686860">
                <a:moveTo>
                  <a:pt x="0" y="0"/>
                </a:moveTo>
                <a:lnTo>
                  <a:pt x="1686788" y="0"/>
                </a:lnTo>
                <a:lnTo>
                  <a:pt x="1686788" y="1686860"/>
                </a:lnTo>
                <a:lnTo>
                  <a:pt x="0" y="16868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844949" y="5893062"/>
            <a:ext cx="1746675" cy="1746750"/>
          </a:xfrm>
          <a:custGeom>
            <a:avLst/>
            <a:gdLst/>
            <a:ahLst/>
            <a:cxnLst/>
            <a:rect l="l" t="t" r="r" b="b"/>
            <a:pathLst>
              <a:path w="1746675" h="1746750">
                <a:moveTo>
                  <a:pt x="0" y="0"/>
                </a:moveTo>
                <a:lnTo>
                  <a:pt x="1746676" y="0"/>
                </a:lnTo>
                <a:lnTo>
                  <a:pt x="1746676" y="1746750"/>
                </a:lnTo>
                <a:lnTo>
                  <a:pt x="0" y="174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342269" y="5918965"/>
            <a:ext cx="1746675" cy="1746750"/>
          </a:xfrm>
          <a:custGeom>
            <a:avLst/>
            <a:gdLst/>
            <a:ahLst/>
            <a:cxnLst/>
            <a:rect l="l" t="t" r="r" b="b"/>
            <a:pathLst>
              <a:path w="1746675" h="1746750">
                <a:moveTo>
                  <a:pt x="0" y="0"/>
                </a:moveTo>
                <a:lnTo>
                  <a:pt x="1746675" y="0"/>
                </a:lnTo>
                <a:lnTo>
                  <a:pt x="1746675" y="1746750"/>
                </a:lnTo>
                <a:lnTo>
                  <a:pt x="0" y="174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830082" y="6406816"/>
            <a:ext cx="771048" cy="719242"/>
          </a:xfrm>
          <a:custGeom>
            <a:avLst/>
            <a:gdLst/>
            <a:ahLst/>
            <a:cxnLst/>
            <a:rect l="l" t="t" r="r" b="b"/>
            <a:pathLst>
              <a:path w="771048" h="719242">
                <a:moveTo>
                  <a:pt x="0" y="0"/>
                </a:moveTo>
                <a:lnTo>
                  <a:pt x="771048" y="0"/>
                </a:lnTo>
                <a:lnTo>
                  <a:pt x="771048" y="719242"/>
                </a:lnTo>
                <a:lnTo>
                  <a:pt x="0" y="7192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332763" y="6380913"/>
            <a:ext cx="771048" cy="771048"/>
          </a:xfrm>
          <a:custGeom>
            <a:avLst/>
            <a:gdLst/>
            <a:ahLst/>
            <a:cxnLst/>
            <a:rect l="l" t="t" r="r" b="b"/>
            <a:pathLst>
              <a:path w="771048" h="771048">
                <a:moveTo>
                  <a:pt x="0" y="0"/>
                </a:moveTo>
                <a:lnTo>
                  <a:pt x="771048" y="0"/>
                </a:lnTo>
                <a:lnTo>
                  <a:pt x="771048" y="771048"/>
                </a:lnTo>
                <a:lnTo>
                  <a:pt x="0" y="7710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721869" y="3560058"/>
            <a:ext cx="784754" cy="708730"/>
          </a:xfrm>
          <a:custGeom>
            <a:avLst/>
            <a:gdLst/>
            <a:ahLst/>
            <a:cxnLst/>
            <a:rect l="l" t="t" r="r" b="b"/>
            <a:pathLst>
              <a:path w="784754" h="708730">
                <a:moveTo>
                  <a:pt x="0" y="0"/>
                </a:moveTo>
                <a:lnTo>
                  <a:pt x="784754" y="0"/>
                </a:lnTo>
                <a:lnTo>
                  <a:pt x="784754" y="708730"/>
                </a:lnTo>
                <a:lnTo>
                  <a:pt x="0" y="7087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281372" y="3553123"/>
            <a:ext cx="771048" cy="770280"/>
          </a:xfrm>
          <a:custGeom>
            <a:avLst/>
            <a:gdLst/>
            <a:ahLst/>
            <a:cxnLst/>
            <a:rect l="l" t="t" r="r" b="b"/>
            <a:pathLst>
              <a:path w="771048" h="770280">
                <a:moveTo>
                  <a:pt x="0" y="0"/>
                </a:moveTo>
                <a:lnTo>
                  <a:pt x="771048" y="0"/>
                </a:lnTo>
                <a:lnTo>
                  <a:pt x="771048" y="770280"/>
                </a:lnTo>
                <a:lnTo>
                  <a:pt x="0" y="770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"/>
          <p:cNvSpPr/>
          <p:nvPr/>
        </p:nvSpPr>
        <p:spPr>
          <a:xfrm>
            <a:off x="-337626" y="-108022"/>
            <a:ext cx="3480834" cy="310838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679461" y="7304694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3727000" y="0"/>
                </a:moveTo>
                <a:lnTo>
                  <a:pt x="0" y="0"/>
                </a:lnTo>
                <a:lnTo>
                  <a:pt x="0" y="2911742"/>
                </a:lnTo>
                <a:lnTo>
                  <a:pt x="3727000" y="2911742"/>
                </a:lnTo>
                <a:lnTo>
                  <a:pt x="37270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113850" y="121808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14560998" y="7794836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437878" y="-57064"/>
            <a:ext cx="3244172" cy="3358300"/>
          </a:xfrm>
          <a:custGeom>
            <a:avLst/>
            <a:gdLst/>
            <a:ahLst/>
            <a:cxnLst/>
            <a:rect l="l" t="t" r="r" b="b"/>
            <a:pathLst>
              <a:path w="3244172" h="3358300">
                <a:moveTo>
                  <a:pt x="0" y="0"/>
                </a:moveTo>
                <a:lnTo>
                  <a:pt x="3244172" y="0"/>
                </a:lnTo>
                <a:lnTo>
                  <a:pt x="3244172" y="3358300"/>
                </a:lnTo>
                <a:lnTo>
                  <a:pt x="0" y="3358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28000" y="1533500"/>
            <a:ext cx="1240850" cy="1240900"/>
          </a:xfrm>
          <a:custGeom>
            <a:avLst/>
            <a:gdLst/>
            <a:ahLst/>
            <a:cxnLst/>
            <a:rect l="l" t="t" r="r" b="b"/>
            <a:pathLst>
              <a:path w="1240850" h="1240900">
                <a:moveTo>
                  <a:pt x="0" y="0"/>
                </a:moveTo>
                <a:lnTo>
                  <a:pt x="1240850" y="0"/>
                </a:lnTo>
                <a:lnTo>
                  <a:pt x="1240850" y="1240900"/>
                </a:lnTo>
                <a:lnTo>
                  <a:pt x="0" y="124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34814" y="767672"/>
            <a:ext cx="1522515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Arimo Bold"/>
                <a:cs typeface="Arimo Bold"/>
                <a:sym typeface="Arimo Bold"/>
              </a:rPr>
              <a:t>SYSTEM DESIGN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70250" y="7660572"/>
            <a:ext cx="5746082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Input (React) → API (Axios → Django) → Database → JSON Response → UI update.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9210" y="3767873"/>
            <a:ext cx="5963283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React-based UI with options to view, issue, and return books, plus track transactions.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3590" y="2777447"/>
            <a:ext cx="5813175" cy="65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+mj-lt"/>
                <a:ea typeface="Arimo"/>
                <a:cs typeface="Arimo"/>
                <a:sym typeface="Arimo"/>
              </a:rPr>
              <a:t>5. User Interface Layer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7291" y="6789034"/>
            <a:ext cx="4496550" cy="65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+mj-lt"/>
                <a:ea typeface="Arimo"/>
                <a:cs typeface="Arimo"/>
                <a:sym typeface="Arimo"/>
              </a:rPr>
              <a:t>6. Data Flow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01320" y="3701198"/>
            <a:ext cx="5158988" cy="248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Backend: validations, exceptions.</a:t>
            </a:r>
          </a:p>
          <a:p>
            <a:pPr marL="690881" lvl="1" indent="-34544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Frontend: form validation, error messages.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18712" y="2868185"/>
            <a:ext cx="4496550" cy="65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+mj-lt"/>
                <a:ea typeface="Arimo"/>
                <a:cs typeface="Arimo"/>
                <a:sym typeface="Arimo"/>
              </a:rPr>
              <a:t>7. Error Handling 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184039" y="3639286"/>
            <a:ext cx="5252726" cy="9525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597291" y="7544248"/>
            <a:ext cx="4487250" cy="1905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3050818" y="3648811"/>
            <a:ext cx="4487250" cy="1905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6867571" y="3173505"/>
            <a:ext cx="1557789" cy="1557856"/>
          </a:xfrm>
          <a:custGeom>
            <a:avLst/>
            <a:gdLst/>
            <a:ahLst/>
            <a:cxnLst/>
            <a:rect l="l" t="t" r="r" b="b"/>
            <a:pathLst>
              <a:path w="1557789" h="1557856">
                <a:moveTo>
                  <a:pt x="0" y="0"/>
                </a:moveTo>
                <a:lnTo>
                  <a:pt x="1557789" y="0"/>
                </a:lnTo>
                <a:lnTo>
                  <a:pt x="1557789" y="1557856"/>
                </a:lnTo>
                <a:lnTo>
                  <a:pt x="0" y="1557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57926" y="3535684"/>
            <a:ext cx="669180" cy="725594"/>
          </a:xfrm>
          <a:custGeom>
            <a:avLst/>
            <a:gdLst/>
            <a:ahLst/>
            <a:cxnLst/>
            <a:rect l="l" t="t" r="r" b="b"/>
            <a:pathLst>
              <a:path w="669180" h="725594">
                <a:moveTo>
                  <a:pt x="0" y="0"/>
                </a:moveTo>
                <a:lnTo>
                  <a:pt x="669180" y="0"/>
                </a:lnTo>
                <a:lnTo>
                  <a:pt x="669180" y="725594"/>
                </a:lnTo>
                <a:lnTo>
                  <a:pt x="0" y="7255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099246" y="4966348"/>
            <a:ext cx="1492640" cy="1492704"/>
            <a:chOff x="0" y="0"/>
            <a:chExt cx="1990187" cy="19902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90187" cy="1990272"/>
            </a:xfrm>
            <a:custGeom>
              <a:avLst/>
              <a:gdLst/>
              <a:ahLst/>
              <a:cxnLst/>
              <a:rect l="l" t="t" r="r" b="b"/>
              <a:pathLst>
                <a:path w="1990187" h="1990272">
                  <a:moveTo>
                    <a:pt x="0" y="0"/>
                  </a:moveTo>
                  <a:lnTo>
                    <a:pt x="1990187" y="0"/>
                  </a:lnTo>
                  <a:lnTo>
                    <a:pt x="1990187" y="1990272"/>
                  </a:lnTo>
                  <a:lnTo>
                    <a:pt x="0" y="1990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r="-2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40144" y="516601"/>
              <a:ext cx="909899" cy="909899"/>
            </a:xfrm>
            <a:custGeom>
              <a:avLst/>
              <a:gdLst/>
              <a:ahLst/>
              <a:cxnLst/>
              <a:rect l="l" t="t" r="r" b="b"/>
              <a:pathLst>
                <a:path w="909899" h="909899">
                  <a:moveTo>
                    <a:pt x="0" y="0"/>
                  </a:moveTo>
                  <a:lnTo>
                    <a:pt x="909899" y="0"/>
                  </a:lnTo>
                  <a:lnTo>
                    <a:pt x="909899" y="909898"/>
                  </a:lnTo>
                  <a:lnTo>
                    <a:pt x="0" y="909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1126505" y="3220610"/>
            <a:ext cx="1463582" cy="1463645"/>
            <a:chOff x="0" y="0"/>
            <a:chExt cx="1951443" cy="19515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51443" cy="1951526"/>
            </a:xfrm>
            <a:custGeom>
              <a:avLst/>
              <a:gdLst/>
              <a:ahLst/>
              <a:cxnLst/>
              <a:rect l="l" t="t" r="r" b="b"/>
              <a:pathLst>
                <a:path w="1951443" h="1951526">
                  <a:moveTo>
                    <a:pt x="0" y="0"/>
                  </a:moveTo>
                  <a:lnTo>
                    <a:pt x="1951443" y="0"/>
                  </a:lnTo>
                  <a:lnTo>
                    <a:pt x="1951443" y="1951526"/>
                  </a:lnTo>
                  <a:lnTo>
                    <a:pt x="0" y="195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r="-2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702209" y="538364"/>
              <a:ext cx="547025" cy="933292"/>
            </a:xfrm>
            <a:custGeom>
              <a:avLst/>
              <a:gdLst/>
              <a:ahLst/>
              <a:cxnLst/>
              <a:rect l="l" t="t" r="r" b="b"/>
              <a:pathLst>
                <a:path w="547025" h="933292">
                  <a:moveTo>
                    <a:pt x="0" y="0"/>
                  </a:moveTo>
                  <a:lnTo>
                    <a:pt x="547025" y="0"/>
                  </a:lnTo>
                  <a:lnTo>
                    <a:pt x="547025" y="933292"/>
                  </a:lnTo>
                  <a:lnTo>
                    <a:pt x="0" y="933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=""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5" name="Freeform 3"/>
          <p:cNvSpPr/>
          <p:nvPr/>
        </p:nvSpPr>
        <p:spPr>
          <a:xfrm rot="10800000" flipH="1">
            <a:off x="-357254" y="7358078"/>
            <a:ext cx="4755268" cy="350046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2895" y="2878751"/>
            <a:ext cx="3607123" cy="6379549"/>
            <a:chOff x="0" y="0"/>
            <a:chExt cx="3336446" cy="59008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6446" cy="5900830"/>
            </a:xfrm>
            <a:custGeom>
              <a:avLst/>
              <a:gdLst/>
              <a:ahLst/>
              <a:cxnLst/>
              <a:rect l="l" t="t" r="r" b="b"/>
              <a:pathLst>
                <a:path w="3336446" h="5900830">
                  <a:moveTo>
                    <a:pt x="3211986" y="5900830"/>
                  </a:moveTo>
                  <a:lnTo>
                    <a:pt x="124460" y="5900830"/>
                  </a:lnTo>
                  <a:cubicBezTo>
                    <a:pt x="55880" y="5900830"/>
                    <a:pt x="0" y="5844950"/>
                    <a:pt x="0" y="577637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11986" y="0"/>
                  </a:lnTo>
                  <a:cubicBezTo>
                    <a:pt x="3280566" y="0"/>
                    <a:pt x="3336446" y="55880"/>
                    <a:pt x="3336446" y="124460"/>
                  </a:cubicBezTo>
                  <a:lnTo>
                    <a:pt x="3336446" y="5776370"/>
                  </a:lnTo>
                  <a:cubicBezTo>
                    <a:pt x="3336446" y="5844950"/>
                    <a:pt x="3280566" y="5900830"/>
                    <a:pt x="3211986" y="5900830"/>
                  </a:cubicBezTo>
                  <a:close/>
                </a:path>
              </a:pathLst>
            </a:custGeom>
            <a:solidFill>
              <a:srgbClr val="443D6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00037" y="3047968"/>
            <a:ext cx="3574348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Technologies Used: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2895" y="3866021"/>
            <a:ext cx="3510635" cy="469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Backend: Django, Django REST Framework, django-co</a:t>
            </a: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rs-headers</a:t>
            </a:r>
          </a:p>
          <a:p>
            <a:pPr marL="539749" lvl="1" indent="-269875" algn="l">
              <a:lnSpc>
                <a:spcPts val="3749"/>
              </a:lnSpc>
              <a:buAutoNum type="arabicPeriod"/>
            </a:pP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Frontend: React.js, Axios</a:t>
            </a:r>
          </a:p>
          <a:p>
            <a:pPr marL="539749" lvl="1" indent="-269875" algn="l">
              <a:lnSpc>
                <a:spcPts val="3749"/>
              </a:lnSpc>
              <a:buAutoNum type="arabicPeriod"/>
            </a:pP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Database: SQLite</a:t>
            </a:r>
          </a:p>
          <a:p>
            <a:pPr marL="539749" lvl="1" indent="-269875" algn="l">
              <a:lnSpc>
                <a:spcPts val="3749"/>
              </a:lnSpc>
              <a:buAutoNum type="arabicPeriod"/>
            </a:pP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Other: CORS Middleware, REST Router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741230" y="2878751"/>
            <a:ext cx="3673798" cy="6379549"/>
            <a:chOff x="0" y="0"/>
            <a:chExt cx="3398118" cy="59008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98118" cy="5900830"/>
            </a:xfrm>
            <a:custGeom>
              <a:avLst/>
              <a:gdLst/>
              <a:ahLst/>
              <a:cxnLst/>
              <a:rect l="l" t="t" r="r" b="b"/>
              <a:pathLst>
                <a:path w="3398118" h="5900830">
                  <a:moveTo>
                    <a:pt x="3273658" y="5900830"/>
                  </a:moveTo>
                  <a:lnTo>
                    <a:pt x="124460" y="5900830"/>
                  </a:lnTo>
                  <a:cubicBezTo>
                    <a:pt x="55880" y="5900830"/>
                    <a:pt x="0" y="5844950"/>
                    <a:pt x="0" y="577637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73658" y="0"/>
                  </a:lnTo>
                  <a:cubicBezTo>
                    <a:pt x="3342238" y="0"/>
                    <a:pt x="3398118" y="55880"/>
                    <a:pt x="3398118" y="124460"/>
                  </a:cubicBezTo>
                  <a:lnTo>
                    <a:pt x="3398118" y="5776370"/>
                  </a:lnTo>
                  <a:cubicBezTo>
                    <a:pt x="3398118" y="5844950"/>
                    <a:pt x="3342238" y="5900830"/>
                    <a:pt x="3273658" y="5900830"/>
                  </a:cubicBezTo>
                  <a:close/>
                </a:path>
              </a:pathLst>
            </a:custGeom>
            <a:solidFill>
              <a:srgbClr val="443D6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5106438" y="3047968"/>
            <a:ext cx="2657633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Models: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26254" y="3866021"/>
            <a:ext cx="3303750" cy="469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User – Stores user details (user_id, name).</a:t>
            </a:r>
          </a:p>
          <a:p>
            <a:pPr marL="539749" lvl="1" indent="-269875" algn="l">
              <a:lnSpc>
                <a:spcPts val="3749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 – Stores book det</a:t>
            </a: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ails (book_id, title, author, isbn, available).</a:t>
            </a:r>
          </a:p>
          <a:p>
            <a:pPr marL="539749" lvl="1" indent="-269875" algn="l">
              <a:lnSpc>
                <a:spcPts val="3749"/>
              </a:lnSpc>
              <a:buAutoNum type="arabicPeriod"/>
            </a:pP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Transaction – Stores transactions  and calculates fines.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10031" y="2878751"/>
            <a:ext cx="4517070" cy="6379549"/>
            <a:chOff x="0" y="0"/>
            <a:chExt cx="4178111" cy="59008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78111" cy="5900830"/>
            </a:xfrm>
            <a:custGeom>
              <a:avLst/>
              <a:gdLst/>
              <a:ahLst/>
              <a:cxnLst/>
              <a:rect l="l" t="t" r="r" b="b"/>
              <a:pathLst>
                <a:path w="4178111" h="5900830">
                  <a:moveTo>
                    <a:pt x="4053651" y="5900830"/>
                  </a:moveTo>
                  <a:lnTo>
                    <a:pt x="124460" y="5900830"/>
                  </a:lnTo>
                  <a:cubicBezTo>
                    <a:pt x="55880" y="5900830"/>
                    <a:pt x="0" y="5844950"/>
                    <a:pt x="0" y="577637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53651" y="0"/>
                  </a:lnTo>
                  <a:cubicBezTo>
                    <a:pt x="4122231" y="0"/>
                    <a:pt x="4178111" y="55880"/>
                    <a:pt x="4178111" y="124460"/>
                  </a:cubicBezTo>
                  <a:lnTo>
                    <a:pt x="4178111" y="5776370"/>
                  </a:lnTo>
                  <a:cubicBezTo>
                    <a:pt x="4178111" y="5844950"/>
                    <a:pt x="4122231" y="5900830"/>
                    <a:pt x="4053651" y="5900830"/>
                  </a:cubicBezTo>
                  <a:close/>
                </a:path>
              </a:pathLst>
            </a:custGeom>
            <a:solidFill>
              <a:srgbClr val="443D6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329428" y="3047968"/>
            <a:ext cx="4416748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Frontend Components: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3875546"/>
            <a:ext cx="4198734" cy="506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62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Books.js – Displays list of books</a:t>
            </a:r>
          </a:p>
          <a:p>
            <a:pPr marL="539749" lvl="1" indent="-269875" algn="l">
              <a:lnSpc>
                <a:spcPts val="3624"/>
              </a:lnSpc>
              <a:buAutoNum type="arabicPeriod"/>
            </a:pPr>
            <a:r>
              <a:rPr lang="en-US" sz="2499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Use</a:t>
            </a: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rs.js – Shows registered users.</a:t>
            </a:r>
          </a:p>
          <a:p>
            <a:pPr marL="539749" lvl="1" indent="-269875" algn="l">
              <a:lnSpc>
                <a:spcPts val="3624"/>
              </a:lnSpc>
              <a:buAutoNum type="arabicPeriod"/>
            </a:pP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Transactions.js – Tracks  transactions.</a:t>
            </a:r>
          </a:p>
          <a:p>
            <a:pPr marL="539749" lvl="1" indent="-269875" algn="l">
              <a:lnSpc>
                <a:spcPts val="3624"/>
              </a:lnSpc>
              <a:buAutoNum type="arabicPeriod"/>
            </a:pP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IssueBookForm.js – Allows book issue to a user.</a:t>
            </a:r>
          </a:p>
          <a:p>
            <a:pPr marL="539749" lvl="1" indent="-269875" algn="l">
              <a:lnSpc>
                <a:spcPts val="3624"/>
              </a:lnSpc>
              <a:buAutoNum type="arabicPeriod"/>
            </a:pP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ReturnBookForm.js – Handles return &amp; fine calculation.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117651" y="2878751"/>
            <a:ext cx="3889402" cy="6379549"/>
            <a:chOff x="0" y="0"/>
            <a:chExt cx="3312266" cy="54329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12266" cy="5432908"/>
            </a:xfrm>
            <a:custGeom>
              <a:avLst/>
              <a:gdLst/>
              <a:ahLst/>
              <a:cxnLst/>
              <a:rect l="l" t="t" r="r" b="b"/>
              <a:pathLst>
                <a:path w="3312266" h="5432908">
                  <a:moveTo>
                    <a:pt x="3187806" y="5432908"/>
                  </a:moveTo>
                  <a:lnTo>
                    <a:pt x="124460" y="5432908"/>
                  </a:lnTo>
                  <a:cubicBezTo>
                    <a:pt x="55880" y="5432908"/>
                    <a:pt x="0" y="5377028"/>
                    <a:pt x="0" y="530844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187806" y="0"/>
                  </a:lnTo>
                  <a:cubicBezTo>
                    <a:pt x="3256386" y="0"/>
                    <a:pt x="3312266" y="55880"/>
                    <a:pt x="3312266" y="124460"/>
                  </a:cubicBezTo>
                  <a:lnTo>
                    <a:pt x="3312266" y="5308448"/>
                  </a:lnTo>
                  <a:cubicBezTo>
                    <a:pt x="3312266" y="5377028"/>
                    <a:pt x="3256386" y="5432908"/>
                    <a:pt x="3187806" y="5432908"/>
                  </a:cubicBezTo>
                  <a:close/>
                </a:path>
              </a:pathLst>
            </a:custGeom>
            <a:solidFill>
              <a:srgbClr val="443D6F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4479601" y="3049899"/>
            <a:ext cx="2657633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Storage: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51200" y="3866021"/>
            <a:ext cx="3399850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All pe</a:t>
            </a:r>
            <a:r>
              <a:rPr lang="en-US" sz="2499" u="none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rsistent data (users, books, transactions) stored in SQLite database.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51200" y="6574620"/>
            <a:ext cx="3327160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Django Admin Panel tracks and manages all records of books, users, and transactions.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96887" y="866775"/>
            <a:ext cx="14094227" cy="112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SYSTEM ARCHITECTURE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79601" y="5690538"/>
            <a:ext cx="2657633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Logs:</a:t>
            </a:r>
          </a:p>
        </p:txBody>
      </p:sp>
      <p:sp>
        <p:nvSpPr>
          <p:cNvPr id="21" name="Freeform 2"/>
          <p:cNvSpPr/>
          <p:nvPr/>
        </p:nvSpPr>
        <p:spPr>
          <a:xfrm>
            <a:off x="-337626" y="-108022"/>
            <a:ext cx="3480834" cy="275119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2" name="Freeform 5"/>
          <p:cNvSpPr/>
          <p:nvPr/>
        </p:nvSpPr>
        <p:spPr>
          <a:xfrm rot="-10800000" flipH="1">
            <a:off x="113850" y="121808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Freeform 2"/>
          <p:cNvSpPr/>
          <p:nvPr/>
        </p:nvSpPr>
        <p:spPr>
          <a:xfrm flipH="1">
            <a:off x="14807166" y="0"/>
            <a:ext cx="3838088" cy="2751192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4" name="Freeform 5"/>
          <p:cNvSpPr/>
          <p:nvPr/>
        </p:nvSpPr>
        <p:spPr>
          <a:xfrm rot="-10800000" flipH="1">
            <a:off x="14560998" y="1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5" name="Freeform 7"/>
          <p:cNvSpPr/>
          <p:nvPr/>
        </p:nvSpPr>
        <p:spPr>
          <a:xfrm rot="-10800000" flipH="1">
            <a:off x="-357254" y="8786838"/>
            <a:ext cx="3643274" cy="2000228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Freeform 7"/>
          <p:cNvSpPr/>
          <p:nvPr/>
        </p:nvSpPr>
        <p:spPr>
          <a:xfrm rot="-10800000" flipH="1">
            <a:off x="14644725" y="8939238"/>
            <a:ext cx="3643274" cy="2000228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6617" y="1757523"/>
            <a:ext cx="8761066" cy="802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User</a:t>
            </a: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Fields: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user_id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, name</a:t>
            </a: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Stores basic information about library users </a:t>
            </a:r>
          </a:p>
          <a:p>
            <a:pPr algn="l">
              <a:lnSpc>
                <a:spcPts val="1549"/>
              </a:lnSpc>
            </a:pPr>
            <a:endParaRPr lang="en-US" sz="30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960"/>
              </a:lnSpc>
            </a:pPr>
            <a:r>
              <a:rPr lang="en-US" sz="3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Book</a:t>
            </a: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Fields: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book_id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, title, author,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isbn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, available</a:t>
            </a: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Represents books in the library collection.</a:t>
            </a:r>
          </a:p>
          <a:p>
            <a:pPr algn="l">
              <a:lnSpc>
                <a:spcPts val="1549"/>
              </a:lnSpc>
            </a:pPr>
            <a:endParaRPr lang="en-US" sz="30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960"/>
              </a:lnSpc>
            </a:pPr>
            <a:r>
              <a:rPr lang="en-US" sz="3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Transaction</a:t>
            </a: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Fields: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issue_date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,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due_date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,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return_date</a:t>
            </a:r>
            <a:endParaRPr lang="en-US" sz="30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Links  a User and a Book when a book is borrowed.</a:t>
            </a: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issue_date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is when the book is borrowed.</a:t>
            </a: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due_date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is the last day to return.</a:t>
            </a:r>
          </a:p>
          <a:p>
            <a:pPr marL="690881" lvl="1" indent="-345440" algn="l">
              <a:lnSpc>
                <a:spcPts val="496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return_date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is filled when the book is returned.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14867450" y="7482700"/>
            <a:ext cx="3746726" cy="2804278"/>
          </a:xfrm>
          <a:custGeom>
            <a:avLst/>
            <a:gdLst/>
            <a:ahLst/>
            <a:cxnLst/>
            <a:rect l="l" t="t" r="r" b="b"/>
            <a:pathLst>
              <a:path w="3746726" h="2804278">
                <a:moveTo>
                  <a:pt x="0" y="0"/>
                </a:moveTo>
                <a:lnTo>
                  <a:pt x="3746726" y="0"/>
                </a:lnTo>
                <a:lnTo>
                  <a:pt x="3746726" y="2804278"/>
                </a:lnTo>
                <a:lnTo>
                  <a:pt x="0" y="280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495" b="-19495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5127150" y="8098434"/>
            <a:ext cx="4731225" cy="2188544"/>
          </a:xfrm>
          <a:custGeom>
            <a:avLst/>
            <a:gdLst/>
            <a:ahLst/>
            <a:cxnLst/>
            <a:rect l="l" t="t" r="r" b="b"/>
            <a:pathLst>
              <a:path w="4731225" h="2188544">
                <a:moveTo>
                  <a:pt x="4731225" y="0"/>
                </a:moveTo>
                <a:lnTo>
                  <a:pt x="0" y="0"/>
                </a:lnTo>
                <a:lnTo>
                  <a:pt x="0" y="2188544"/>
                </a:lnTo>
                <a:lnTo>
                  <a:pt x="4731225" y="2188544"/>
                </a:lnTo>
                <a:lnTo>
                  <a:pt x="4731225" y="0"/>
                </a:lnTo>
                <a:close/>
              </a:path>
            </a:pathLst>
          </a:custGeom>
          <a:blipFill>
            <a:blip r:embed="rId3"/>
            <a:stretch>
              <a:fillRect t="-34445" b="-34445"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0" y="0"/>
            <a:ext cx="3726552" cy="1304925"/>
          </a:xfrm>
          <a:custGeom>
            <a:avLst/>
            <a:gdLst/>
            <a:ahLst/>
            <a:cxnLst/>
            <a:rect l="l" t="t" r="r" b="b"/>
            <a:pathLst>
              <a:path w="3726552" h="1304925">
                <a:moveTo>
                  <a:pt x="3726552" y="0"/>
                </a:moveTo>
                <a:lnTo>
                  <a:pt x="0" y="0"/>
                </a:lnTo>
                <a:lnTo>
                  <a:pt x="0" y="1304925"/>
                </a:lnTo>
                <a:lnTo>
                  <a:pt x="3726552" y="1304925"/>
                </a:lnTo>
                <a:lnTo>
                  <a:pt x="3726552" y="0"/>
                </a:lnTo>
                <a:close/>
              </a:path>
            </a:pathLst>
          </a:custGeom>
          <a:blipFill>
            <a:blip r:embed="rId4"/>
            <a:stretch>
              <a:fillRect t="-60225" b="-22406"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4867450" y="7650000"/>
            <a:ext cx="3212652" cy="2383500"/>
          </a:xfrm>
          <a:custGeom>
            <a:avLst/>
            <a:gdLst/>
            <a:ahLst/>
            <a:cxnLst/>
            <a:rect l="l" t="t" r="r" b="b"/>
            <a:pathLst>
              <a:path w="3212652" h="2383500">
                <a:moveTo>
                  <a:pt x="3212652" y="0"/>
                </a:moveTo>
                <a:lnTo>
                  <a:pt x="0" y="0"/>
                </a:lnTo>
                <a:lnTo>
                  <a:pt x="0" y="2383500"/>
                </a:lnTo>
                <a:lnTo>
                  <a:pt x="3212652" y="2383500"/>
                </a:lnTo>
                <a:lnTo>
                  <a:pt x="3212652" y="0"/>
                </a:lnTo>
                <a:close/>
              </a:path>
            </a:pathLst>
          </a:custGeom>
          <a:blipFill>
            <a:blip r:embed="rId4"/>
            <a:stretch>
              <a:fillRect l="-16010"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>
            <a:off x="13139550" y="12179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33148" y="363856"/>
            <a:ext cx="981113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DATA MODELS</a:t>
            </a:r>
            <a:endParaRPr lang="en-US" sz="60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4C110EA5-5E07-680B-6E8E-EA03C85014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035" y="1775548"/>
            <a:ext cx="8264496" cy="82644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2558676"/>
            <a:ext cx="7751624" cy="682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  </a:t>
            </a:r>
            <a:r>
              <a:rPr lang="en-US" sz="3200" b="1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Serializers</a:t>
            </a:r>
          </a:p>
          <a:p>
            <a:pPr marL="690881" lvl="1" indent="-345440" algn="l">
              <a:lnSpc>
                <a:spcPts val="3776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Convert Models → JSON</a:t>
            </a:r>
          </a:p>
          <a:p>
            <a:pPr marL="690881" lvl="1" indent="-345440" algn="l">
              <a:lnSpc>
                <a:spcPts val="3776"/>
              </a:lnSpc>
              <a:buAutoNum type="arabicPeriod"/>
            </a:pP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TransactionSerializer</a:t>
            </a: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→ calculates and returns fine.</a:t>
            </a:r>
            <a:b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</a:br>
            <a:endParaRPr lang="en-US" sz="32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776"/>
              </a:lnSpc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  </a:t>
            </a:r>
            <a:r>
              <a:rPr lang="en-US" sz="3200" b="1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Views</a:t>
            </a:r>
          </a:p>
          <a:p>
            <a:pPr marL="690881" lvl="1" indent="-345440" algn="l">
              <a:lnSpc>
                <a:spcPts val="3776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Implemented using </a:t>
            </a: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ViewSets</a:t>
            </a: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</a:t>
            </a:r>
          </a:p>
          <a:p>
            <a:pPr marL="916941" lvl="1" indent="-571500" algn="l">
              <a:lnSpc>
                <a:spcPts val="3776"/>
              </a:lnSpc>
              <a:buFont typeface="+mj-lt"/>
              <a:buAutoNum type="romanUcPeriod"/>
            </a:pP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UserViewSet</a:t>
            </a:r>
            <a:endParaRPr lang="en-US" sz="32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916941" lvl="1" indent="-571500" algn="l">
              <a:lnSpc>
                <a:spcPts val="3776"/>
              </a:lnSpc>
              <a:buFont typeface="+mj-lt"/>
              <a:buAutoNum type="romanUcPeriod"/>
            </a:pP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BookViewSet</a:t>
            </a:r>
            <a:endParaRPr lang="en-US" sz="32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916941" lvl="1" indent="-571500" algn="l">
              <a:lnSpc>
                <a:spcPts val="3776"/>
              </a:lnSpc>
              <a:buFont typeface="+mj-lt"/>
              <a:buAutoNum type="romanUcPeriod"/>
            </a:pP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TransactionViewSet</a:t>
            </a:r>
            <a:endParaRPr lang="en-US" sz="32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345441" lvl="1" algn="l">
              <a:lnSpc>
                <a:spcPts val="3776"/>
              </a:lnSpc>
            </a:pPr>
            <a:endParaRPr lang="en-US" sz="32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345441" lvl="1" algn="l">
              <a:lnSpc>
                <a:spcPts val="3776"/>
              </a:lnSpc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Custom Action: </a:t>
            </a: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/>
            </a:r>
            <a:b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</a:b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return_book</a:t>
            </a: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() → updates availability &amp; fine, sets return date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15646200" y="8065564"/>
            <a:ext cx="2967976" cy="2221414"/>
          </a:xfrm>
          <a:custGeom>
            <a:avLst/>
            <a:gdLst/>
            <a:ahLst/>
            <a:cxnLst/>
            <a:rect l="l" t="t" r="r" b="b"/>
            <a:pathLst>
              <a:path w="2967976" h="2221414">
                <a:moveTo>
                  <a:pt x="0" y="0"/>
                </a:moveTo>
                <a:lnTo>
                  <a:pt x="2967976" y="0"/>
                </a:lnTo>
                <a:lnTo>
                  <a:pt x="2967976" y="2221414"/>
                </a:lnTo>
                <a:lnTo>
                  <a:pt x="0" y="222141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9495" b="-19495"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14867450" y="7650000"/>
            <a:ext cx="3212652" cy="2383500"/>
          </a:xfrm>
          <a:custGeom>
            <a:avLst/>
            <a:gdLst/>
            <a:ahLst/>
            <a:cxnLst/>
            <a:rect l="l" t="t" r="r" b="b"/>
            <a:pathLst>
              <a:path w="3212652" h="2383500">
                <a:moveTo>
                  <a:pt x="3212652" y="0"/>
                </a:moveTo>
                <a:lnTo>
                  <a:pt x="0" y="0"/>
                </a:lnTo>
                <a:lnTo>
                  <a:pt x="0" y="2383500"/>
                </a:lnTo>
                <a:lnTo>
                  <a:pt x="3212652" y="2383500"/>
                </a:lnTo>
                <a:lnTo>
                  <a:pt x="3212652" y="0"/>
                </a:lnTo>
                <a:close/>
              </a:path>
            </a:pathLst>
          </a:custGeom>
          <a:blipFill>
            <a:blip r:embed="rId3"/>
            <a:stretch>
              <a:fillRect l="-16010"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3139550" y="12179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88062" y="666750"/>
            <a:ext cx="1411187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SERIALIZERS &amp; VIEWS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7A2D341D-2F4B-C4CF-818C-4A89B2E50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1881" b="13441"/>
          <a:stretch>
            <a:fillRect/>
          </a:stretch>
        </p:blipFill>
        <p:spPr>
          <a:xfrm>
            <a:off x="8572496" y="2643170"/>
            <a:ext cx="9400264" cy="6072230"/>
          </a:xfrm>
          <a:prstGeom prst="rect">
            <a:avLst/>
          </a:prstGeom>
        </p:spPr>
      </p:pic>
      <p:sp>
        <p:nvSpPr>
          <p:cNvPr id="9" name="Freeform 2"/>
          <p:cNvSpPr/>
          <p:nvPr/>
        </p:nvSpPr>
        <p:spPr>
          <a:xfrm>
            <a:off x="-337626" y="-108022"/>
            <a:ext cx="3409396" cy="2679754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4867450" y="7482700"/>
            <a:ext cx="3746726" cy="2804278"/>
          </a:xfrm>
          <a:custGeom>
            <a:avLst/>
            <a:gdLst/>
            <a:ahLst/>
            <a:cxnLst/>
            <a:rect l="l" t="t" r="r" b="b"/>
            <a:pathLst>
              <a:path w="3746726" h="2804278">
                <a:moveTo>
                  <a:pt x="0" y="0"/>
                </a:moveTo>
                <a:lnTo>
                  <a:pt x="3746726" y="0"/>
                </a:lnTo>
                <a:lnTo>
                  <a:pt x="3746726" y="2804278"/>
                </a:lnTo>
                <a:lnTo>
                  <a:pt x="0" y="280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495" b="-19495"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113850" y="121808"/>
            <a:ext cx="2727349" cy="1744200"/>
          </a:xfrm>
          <a:custGeom>
            <a:avLst/>
            <a:gdLst/>
            <a:ahLst/>
            <a:cxnLst/>
            <a:rect l="l" t="t" r="r" b="b"/>
            <a:pathLst>
              <a:path w="2727349" h="1744200">
                <a:moveTo>
                  <a:pt x="2727349" y="0"/>
                </a:moveTo>
                <a:lnTo>
                  <a:pt x="0" y="0"/>
                </a:lnTo>
                <a:lnTo>
                  <a:pt x="0" y="1744200"/>
                </a:lnTo>
                <a:lnTo>
                  <a:pt x="2727349" y="1744200"/>
                </a:lnTo>
                <a:lnTo>
                  <a:pt x="27273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14867450" y="7650000"/>
            <a:ext cx="3212652" cy="2383500"/>
          </a:xfrm>
          <a:custGeom>
            <a:avLst/>
            <a:gdLst/>
            <a:ahLst/>
            <a:cxnLst/>
            <a:rect l="l" t="t" r="r" b="b"/>
            <a:pathLst>
              <a:path w="3212652" h="2383500">
                <a:moveTo>
                  <a:pt x="3212652" y="0"/>
                </a:moveTo>
                <a:lnTo>
                  <a:pt x="0" y="0"/>
                </a:lnTo>
                <a:lnTo>
                  <a:pt x="0" y="2383500"/>
                </a:lnTo>
                <a:lnTo>
                  <a:pt x="3212652" y="2383500"/>
                </a:lnTo>
                <a:lnTo>
                  <a:pt x="3212652" y="0"/>
                </a:lnTo>
                <a:close/>
              </a:path>
            </a:pathLst>
          </a:custGeom>
          <a:blipFill>
            <a:blip r:embed="rId3"/>
            <a:stretch>
              <a:fillRect l="-16010"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13139550" y="12179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62593" y="485775"/>
            <a:ext cx="1136281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API ENDPOINTS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19838" y="3911104"/>
            <a:ext cx="7543162" cy="1504373"/>
            <a:chOff x="0" y="0"/>
            <a:chExt cx="1699856" cy="4471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9856" cy="447188"/>
            </a:xfrm>
            <a:custGeom>
              <a:avLst/>
              <a:gdLst/>
              <a:ahLst/>
              <a:cxnLst/>
              <a:rect l="l" t="t" r="r" b="b"/>
              <a:pathLst>
                <a:path w="1699856" h="447188">
                  <a:moveTo>
                    <a:pt x="1496656" y="0"/>
                  </a:moveTo>
                  <a:cubicBezTo>
                    <a:pt x="1608880" y="0"/>
                    <a:pt x="1699856" y="100106"/>
                    <a:pt x="1699856" y="223594"/>
                  </a:cubicBezTo>
                  <a:cubicBezTo>
                    <a:pt x="1699856" y="347082"/>
                    <a:pt x="1608880" y="447188"/>
                    <a:pt x="1496656" y="447188"/>
                  </a:cubicBezTo>
                  <a:lnTo>
                    <a:pt x="203200" y="447188"/>
                  </a:lnTo>
                  <a:cubicBezTo>
                    <a:pt x="90976" y="447188"/>
                    <a:pt x="0" y="347082"/>
                    <a:pt x="0" y="223594"/>
                  </a:cubicBezTo>
                  <a:cubicBezTo>
                    <a:pt x="0" y="10010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43D6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699856" cy="571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 lang="en-US" sz="36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endParaRPr>
            </a:p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</a:t>
              </a:r>
              <a:r>
                <a:rPr lang="en-US" sz="3600" b="1" dirty="0" err="1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api</a:t>
              </a: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/transactions/ </a:t>
              </a:r>
            </a:p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  Issue &amp; track loans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825" y="5735667"/>
            <a:ext cx="7496175" cy="1520816"/>
            <a:chOff x="0" y="0"/>
            <a:chExt cx="1699856" cy="4545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99856" cy="454566"/>
            </a:xfrm>
            <a:custGeom>
              <a:avLst/>
              <a:gdLst/>
              <a:ahLst/>
              <a:cxnLst/>
              <a:rect l="l" t="t" r="r" b="b"/>
              <a:pathLst>
                <a:path w="1699856" h="454566">
                  <a:moveTo>
                    <a:pt x="1496656" y="0"/>
                  </a:moveTo>
                  <a:cubicBezTo>
                    <a:pt x="1608880" y="0"/>
                    <a:pt x="1699856" y="101758"/>
                    <a:pt x="1699856" y="227283"/>
                  </a:cubicBezTo>
                  <a:cubicBezTo>
                    <a:pt x="1699856" y="352808"/>
                    <a:pt x="1608880" y="454566"/>
                    <a:pt x="1496656" y="454566"/>
                  </a:cubicBezTo>
                  <a:lnTo>
                    <a:pt x="203200" y="454566"/>
                  </a:lnTo>
                  <a:cubicBezTo>
                    <a:pt x="90976" y="454566"/>
                    <a:pt x="0" y="352808"/>
                    <a:pt x="0" y="227283"/>
                  </a:cubicBezTo>
                  <a:cubicBezTo>
                    <a:pt x="0" y="10175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43D6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1699856" cy="578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 lang="en-US" sz="36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endParaRPr>
            </a:p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</a:t>
              </a:r>
              <a:r>
                <a:rPr lang="en-US" sz="3600" b="1" dirty="0" err="1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api</a:t>
              </a: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/books/ </a:t>
              </a:r>
            </a:p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  Manage books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9839" y="2136370"/>
            <a:ext cx="7543162" cy="1504373"/>
            <a:chOff x="0" y="0"/>
            <a:chExt cx="1699856" cy="4471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99856" cy="447188"/>
            </a:xfrm>
            <a:custGeom>
              <a:avLst/>
              <a:gdLst/>
              <a:ahLst/>
              <a:cxnLst/>
              <a:rect l="l" t="t" r="r" b="b"/>
              <a:pathLst>
                <a:path w="1699856" h="447188">
                  <a:moveTo>
                    <a:pt x="1496656" y="0"/>
                  </a:moveTo>
                  <a:cubicBezTo>
                    <a:pt x="1608880" y="0"/>
                    <a:pt x="1699856" y="100106"/>
                    <a:pt x="1699856" y="223594"/>
                  </a:cubicBezTo>
                  <a:cubicBezTo>
                    <a:pt x="1699856" y="347082"/>
                    <a:pt x="1608880" y="447188"/>
                    <a:pt x="1496656" y="447188"/>
                  </a:cubicBezTo>
                  <a:lnTo>
                    <a:pt x="203200" y="447188"/>
                  </a:lnTo>
                  <a:cubicBezTo>
                    <a:pt x="90976" y="447188"/>
                    <a:pt x="0" y="347082"/>
                    <a:pt x="0" y="223594"/>
                  </a:cubicBezTo>
                  <a:cubicBezTo>
                    <a:pt x="0" y="10010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43D6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23825"/>
              <a:ext cx="1699856" cy="571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endParaRPr lang="en-US" sz="36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endParaRPr>
            </a:p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</a:t>
              </a:r>
              <a:r>
                <a:rPr lang="en-US" sz="3600" b="1" dirty="0" err="1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api</a:t>
              </a: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/transactions/{id}/</a:t>
              </a:r>
              <a:r>
                <a:rPr lang="en-US" sz="3600" b="1" dirty="0" err="1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return_book</a:t>
              </a: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 </a:t>
              </a:r>
            </a:p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Return a book + fine calculation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35B971F0-88C2-2A1A-5E66-6CDBBB7D0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4817" b="16120"/>
          <a:stretch>
            <a:fillRect/>
          </a:stretch>
        </p:blipFill>
        <p:spPr>
          <a:xfrm>
            <a:off x="8929686" y="2428856"/>
            <a:ext cx="8955618" cy="6215106"/>
          </a:xfrm>
          <a:prstGeom prst="rect">
            <a:avLst/>
          </a:prstGeom>
        </p:spPr>
      </p:pic>
      <p:sp>
        <p:nvSpPr>
          <p:cNvPr id="20" name="Freeform 2"/>
          <p:cNvSpPr/>
          <p:nvPr/>
        </p:nvSpPr>
        <p:spPr>
          <a:xfrm rot="10800000" flipH="1">
            <a:off x="-928758" y="7715268"/>
            <a:ext cx="3746726" cy="2804278"/>
          </a:xfrm>
          <a:custGeom>
            <a:avLst/>
            <a:gdLst/>
            <a:ahLst/>
            <a:cxnLst/>
            <a:rect l="l" t="t" r="r" b="b"/>
            <a:pathLst>
              <a:path w="3746726" h="2804278">
                <a:moveTo>
                  <a:pt x="0" y="0"/>
                </a:moveTo>
                <a:lnTo>
                  <a:pt x="3746726" y="0"/>
                </a:lnTo>
                <a:lnTo>
                  <a:pt x="3746726" y="2804278"/>
                </a:lnTo>
                <a:lnTo>
                  <a:pt x="0" y="280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495" b="-19495"/>
            </a:stretch>
          </a:blipFill>
        </p:spPr>
      </p:sp>
      <p:sp>
        <p:nvSpPr>
          <p:cNvPr id="21" name="Freeform 3"/>
          <p:cNvSpPr/>
          <p:nvPr/>
        </p:nvSpPr>
        <p:spPr>
          <a:xfrm rot="-10800000" flipH="1">
            <a:off x="0" y="7143764"/>
            <a:ext cx="3857588" cy="3143236"/>
          </a:xfrm>
          <a:custGeom>
            <a:avLst/>
            <a:gdLst/>
            <a:ahLst/>
            <a:cxnLst/>
            <a:rect l="l" t="t" r="r" b="b"/>
            <a:pathLst>
              <a:path w="2727349" h="1744200">
                <a:moveTo>
                  <a:pt x="2727349" y="0"/>
                </a:moveTo>
                <a:lnTo>
                  <a:pt x="0" y="0"/>
                </a:lnTo>
                <a:lnTo>
                  <a:pt x="0" y="1744200"/>
                </a:lnTo>
                <a:lnTo>
                  <a:pt x="2727349" y="1744200"/>
                </a:lnTo>
                <a:lnTo>
                  <a:pt x="27273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282486" y="7551758"/>
            <a:ext cx="7480513" cy="1506396"/>
            <a:chOff x="0" y="0"/>
            <a:chExt cx="1691606" cy="4505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1606" cy="450552"/>
            </a:xfrm>
            <a:custGeom>
              <a:avLst/>
              <a:gdLst/>
              <a:ahLst/>
              <a:cxnLst/>
              <a:rect l="l" t="t" r="r" b="b"/>
              <a:pathLst>
                <a:path w="1691606" h="450552">
                  <a:moveTo>
                    <a:pt x="1488406" y="0"/>
                  </a:moveTo>
                  <a:cubicBezTo>
                    <a:pt x="1600630" y="0"/>
                    <a:pt x="1691606" y="100860"/>
                    <a:pt x="1691606" y="225276"/>
                  </a:cubicBezTo>
                  <a:cubicBezTo>
                    <a:pt x="1691606" y="349693"/>
                    <a:pt x="1600630" y="450552"/>
                    <a:pt x="1488406" y="450552"/>
                  </a:cubicBezTo>
                  <a:lnTo>
                    <a:pt x="203200" y="450552"/>
                  </a:lnTo>
                  <a:cubicBezTo>
                    <a:pt x="90976" y="450552"/>
                    <a:pt x="0" y="349693"/>
                    <a:pt x="0" y="225276"/>
                  </a:cubicBezTo>
                  <a:cubicBezTo>
                    <a:pt x="0" y="10086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43D6F"/>
            </a:solidFill>
          </p:spPr>
          <p:txBody>
            <a:bodyPr/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23825"/>
              <a:ext cx="1691606" cy="574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 </a:t>
              </a:r>
            </a:p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</a:t>
              </a:r>
              <a:r>
                <a:rPr lang="en-US" sz="3600" b="1" dirty="0" err="1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api</a:t>
              </a: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/users/ </a:t>
              </a:r>
            </a:p>
            <a:p>
              <a:pPr algn="ctr">
                <a:lnSpc>
                  <a:spcPts val="3749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  Manage users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486400" y="447674"/>
            <a:ext cx="872271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SYSTEM WORKFLOW</a:t>
            </a:r>
          </a:p>
        </p:txBody>
      </p:sp>
      <p:sp>
        <p:nvSpPr>
          <p:cNvPr id="7" name="Freeform 2"/>
          <p:cNvSpPr/>
          <p:nvPr/>
        </p:nvSpPr>
        <p:spPr>
          <a:xfrm>
            <a:off x="-337626" y="-108022"/>
            <a:ext cx="3623710" cy="3251258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5"/>
          <p:cNvSpPr/>
          <p:nvPr/>
        </p:nvSpPr>
        <p:spPr>
          <a:xfrm rot="-5400000">
            <a:off x="16471969" y="-2041593"/>
            <a:ext cx="2571768" cy="5654750"/>
          </a:xfrm>
          <a:custGeom>
            <a:avLst/>
            <a:gdLst/>
            <a:ahLst/>
            <a:cxnLst/>
            <a:rect l="l" t="t" r="r" b="b"/>
            <a:pathLst>
              <a:path w="3244172" h="3358300">
                <a:moveTo>
                  <a:pt x="0" y="0"/>
                </a:moveTo>
                <a:lnTo>
                  <a:pt x="3244172" y="0"/>
                </a:lnTo>
                <a:lnTo>
                  <a:pt x="3244172" y="3358300"/>
                </a:lnTo>
                <a:lnTo>
                  <a:pt x="0" y="33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25000" y="1463880"/>
            <a:ext cx="7810500" cy="8075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User selects an action from the React frontend.</a:t>
            </a:r>
          </a:p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Frontend sends API request via Axios to the Django REST backend.</a:t>
            </a:r>
          </a:p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Backend processes the request and updates the SQLite database </a:t>
            </a:r>
          </a:p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Django Admin panel reflects all updates for monitoring and management.</a:t>
            </a:r>
          </a:p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Backend returns JSON responses, and the frontend updates UI with latest data </a:t>
            </a:r>
          </a:p>
        </p:txBody>
      </p:sp>
      <p:sp>
        <p:nvSpPr>
          <p:cNvPr id="11" name="Freeform 7"/>
          <p:cNvSpPr/>
          <p:nvPr/>
        </p:nvSpPr>
        <p:spPr>
          <a:xfrm rot="-10800000" flipH="1">
            <a:off x="-1214510" y="721520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6" name="Picture 5" descr="WhatsApp Image 2025-09-12 at 15.25.00_c3dff473.jpg"/>
          <p:cNvPicPr>
            <a:picLocks noChangeAspect="1"/>
          </p:cNvPicPr>
          <p:nvPr/>
        </p:nvPicPr>
        <p:blipFill>
          <a:blip r:embed="rId5"/>
          <a:srcRect l="6220" t="9775" r="4916" b="8471"/>
          <a:stretch>
            <a:fillRect/>
          </a:stretch>
        </p:blipFill>
        <p:spPr>
          <a:xfrm>
            <a:off x="1254760" y="1777341"/>
            <a:ext cx="8317868" cy="7652439"/>
          </a:xfrm>
          <a:prstGeom prst="rect">
            <a:avLst/>
          </a:prstGeom>
        </p:spPr>
      </p:pic>
      <p:sp>
        <p:nvSpPr>
          <p:cNvPr id="12" name="Freeform 7"/>
          <p:cNvSpPr/>
          <p:nvPr/>
        </p:nvSpPr>
        <p:spPr>
          <a:xfrm rot="-10800000" flipH="1">
            <a:off x="14644726" y="7358079"/>
            <a:ext cx="3643274" cy="2857484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1329"/>
            </a:gs>
            <a:gs pos="50000">
              <a:srgbClr val="180229"/>
            </a:gs>
            <a:gs pos="100000">
              <a:srgbClr val="06000C"/>
            </a:gs>
          </a:gsLst>
          <a:lin ang="2700006" scaled="0"/>
        </a:gra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775EBC66-6F4B-14B9-009D-D63CE4F6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/>
          <p:cNvSpPr/>
          <p:nvPr/>
        </p:nvSpPr>
        <p:spPr>
          <a:xfrm rot="-10800000" flipH="1">
            <a:off x="113850" y="121808"/>
            <a:ext cx="2727349" cy="1744200"/>
          </a:xfrm>
          <a:custGeom>
            <a:avLst/>
            <a:gdLst/>
            <a:ahLst/>
            <a:cxnLst/>
            <a:rect l="l" t="t" r="r" b="b"/>
            <a:pathLst>
              <a:path w="2727349" h="1744200">
                <a:moveTo>
                  <a:pt x="2727349" y="0"/>
                </a:moveTo>
                <a:lnTo>
                  <a:pt x="0" y="0"/>
                </a:lnTo>
                <a:lnTo>
                  <a:pt x="0" y="1744200"/>
                </a:lnTo>
                <a:lnTo>
                  <a:pt x="2727349" y="1744200"/>
                </a:lnTo>
                <a:lnTo>
                  <a:pt x="272734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4"/>
          <p:cNvSpPr/>
          <p:nvPr/>
        </p:nvSpPr>
        <p:spPr>
          <a:xfrm rot="-10800000" flipH="1">
            <a:off x="14867450" y="7650000"/>
            <a:ext cx="3212652" cy="2383500"/>
          </a:xfrm>
          <a:custGeom>
            <a:avLst/>
            <a:gdLst/>
            <a:ahLst/>
            <a:cxnLst/>
            <a:rect l="l" t="t" r="r" b="b"/>
            <a:pathLst>
              <a:path w="3212652" h="2383500">
                <a:moveTo>
                  <a:pt x="3212652" y="0"/>
                </a:moveTo>
                <a:lnTo>
                  <a:pt x="0" y="0"/>
                </a:lnTo>
                <a:lnTo>
                  <a:pt x="0" y="2383500"/>
                </a:lnTo>
                <a:lnTo>
                  <a:pt x="3212652" y="2383500"/>
                </a:lnTo>
                <a:lnTo>
                  <a:pt x="3212652" y="0"/>
                </a:lnTo>
                <a:close/>
              </a:path>
            </a:pathLst>
          </a:custGeom>
          <a:blipFill>
            <a:blip r:embed="rId2"/>
            <a:stretch>
              <a:fillRect l="-16010"/>
            </a:stretch>
          </a:blipFill>
        </p:spPr>
      </p:sp>
      <p:sp>
        <p:nvSpPr>
          <p:cNvPr id="12" name="Freeform 5"/>
          <p:cNvSpPr/>
          <p:nvPr/>
        </p:nvSpPr>
        <p:spPr>
          <a:xfrm rot="-10800000" flipH="1">
            <a:off x="13139550" y="12179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3"/>
          <p:cNvSpPr/>
          <p:nvPr/>
        </p:nvSpPr>
        <p:spPr>
          <a:xfrm rot="-10800000" flipH="1">
            <a:off x="0" y="7143764"/>
            <a:ext cx="3857588" cy="3143236"/>
          </a:xfrm>
          <a:custGeom>
            <a:avLst/>
            <a:gdLst/>
            <a:ahLst/>
            <a:cxnLst/>
            <a:rect l="l" t="t" r="r" b="b"/>
            <a:pathLst>
              <a:path w="2727349" h="1744200">
                <a:moveTo>
                  <a:pt x="2727349" y="0"/>
                </a:moveTo>
                <a:lnTo>
                  <a:pt x="0" y="0"/>
                </a:lnTo>
                <a:lnTo>
                  <a:pt x="0" y="1744200"/>
                </a:lnTo>
                <a:lnTo>
                  <a:pt x="2727349" y="1744200"/>
                </a:lnTo>
                <a:lnTo>
                  <a:pt x="272734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AutoShape 4">
            <a:extLst>
              <a:ext uri="{FF2B5EF4-FFF2-40B4-BE49-F238E27FC236}">
                <a16:creationId xmlns="" xmlns:a16="http://schemas.microsoft.com/office/drawing/2014/main" id="{40419072-3C3A-4340-1F3C-2574881100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A3FC1FD-2CD6-D0A6-DFE1-9FDEAE097C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56" y="2074217"/>
            <a:ext cx="8344544" cy="7677795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CD940DF8-3436-4D55-6672-4437BC17A56E}"/>
              </a:ext>
            </a:extLst>
          </p:cNvPr>
          <p:cNvSpPr txBox="1"/>
          <p:nvPr/>
        </p:nvSpPr>
        <p:spPr>
          <a:xfrm>
            <a:off x="2748057" y="534988"/>
            <a:ext cx="12487085" cy="101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chemeClr val="bg1"/>
                </a:solidFill>
                <a:ea typeface="Arimo Bold"/>
                <a:cs typeface="Arimo Bold"/>
                <a:sym typeface="Arimo Bold"/>
              </a:rPr>
              <a:t>COMMAND-LINE VERSION</a:t>
            </a:r>
            <a:endParaRPr lang="en-US" sz="6000" b="1" dirty="0">
              <a:solidFill>
                <a:schemeClr val="bg1"/>
              </a:solidFill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AAA9F41-1174-96C1-125B-2FCF9F7392DD}"/>
              </a:ext>
            </a:extLst>
          </p:cNvPr>
          <p:cNvSpPr txBox="1"/>
          <p:nvPr/>
        </p:nvSpPr>
        <p:spPr>
          <a:xfrm>
            <a:off x="9576048" y="2074217"/>
            <a:ext cx="7491717" cy="6945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 lightweight library management system built purely with Python.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Runs as a Command Line Interface (CLI) for easy usage without a web server.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Designed to manage books, users, and transactions with persistent storage.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Uses JSON files for saving data and log files for tracking system activities.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Provides a simple yet effective way to issue, return, and monitor books.</a:t>
            </a:r>
          </a:p>
        </p:txBody>
      </p:sp>
    </p:spTree>
    <p:extLst>
      <p:ext uri="{BB962C8B-B14F-4D97-AF65-F5344CB8AC3E}">
        <p14:creationId xmlns="" xmlns:p14="http://schemas.microsoft.com/office/powerpoint/2010/main" val="74377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C44"/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19200" y="2171700"/>
            <a:ext cx="8945880" cy="718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Modules : </a:t>
            </a: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json</a:t>
            </a: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os</a:t>
            </a: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, datetime, logging. </a:t>
            </a:r>
          </a:p>
          <a:p>
            <a:pPr algn="l">
              <a:lnSpc>
                <a:spcPts val="8000"/>
              </a:lnSpc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  2. Classes: </a:t>
            </a:r>
          </a:p>
          <a:p>
            <a:pPr marL="514350" indent="-514350" algn="just">
              <a:lnSpc>
                <a:spcPts val="8000"/>
              </a:lnSpc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        i. Book : stores book details. </a:t>
            </a:r>
          </a:p>
          <a:p>
            <a:pPr marL="514350" indent="-514350" algn="l">
              <a:lnSpc>
                <a:spcPts val="8000"/>
              </a:lnSpc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       ii. User : stores user details. </a:t>
            </a:r>
          </a:p>
          <a:p>
            <a:pPr algn="l">
              <a:lnSpc>
                <a:spcPts val="8000"/>
              </a:lnSpc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 3. Library System : handles operations</a:t>
            </a:r>
          </a:p>
          <a:p>
            <a:pPr algn="l">
              <a:lnSpc>
                <a:spcPts val="8000"/>
              </a:lnSpc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 4. Storage: All data stored in JSON file. </a:t>
            </a:r>
          </a:p>
          <a:p>
            <a:pPr algn="l">
              <a:lnSpc>
                <a:spcPts val="8000"/>
              </a:lnSpc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  5. Logs: System activities stored in a log file.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07389" y="624185"/>
            <a:ext cx="1518114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 smtClean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CLI ARCHITECTURE</a:t>
            </a:r>
            <a:endParaRPr lang="en-US" sz="60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5" name="Freeform 7"/>
          <p:cNvSpPr/>
          <p:nvPr/>
        </p:nvSpPr>
        <p:spPr>
          <a:xfrm rot="-10800000" flipH="1">
            <a:off x="13274700" y="1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7"/>
          <p:cNvSpPr/>
          <p:nvPr/>
        </p:nvSpPr>
        <p:spPr>
          <a:xfrm rot="-10800000" flipH="1">
            <a:off x="0" y="0"/>
            <a:ext cx="4214778" cy="2643169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>
            <a:off x="-357254" y="7358079"/>
            <a:ext cx="4000464" cy="2928921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7"/>
          <p:cNvSpPr/>
          <p:nvPr/>
        </p:nvSpPr>
        <p:spPr>
          <a:xfrm rot="-10800000" flipH="1">
            <a:off x="15001916" y="7858144"/>
            <a:ext cx="3929026" cy="3214674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9448800" y="1833582"/>
            <a:ext cx="8172450" cy="8453418"/>
          </a:xfrm>
          <a:custGeom>
            <a:avLst/>
            <a:gdLst/>
            <a:ahLst/>
            <a:cxnLst/>
            <a:rect l="l" t="t" r="r" b="b"/>
            <a:pathLst>
              <a:path w="8172450" h="8453418">
                <a:moveTo>
                  <a:pt x="0" y="0"/>
                </a:moveTo>
                <a:lnTo>
                  <a:pt x="8172450" y="0"/>
                </a:lnTo>
                <a:lnTo>
                  <a:pt x="8172450" y="8453418"/>
                </a:lnTo>
                <a:lnTo>
                  <a:pt x="0" y="845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lum bright="40000" contrast="-40000"/>
            </a:blip>
            <a:stretch>
              <a:fillRect l="-2658" t="-1817" r="-2658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09432"/>
            <a:ext cx="6681976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5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FUNCTIONAL REQUIREMENTS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79280" y="542732"/>
            <a:ext cx="670560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50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NON-FUNCTIONAL REQUIREMENTS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8811" y="2647950"/>
            <a:ext cx="6913750" cy="661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75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Add and remove books </a:t>
            </a:r>
          </a:p>
          <a:p>
            <a:pPr marL="647700" lvl="1" indent="-323850" algn="l">
              <a:lnSpc>
                <a:spcPts val="75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Register new users</a:t>
            </a:r>
          </a:p>
          <a:p>
            <a:pPr marL="647700" lvl="1" indent="-323850" algn="l">
              <a:lnSpc>
                <a:spcPts val="75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Issue and return books with due dates</a:t>
            </a:r>
          </a:p>
          <a:p>
            <a:pPr marL="647700" lvl="1" indent="-323850" algn="l">
              <a:lnSpc>
                <a:spcPts val="75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Calculate fines for late returns</a:t>
            </a:r>
          </a:p>
          <a:p>
            <a:pPr marL="647700" lvl="1" indent="-323850" algn="l">
              <a:lnSpc>
                <a:spcPts val="75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Display available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books,registered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users, and active loans</a:t>
            </a:r>
          </a:p>
          <a:p>
            <a:pPr marL="647700" lvl="1" indent="-323850" algn="l">
              <a:lnSpc>
                <a:spcPts val="75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Maintain persistent storage using JSON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05179" y="2247707"/>
            <a:ext cx="8620125" cy="253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5009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Easy-to-use Command Line Interface (CLI)</a:t>
            </a:r>
          </a:p>
          <a:p>
            <a:pPr marL="647700" lvl="1" indent="-323850" algn="l">
              <a:lnSpc>
                <a:spcPts val="5009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Data consistency between sessions (via </a:t>
            </a:r>
            <a:r>
              <a:rPr lang="en-US" sz="30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library.json</a:t>
            </a: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)</a:t>
            </a:r>
          </a:p>
          <a:p>
            <a:pPr marL="647700" lvl="1" indent="-323850" algn="l">
              <a:lnSpc>
                <a:spcPts val="5009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Logging of activities (library.log) for tracking</a:t>
            </a:r>
          </a:p>
          <a:p>
            <a:pPr marL="647700" lvl="1" indent="-323850" algn="l">
              <a:lnSpc>
                <a:spcPts val="5009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Error handling for invalid inputs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5868728"/>
            <a:ext cx="7807080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000" b="1" dirty="0" smtClean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TOOLS &amp; ENVIRONMENT</a:t>
            </a:r>
            <a:endParaRPr lang="en-US" sz="50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805179" y="6767888"/>
            <a:ext cx="9137689" cy="211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552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Python 3.10 or 3.12 installed </a:t>
            </a:r>
          </a:p>
          <a:p>
            <a:pPr marL="647700" lvl="1" indent="-323850" algn="l">
              <a:lnSpc>
                <a:spcPts val="5520"/>
              </a:lnSpc>
              <a:buAutoNum type="arabicPeriod"/>
            </a:pPr>
            <a:r>
              <a:rPr lang="en-US" sz="3000" dirty="0" err="1" smtClean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PyCharm</a:t>
            </a:r>
            <a:endParaRPr lang="en-US" sz="30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647700" lvl="1" indent="-323850" algn="l">
              <a:lnSpc>
                <a:spcPts val="552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Command line / terminal to run the program 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8355200" y="397192"/>
            <a:ext cx="0" cy="948054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8355265" y="5479983"/>
            <a:ext cx="970100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7"/>
          <p:cNvSpPr/>
          <p:nvPr/>
        </p:nvSpPr>
        <p:spPr>
          <a:xfrm rot="-10800000" flipH="1">
            <a:off x="15144792" y="121792"/>
            <a:ext cx="3008058" cy="2592816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7"/>
          <p:cNvSpPr/>
          <p:nvPr/>
        </p:nvSpPr>
        <p:spPr>
          <a:xfrm rot="-10800000" flipH="1">
            <a:off x="-857320" y="0"/>
            <a:ext cx="3929026" cy="2571731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7"/>
          <p:cNvSpPr/>
          <p:nvPr/>
        </p:nvSpPr>
        <p:spPr>
          <a:xfrm rot="-10800000" flipH="1">
            <a:off x="14930478" y="7643830"/>
            <a:ext cx="3714712" cy="3286111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7"/>
          <p:cNvSpPr/>
          <p:nvPr/>
        </p:nvSpPr>
        <p:spPr>
          <a:xfrm rot="-10800000" flipH="1">
            <a:off x="-857320" y="8215334"/>
            <a:ext cx="3929026" cy="2786046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36;p31"/>
          <p:cNvSpPr txBox="1">
            <a:spLocks/>
          </p:cNvSpPr>
          <p:nvPr/>
        </p:nvSpPr>
        <p:spPr>
          <a:xfrm>
            <a:off x="1440000" y="497638"/>
            <a:ext cx="15408000" cy="1145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SYSTEM </a:t>
            </a:r>
            <a:r>
              <a:rPr kumimoji="0" lang="en-I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ARCHITECTURE-CLI</a:t>
            </a:r>
            <a:r>
              <a:rPr kumimoji="0" lang="en-IN" sz="60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VERSION</a:t>
            </a:r>
            <a:endParaRPr kumimoji="0" lang="en-IN" sz="6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Google Shape;337;p31"/>
          <p:cNvSpPr txBox="1">
            <a:spLocks/>
          </p:cNvSpPr>
          <p:nvPr/>
        </p:nvSpPr>
        <p:spPr>
          <a:xfrm>
            <a:off x="714316" y="2071666"/>
            <a:ext cx="8382000" cy="6858048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1022350" marR="0" lvl="0" indent="-7429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0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User selects an option from the menu. </a:t>
            </a:r>
          </a:p>
          <a:p>
            <a:pPr marL="1022350" marR="0" lvl="0" indent="-7429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0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System checks data and performs the requested operation. </a:t>
            </a:r>
          </a:p>
          <a:p>
            <a:pPr marL="1022350" marR="0" lvl="0" indent="-7429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0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Transactions (issue/return) are saved in JSON file. </a:t>
            </a:r>
          </a:p>
          <a:p>
            <a:pPr marL="1022350" marR="0" lvl="0" indent="-7429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0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Logs are updated for each action. </a:t>
            </a:r>
          </a:p>
          <a:p>
            <a:pPr marL="1022350" marR="0" lvl="0" indent="-7429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0000"/>
              <a:buFont typeface="+mj-lt"/>
              <a:buAutoNum type="arabicPeriod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User can view current books, users, and issued records anytime. </a:t>
            </a:r>
          </a:p>
        </p:txBody>
      </p:sp>
      <p:sp>
        <p:nvSpPr>
          <p:cNvPr id="13" name="Freeform 2"/>
          <p:cNvSpPr/>
          <p:nvPr/>
        </p:nvSpPr>
        <p:spPr>
          <a:xfrm rot="16200000" flipH="1" flipV="1">
            <a:off x="-828478" y="7757864"/>
            <a:ext cx="3746726" cy="3375782"/>
          </a:xfrm>
          <a:custGeom>
            <a:avLst/>
            <a:gdLst/>
            <a:ahLst/>
            <a:cxnLst/>
            <a:rect l="l" t="t" r="r" b="b"/>
            <a:pathLst>
              <a:path w="3746726" h="2804278">
                <a:moveTo>
                  <a:pt x="0" y="0"/>
                </a:moveTo>
                <a:lnTo>
                  <a:pt x="3746726" y="0"/>
                </a:lnTo>
                <a:lnTo>
                  <a:pt x="3746726" y="2804278"/>
                </a:lnTo>
                <a:lnTo>
                  <a:pt x="0" y="280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495" b="-19495"/>
            </a:stretch>
          </a:blipFill>
        </p:spPr>
      </p:sp>
      <p:sp>
        <p:nvSpPr>
          <p:cNvPr id="14" name="Freeform 2"/>
          <p:cNvSpPr/>
          <p:nvPr/>
        </p:nvSpPr>
        <p:spPr>
          <a:xfrm rot="10800000" flipV="1">
            <a:off x="16573489" y="0"/>
            <a:ext cx="3429022" cy="2357418"/>
          </a:xfrm>
          <a:custGeom>
            <a:avLst/>
            <a:gdLst/>
            <a:ahLst/>
            <a:cxnLst/>
            <a:rect l="l" t="t" r="r" b="b"/>
            <a:pathLst>
              <a:path w="3746726" h="2804278">
                <a:moveTo>
                  <a:pt x="0" y="0"/>
                </a:moveTo>
                <a:lnTo>
                  <a:pt x="3746726" y="0"/>
                </a:lnTo>
                <a:lnTo>
                  <a:pt x="3746726" y="2804278"/>
                </a:lnTo>
                <a:lnTo>
                  <a:pt x="0" y="280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495" b="-19495"/>
            </a:stretch>
          </a:blipFill>
        </p:spPr>
      </p:sp>
      <p:sp>
        <p:nvSpPr>
          <p:cNvPr id="16" name="Freeform 6"/>
          <p:cNvSpPr/>
          <p:nvPr/>
        </p:nvSpPr>
        <p:spPr>
          <a:xfrm rot="-10800000" flipH="1">
            <a:off x="-428692" y="0"/>
            <a:ext cx="3857588" cy="2285979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6"/>
          <p:cNvSpPr/>
          <p:nvPr/>
        </p:nvSpPr>
        <p:spPr>
          <a:xfrm rot="-10800000" flipH="1">
            <a:off x="13215966" y="7786706"/>
            <a:ext cx="5072033" cy="2500294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F4850D8A-CDD1-A829-24A7-C1A12B8F5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409" t="7500" r="3693" b="8124"/>
          <a:stretch>
            <a:fillRect/>
          </a:stretch>
        </p:blipFill>
        <p:spPr>
          <a:xfrm>
            <a:off x="9215438" y="2171286"/>
            <a:ext cx="8358246" cy="6901304"/>
          </a:xfrm>
          <a:prstGeom prst="rect">
            <a:avLst/>
          </a:prstGeom>
        </p:spPr>
      </p:pic>
      <p:sp>
        <p:nvSpPr>
          <p:cNvPr id="18" name="Freeform 6"/>
          <p:cNvSpPr/>
          <p:nvPr/>
        </p:nvSpPr>
        <p:spPr>
          <a:xfrm rot="-10800000" flipH="1">
            <a:off x="0" y="7786706"/>
            <a:ext cx="5072033" cy="2500294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6"/>
          <p:cNvSpPr/>
          <p:nvPr/>
        </p:nvSpPr>
        <p:spPr>
          <a:xfrm rot="-10800000" flipH="1">
            <a:off x="14430411" y="1"/>
            <a:ext cx="3857588" cy="2285979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 scaled="0"/>
        </a:gradFill>
        <a:effectLst/>
      </p:bgPr>
    </p:bg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3"/>
          <p:cNvSpPr txBox="1">
            <a:spLocks noGrp="1"/>
          </p:cNvSpPr>
          <p:nvPr>
            <p:ph type="title"/>
          </p:nvPr>
        </p:nvSpPr>
        <p:spPr>
          <a:xfrm>
            <a:off x="1348547" y="993348"/>
            <a:ext cx="15408000" cy="1145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r>
              <a:rPr lang="de" sz="6000" b="1" dirty="0">
                <a:solidFill>
                  <a:schemeClr val="bg1"/>
                </a:solidFill>
              </a:rPr>
              <a:t>KEY </a:t>
            </a:r>
            <a:r>
              <a:rPr lang="de" sz="6000" b="1" dirty="0" smtClean="0">
                <a:solidFill>
                  <a:schemeClr val="bg1"/>
                </a:solidFill>
              </a:rPr>
              <a:t>FUNCTIONS</a:t>
            </a:r>
            <a:endParaRPr sz="6000" b="1" dirty="0">
              <a:solidFill>
                <a:schemeClr val="bg1"/>
              </a:solidFill>
            </a:endParaRPr>
          </a:p>
        </p:txBody>
      </p:sp>
      <p:sp>
        <p:nvSpPr>
          <p:cNvPr id="990" name="Google Shape;990;p43"/>
          <p:cNvSpPr txBox="1">
            <a:spLocks noGrp="1"/>
          </p:cNvSpPr>
          <p:nvPr>
            <p:ph type="subTitle" idx="1"/>
          </p:nvPr>
        </p:nvSpPr>
        <p:spPr>
          <a:xfrm>
            <a:off x="1745000" y="8279400"/>
            <a:ext cx="4679400" cy="1232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marL="0" indent="0"/>
            <a:r>
              <a:rPr lang="en-US" dirty="0">
                <a:solidFill>
                  <a:schemeClr val="bg1"/>
                </a:solidFill>
              </a:rPr>
              <a:t>Issues book with due date.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91" name="Google Shape;991;p43"/>
          <p:cNvSpPr txBox="1">
            <a:spLocks noGrp="1"/>
          </p:cNvSpPr>
          <p:nvPr>
            <p:ph type="subTitle" idx="2"/>
          </p:nvPr>
        </p:nvSpPr>
        <p:spPr>
          <a:xfrm>
            <a:off x="1744802" y="7493100"/>
            <a:ext cx="4679400" cy="1003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>
              <a:spcAft>
                <a:spcPts val="2400"/>
              </a:spcAft>
            </a:pPr>
            <a:r>
              <a:rPr lang="en-US" sz="3500" dirty="0" err="1">
                <a:solidFill>
                  <a:schemeClr val="bg1"/>
                </a:solidFill>
              </a:rPr>
              <a:t>issue_book</a:t>
            </a:r>
            <a:r>
              <a:rPr lang="en-US" sz="3500" dirty="0">
                <a:solidFill>
                  <a:schemeClr val="bg1"/>
                </a:solidFill>
              </a:rPr>
              <a:t>() 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992" name="Google Shape;992;p43"/>
          <p:cNvSpPr txBox="1">
            <a:spLocks noGrp="1"/>
          </p:cNvSpPr>
          <p:nvPr>
            <p:ph type="subTitle" idx="3"/>
          </p:nvPr>
        </p:nvSpPr>
        <p:spPr>
          <a:xfrm>
            <a:off x="6804400" y="8279400"/>
            <a:ext cx="4679400" cy="1232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marL="0" indent="0"/>
            <a:r>
              <a:rPr lang="en-US" dirty="0">
                <a:solidFill>
                  <a:schemeClr val="bg1"/>
                </a:solidFill>
              </a:rPr>
              <a:t>Shows all books with status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93" name="Google Shape;993;p43"/>
          <p:cNvSpPr txBox="1">
            <a:spLocks noGrp="1"/>
          </p:cNvSpPr>
          <p:nvPr>
            <p:ph type="subTitle" idx="4"/>
          </p:nvPr>
        </p:nvSpPr>
        <p:spPr>
          <a:xfrm>
            <a:off x="6804202" y="7493100"/>
            <a:ext cx="4679400" cy="1003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>
              <a:spcAft>
                <a:spcPts val="2400"/>
              </a:spcAft>
            </a:pPr>
            <a:r>
              <a:rPr lang="en-US" sz="3500" dirty="0" err="1">
                <a:solidFill>
                  <a:schemeClr val="bg1"/>
                </a:solidFill>
              </a:rPr>
              <a:t>list_books</a:t>
            </a:r>
            <a:r>
              <a:rPr lang="en-US" sz="3500" dirty="0">
                <a:solidFill>
                  <a:schemeClr val="bg1"/>
                </a:solidFill>
              </a:rPr>
              <a:t>() 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994" name="Google Shape;994;p43"/>
          <p:cNvSpPr txBox="1">
            <a:spLocks noGrp="1"/>
          </p:cNvSpPr>
          <p:nvPr>
            <p:ph type="subTitle" idx="5"/>
          </p:nvPr>
        </p:nvSpPr>
        <p:spPr>
          <a:xfrm>
            <a:off x="11880890" y="7862106"/>
            <a:ext cx="4679400" cy="1232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marL="0" indent="0"/>
            <a:r>
              <a:rPr lang="en-IN" dirty="0">
                <a:solidFill>
                  <a:schemeClr val="bg1"/>
                </a:solidFill>
              </a:rPr>
              <a:t>Displays registered users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95" name="Google Shape;995;p43"/>
          <p:cNvSpPr txBox="1">
            <a:spLocks noGrp="1"/>
          </p:cNvSpPr>
          <p:nvPr>
            <p:ph type="subTitle" idx="6"/>
          </p:nvPr>
        </p:nvSpPr>
        <p:spPr>
          <a:xfrm>
            <a:off x="11863602" y="7493100"/>
            <a:ext cx="4679400" cy="1003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>
              <a:spcAft>
                <a:spcPts val="2400"/>
              </a:spcAft>
            </a:pPr>
            <a:r>
              <a:rPr lang="en-IN" sz="3500" dirty="0" err="1">
                <a:solidFill>
                  <a:schemeClr val="bg1"/>
                </a:solidFill>
              </a:rPr>
              <a:t>list_users</a:t>
            </a:r>
            <a:r>
              <a:rPr lang="en-IN" sz="3500" dirty="0">
                <a:solidFill>
                  <a:schemeClr val="bg1"/>
                </a:solidFill>
              </a:rPr>
              <a:t>() 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996" name="Google Shape;996;p43"/>
          <p:cNvSpPr txBox="1">
            <a:spLocks noGrp="1"/>
          </p:cNvSpPr>
          <p:nvPr>
            <p:ph type="subTitle" idx="7"/>
          </p:nvPr>
        </p:nvSpPr>
        <p:spPr>
          <a:xfrm>
            <a:off x="1745000" y="4742176"/>
            <a:ext cx="4679400" cy="1232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marL="0" indent="0"/>
            <a:r>
              <a:rPr lang="en-US" dirty="0">
                <a:solidFill>
                  <a:schemeClr val="bg1"/>
                </a:solidFill>
              </a:rPr>
              <a:t>Adds new books to the system.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97" name="Google Shape;997;p43"/>
          <p:cNvSpPr txBox="1">
            <a:spLocks noGrp="1"/>
          </p:cNvSpPr>
          <p:nvPr>
            <p:ph type="subTitle" idx="8"/>
          </p:nvPr>
        </p:nvSpPr>
        <p:spPr>
          <a:xfrm>
            <a:off x="1744802" y="3955876"/>
            <a:ext cx="4679400" cy="1003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>
              <a:spcAft>
                <a:spcPts val="2400"/>
              </a:spcAft>
            </a:pPr>
            <a:r>
              <a:rPr lang="en-US" sz="3500" dirty="0" err="1">
                <a:solidFill>
                  <a:schemeClr val="bg1"/>
                </a:solidFill>
              </a:rPr>
              <a:t>add_book</a:t>
            </a:r>
            <a:r>
              <a:rPr lang="en-US" sz="3500" dirty="0">
                <a:solidFill>
                  <a:schemeClr val="bg1"/>
                </a:solidFill>
              </a:rPr>
              <a:t>() 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998" name="Google Shape;998;p43"/>
          <p:cNvSpPr txBox="1">
            <a:spLocks noGrp="1"/>
          </p:cNvSpPr>
          <p:nvPr>
            <p:ph type="subTitle" idx="9"/>
          </p:nvPr>
        </p:nvSpPr>
        <p:spPr>
          <a:xfrm>
            <a:off x="6804202" y="4306578"/>
            <a:ext cx="4679400" cy="1232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marL="0" indent="0"/>
            <a:r>
              <a:rPr lang="en-US" dirty="0">
                <a:solidFill>
                  <a:schemeClr val="bg1"/>
                </a:solidFill>
              </a:rPr>
              <a:t>Deletes a book if available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99" name="Google Shape;999;p43"/>
          <p:cNvSpPr txBox="1">
            <a:spLocks noGrp="1"/>
          </p:cNvSpPr>
          <p:nvPr>
            <p:ph type="subTitle" idx="13"/>
          </p:nvPr>
        </p:nvSpPr>
        <p:spPr>
          <a:xfrm>
            <a:off x="6804202" y="3955876"/>
            <a:ext cx="4679400" cy="1003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>
              <a:spcAft>
                <a:spcPts val="2400"/>
              </a:spcAft>
            </a:pPr>
            <a:r>
              <a:rPr lang="en-US" sz="3500" dirty="0" err="1">
                <a:solidFill>
                  <a:schemeClr val="bg1"/>
                </a:solidFill>
              </a:rPr>
              <a:t>remove_book</a:t>
            </a:r>
            <a:r>
              <a:rPr lang="en-US" sz="3500" dirty="0">
                <a:solidFill>
                  <a:schemeClr val="bg1"/>
                </a:solidFill>
              </a:rPr>
              <a:t>() </a:t>
            </a:r>
            <a:endParaRPr sz="3500" dirty="0">
              <a:solidFill>
                <a:schemeClr val="bg1"/>
              </a:solidFill>
            </a:endParaRPr>
          </a:p>
        </p:txBody>
      </p:sp>
      <p:sp>
        <p:nvSpPr>
          <p:cNvPr id="1000" name="Google Shape;1000;p43"/>
          <p:cNvSpPr txBox="1">
            <a:spLocks noGrp="1"/>
          </p:cNvSpPr>
          <p:nvPr>
            <p:ph type="subTitle" idx="14"/>
          </p:nvPr>
        </p:nvSpPr>
        <p:spPr>
          <a:xfrm>
            <a:off x="11906290" y="4317097"/>
            <a:ext cx="4679400" cy="12324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/>
          <a:p>
            <a:pPr marL="0" indent="0"/>
            <a:r>
              <a:rPr lang="en-IN" dirty="0">
                <a:solidFill>
                  <a:schemeClr val="bg1"/>
                </a:solidFill>
              </a:rPr>
              <a:t>Registers a new user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01" name="Google Shape;1001;p43"/>
          <p:cNvSpPr txBox="1">
            <a:spLocks noGrp="1"/>
          </p:cNvSpPr>
          <p:nvPr>
            <p:ph type="subTitle" idx="15"/>
          </p:nvPr>
        </p:nvSpPr>
        <p:spPr>
          <a:xfrm>
            <a:off x="11863602" y="3955876"/>
            <a:ext cx="4679400" cy="1003200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>
              <a:spcAft>
                <a:spcPts val="2400"/>
              </a:spcAft>
            </a:pPr>
            <a:r>
              <a:rPr lang="en-IN" sz="3500" dirty="0" err="1">
                <a:solidFill>
                  <a:schemeClr val="bg1"/>
                </a:solidFill>
              </a:rPr>
              <a:t>register_user</a:t>
            </a:r>
            <a:r>
              <a:rPr lang="en-IN" sz="3500" dirty="0">
                <a:solidFill>
                  <a:schemeClr val="bg1"/>
                </a:solidFill>
              </a:rPr>
              <a:t>() </a:t>
            </a:r>
            <a:endParaRPr sz="3500" dirty="0">
              <a:solidFill>
                <a:schemeClr val="bg1"/>
              </a:solidFill>
            </a:endParaRPr>
          </a:p>
        </p:txBody>
      </p:sp>
      <p:cxnSp>
        <p:nvCxnSpPr>
          <p:cNvPr id="1002" name="Google Shape;1002;p43"/>
          <p:cNvCxnSpPr/>
          <p:nvPr/>
        </p:nvCxnSpPr>
        <p:spPr>
          <a:xfrm>
            <a:off x="1850502" y="4679000"/>
            <a:ext cx="446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cxnSp>
        <p:nvCxnSpPr>
          <p:cNvPr id="1003" name="Google Shape;1003;p43"/>
          <p:cNvCxnSpPr/>
          <p:nvPr/>
        </p:nvCxnSpPr>
        <p:spPr>
          <a:xfrm>
            <a:off x="6909900" y="4679000"/>
            <a:ext cx="446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cxnSp>
        <p:nvCxnSpPr>
          <p:cNvPr id="1004" name="Google Shape;1004;p43"/>
          <p:cNvCxnSpPr/>
          <p:nvPr/>
        </p:nvCxnSpPr>
        <p:spPr>
          <a:xfrm>
            <a:off x="11969300" y="4679000"/>
            <a:ext cx="446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cxnSp>
        <p:nvCxnSpPr>
          <p:cNvPr id="1005" name="Google Shape;1005;p43"/>
          <p:cNvCxnSpPr/>
          <p:nvPr/>
        </p:nvCxnSpPr>
        <p:spPr>
          <a:xfrm>
            <a:off x="1850502" y="8279400"/>
            <a:ext cx="446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cxnSp>
        <p:nvCxnSpPr>
          <p:cNvPr id="1006" name="Google Shape;1006;p43"/>
          <p:cNvCxnSpPr/>
          <p:nvPr/>
        </p:nvCxnSpPr>
        <p:spPr>
          <a:xfrm>
            <a:off x="6909900" y="8279400"/>
            <a:ext cx="446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cxnSp>
        <p:nvCxnSpPr>
          <p:cNvPr id="1007" name="Google Shape;1007;p43"/>
          <p:cNvCxnSpPr/>
          <p:nvPr/>
        </p:nvCxnSpPr>
        <p:spPr>
          <a:xfrm>
            <a:off x="11969300" y="8279400"/>
            <a:ext cx="446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algn="bl" rotWithShape="0">
              <a:schemeClr val="lt1">
                <a:alpha val="50000"/>
              </a:schemeClr>
            </a:outerShdw>
          </a:effectLst>
        </p:spPr>
      </p:cxnSp>
      <p:pic>
        <p:nvPicPr>
          <p:cNvPr id="1008" name="Google Shape;10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4000" y="2640650"/>
            <a:ext cx="1081200" cy="10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3300" y="2640650"/>
            <a:ext cx="1081200" cy="10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2600" y="2640650"/>
            <a:ext cx="1081200" cy="10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4000" y="6168950"/>
            <a:ext cx="1081200" cy="10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3300" y="6168950"/>
            <a:ext cx="1081200" cy="10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2600" y="6168950"/>
            <a:ext cx="1081200" cy="108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4" name="Google Shape;1014;p43"/>
          <p:cNvGrpSpPr/>
          <p:nvPr/>
        </p:nvGrpSpPr>
        <p:grpSpPr>
          <a:xfrm>
            <a:off x="13894649" y="6400999"/>
            <a:ext cx="617106" cy="617106"/>
            <a:chOff x="3082358" y="4048966"/>
            <a:chExt cx="351467" cy="351467"/>
          </a:xfrm>
        </p:grpSpPr>
        <p:sp>
          <p:nvSpPr>
            <p:cNvPr id="1015" name="Google Shape;1015;p43"/>
            <p:cNvSpPr/>
            <p:nvPr/>
          </p:nvSpPr>
          <p:spPr>
            <a:xfrm>
              <a:off x="3124820" y="4125745"/>
              <a:ext cx="103401" cy="14053"/>
            </a:xfrm>
            <a:custGeom>
              <a:avLst/>
              <a:gdLst/>
              <a:ahLst/>
              <a:cxnLst/>
              <a:rect l="l" t="t" r="r" b="b"/>
              <a:pathLst>
                <a:path w="5445" h="740" extrusionOk="0">
                  <a:moveTo>
                    <a:pt x="370" y="1"/>
                  </a:moveTo>
                  <a:cubicBezTo>
                    <a:pt x="175" y="1"/>
                    <a:pt x="1" y="177"/>
                    <a:pt x="1" y="371"/>
                  </a:cubicBezTo>
                  <a:cubicBezTo>
                    <a:pt x="1" y="566"/>
                    <a:pt x="175" y="740"/>
                    <a:pt x="370" y="740"/>
                  </a:cubicBezTo>
                  <a:lnTo>
                    <a:pt x="5094" y="740"/>
                  </a:lnTo>
                  <a:cubicBezTo>
                    <a:pt x="5289" y="740"/>
                    <a:pt x="5444" y="566"/>
                    <a:pt x="5444" y="371"/>
                  </a:cubicBezTo>
                  <a:cubicBezTo>
                    <a:pt x="5444" y="177"/>
                    <a:pt x="5289" y="1"/>
                    <a:pt x="50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3124820" y="4164524"/>
              <a:ext cx="49849" cy="13673"/>
            </a:xfrm>
            <a:custGeom>
              <a:avLst/>
              <a:gdLst/>
              <a:ahLst/>
              <a:cxnLst/>
              <a:rect l="l" t="t" r="r" b="b"/>
              <a:pathLst>
                <a:path w="2625" h="720" extrusionOk="0">
                  <a:moveTo>
                    <a:pt x="370" y="1"/>
                  </a:moveTo>
                  <a:cubicBezTo>
                    <a:pt x="175" y="1"/>
                    <a:pt x="1" y="157"/>
                    <a:pt x="1" y="351"/>
                  </a:cubicBezTo>
                  <a:cubicBezTo>
                    <a:pt x="1" y="545"/>
                    <a:pt x="175" y="719"/>
                    <a:pt x="370" y="719"/>
                  </a:cubicBezTo>
                  <a:lnTo>
                    <a:pt x="2275" y="719"/>
                  </a:lnTo>
                  <a:cubicBezTo>
                    <a:pt x="2469" y="719"/>
                    <a:pt x="2625" y="545"/>
                    <a:pt x="2625" y="351"/>
                  </a:cubicBezTo>
                  <a:cubicBezTo>
                    <a:pt x="2625" y="157"/>
                    <a:pt x="2469" y="1"/>
                    <a:pt x="22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3282461" y="4241321"/>
              <a:ext cx="108927" cy="13673"/>
            </a:xfrm>
            <a:custGeom>
              <a:avLst/>
              <a:gdLst/>
              <a:ahLst/>
              <a:cxnLst/>
              <a:rect l="l" t="t" r="r" b="b"/>
              <a:pathLst>
                <a:path w="5736" h="720" extrusionOk="0">
                  <a:moveTo>
                    <a:pt x="370" y="1"/>
                  </a:moveTo>
                  <a:cubicBezTo>
                    <a:pt x="156" y="1"/>
                    <a:pt x="0" y="156"/>
                    <a:pt x="0" y="350"/>
                  </a:cubicBezTo>
                  <a:cubicBezTo>
                    <a:pt x="0" y="564"/>
                    <a:pt x="156" y="719"/>
                    <a:pt x="370" y="719"/>
                  </a:cubicBezTo>
                  <a:lnTo>
                    <a:pt x="5366" y="719"/>
                  </a:lnTo>
                  <a:cubicBezTo>
                    <a:pt x="5560" y="719"/>
                    <a:pt x="5736" y="564"/>
                    <a:pt x="5736" y="350"/>
                  </a:cubicBezTo>
                  <a:cubicBezTo>
                    <a:pt x="5736" y="156"/>
                    <a:pt x="5560" y="1"/>
                    <a:pt x="53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18" name="Google Shape;1018;p43"/>
            <p:cNvSpPr/>
            <p:nvPr/>
          </p:nvSpPr>
          <p:spPr>
            <a:xfrm>
              <a:off x="3282461" y="4279720"/>
              <a:ext cx="108927" cy="13654"/>
            </a:xfrm>
            <a:custGeom>
              <a:avLst/>
              <a:gdLst/>
              <a:ahLst/>
              <a:cxnLst/>
              <a:rect l="l" t="t" r="r" b="b"/>
              <a:pathLst>
                <a:path w="5736" h="719" extrusionOk="0">
                  <a:moveTo>
                    <a:pt x="370" y="0"/>
                  </a:moveTo>
                  <a:cubicBezTo>
                    <a:pt x="156" y="0"/>
                    <a:pt x="0" y="156"/>
                    <a:pt x="0" y="369"/>
                  </a:cubicBezTo>
                  <a:cubicBezTo>
                    <a:pt x="0" y="563"/>
                    <a:pt x="156" y="719"/>
                    <a:pt x="370" y="719"/>
                  </a:cubicBezTo>
                  <a:lnTo>
                    <a:pt x="5366" y="719"/>
                  </a:lnTo>
                  <a:cubicBezTo>
                    <a:pt x="5560" y="719"/>
                    <a:pt x="5736" y="563"/>
                    <a:pt x="5736" y="369"/>
                  </a:cubicBezTo>
                  <a:cubicBezTo>
                    <a:pt x="5736" y="156"/>
                    <a:pt x="5560" y="0"/>
                    <a:pt x="53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3289829" y="4125745"/>
              <a:ext cx="101559" cy="101919"/>
            </a:xfrm>
            <a:custGeom>
              <a:avLst/>
              <a:gdLst/>
              <a:ahLst/>
              <a:cxnLst/>
              <a:rect l="l" t="t" r="r" b="b"/>
              <a:pathLst>
                <a:path w="5348" h="5367" extrusionOk="0">
                  <a:moveTo>
                    <a:pt x="3034" y="760"/>
                  </a:moveTo>
                  <a:cubicBezTo>
                    <a:pt x="3811" y="915"/>
                    <a:pt x="4433" y="1538"/>
                    <a:pt x="4589" y="2315"/>
                  </a:cubicBezTo>
                  <a:lnTo>
                    <a:pt x="3034" y="2315"/>
                  </a:lnTo>
                  <a:lnTo>
                    <a:pt x="3034" y="760"/>
                  </a:lnTo>
                  <a:close/>
                  <a:moveTo>
                    <a:pt x="4589" y="3054"/>
                  </a:moveTo>
                  <a:cubicBezTo>
                    <a:pt x="4531" y="3306"/>
                    <a:pt x="4433" y="3559"/>
                    <a:pt x="4278" y="3793"/>
                  </a:cubicBezTo>
                  <a:lnTo>
                    <a:pt x="3539" y="3054"/>
                  </a:lnTo>
                  <a:close/>
                  <a:moveTo>
                    <a:pt x="2315" y="760"/>
                  </a:moveTo>
                  <a:lnTo>
                    <a:pt x="2315" y="2684"/>
                  </a:lnTo>
                  <a:cubicBezTo>
                    <a:pt x="2315" y="2782"/>
                    <a:pt x="2354" y="2878"/>
                    <a:pt x="2412" y="2937"/>
                  </a:cubicBezTo>
                  <a:lnTo>
                    <a:pt x="3772" y="4298"/>
                  </a:lnTo>
                  <a:cubicBezTo>
                    <a:pt x="3461" y="4511"/>
                    <a:pt x="3073" y="4628"/>
                    <a:pt x="2665" y="4628"/>
                  </a:cubicBezTo>
                  <a:cubicBezTo>
                    <a:pt x="1595" y="4628"/>
                    <a:pt x="721" y="3754"/>
                    <a:pt x="721" y="2684"/>
                  </a:cubicBezTo>
                  <a:cubicBezTo>
                    <a:pt x="721" y="1732"/>
                    <a:pt x="1401" y="934"/>
                    <a:pt x="2315" y="760"/>
                  </a:cubicBezTo>
                  <a:close/>
                  <a:moveTo>
                    <a:pt x="2665" y="1"/>
                  </a:moveTo>
                  <a:cubicBezTo>
                    <a:pt x="1188" y="1"/>
                    <a:pt x="1" y="1206"/>
                    <a:pt x="1" y="2684"/>
                  </a:cubicBezTo>
                  <a:cubicBezTo>
                    <a:pt x="1" y="4161"/>
                    <a:pt x="1188" y="5366"/>
                    <a:pt x="2665" y="5366"/>
                  </a:cubicBezTo>
                  <a:cubicBezTo>
                    <a:pt x="4143" y="5366"/>
                    <a:pt x="5348" y="4161"/>
                    <a:pt x="5348" y="2684"/>
                  </a:cubicBezTo>
                  <a:cubicBezTo>
                    <a:pt x="5348" y="1206"/>
                    <a:pt x="4143" y="1"/>
                    <a:pt x="26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20" name="Google Shape;1020;p43"/>
            <p:cNvSpPr/>
            <p:nvPr/>
          </p:nvSpPr>
          <p:spPr>
            <a:xfrm>
              <a:off x="3124820" y="4170050"/>
              <a:ext cx="125163" cy="123321"/>
            </a:xfrm>
            <a:custGeom>
              <a:avLst/>
              <a:gdLst/>
              <a:ahLst/>
              <a:cxnLst/>
              <a:rect l="l" t="t" r="r" b="b"/>
              <a:pathLst>
                <a:path w="6591" h="6494" extrusionOk="0">
                  <a:moveTo>
                    <a:pt x="1964" y="4550"/>
                  </a:moveTo>
                  <a:lnTo>
                    <a:pt x="1964" y="5775"/>
                  </a:lnTo>
                  <a:lnTo>
                    <a:pt x="740" y="5775"/>
                  </a:lnTo>
                  <a:lnTo>
                    <a:pt x="740" y="4550"/>
                  </a:lnTo>
                  <a:close/>
                  <a:moveTo>
                    <a:pt x="3908" y="2411"/>
                  </a:moveTo>
                  <a:lnTo>
                    <a:pt x="3908" y="5775"/>
                  </a:lnTo>
                  <a:lnTo>
                    <a:pt x="2684" y="5775"/>
                  </a:lnTo>
                  <a:lnTo>
                    <a:pt x="2684" y="4181"/>
                  </a:lnTo>
                  <a:lnTo>
                    <a:pt x="2684" y="2411"/>
                  </a:lnTo>
                  <a:close/>
                  <a:moveTo>
                    <a:pt x="5872" y="740"/>
                  </a:moveTo>
                  <a:lnTo>
                    <a:pt x="5872" y="5775"/>
                  </a:lnTo>
                  <a:lnTo>
                    <a:pt x="4628" y="5775"/>
                  </a:lnTo>
                  <a:lnTo>
                    <a:pt x="4628" y="740"/>
                  </a:lnTo>
                  <a:close/>
                  <a:moveTo>
                    <a:pt x="4278" y="1"/>
                  </a:moveTo>
                  <a:cubicBezTo>
                    <a:pt x="4083" y="1"/>
                    <a:pt x="3908" y="177"/>
                    <a:pt x="3908" y="371"/>
                  </a:cubicBezTo>
                  <a:lnTo>
                    <a:pt x="3908" y="1693"/>
                  </a:lnTo>
                  <a:lnTo>
                    <a:pt x="2314" y="1693"/>
                  </a:lnTo>
                  <a:cubicBezTo>
                    <a:pt x="2119" y="1693"/>
                    <a:pt x="1964" y="1848"/>
                    <a:pt x="1964" y="2043"/>
                  </a:cubicBezTo>
                  <a:lnTo>
                    <a:pt x="1964" y="3831"/>
                  </a:lnTo>
                  <a:lnTo>
                    <a:pt x="370" y="3831"/>
                  </a:lnTo>
                  <a:cubicBezTo>
                    <a:pt x="175" y="3831"/>
                    <a:pt x="1" y="3987"/>
                    <a:pt x="1" y="4181"/>
                  </a:cubicBezTo>
                  <a:lnTo>
                    <a:pt x="1" y="6144"/>
                  </a:lnTo>
                  <a:cubicBezTo>
                    <a:pt x="1" y="6338"/>
                    <a:pt x="175" y="6494"/>
                    <a:pt x="370" y="6494"/>
                  </a:cubicBezTo>
                  <a:lnTo>
                    <a:pt x="6222" y="6494"/>
                  </a:lnTo>
                  <a:cubicBezTo>
                    <a:pt x="6416" y="6494"/>
                    <a:pt x="6590" y="6338"/>
                    <a:pt x="6590" y="6144"/>
                  </a:cubicBezTo>
                  <a:lnTo>
                    <a:pt x="6590" y="371"/>
                  </a:lnTo>
                  <a:cubicBezTo>
                    <a:pt x="6590" y="177"/>
                    <a:pt x="6416" y="1"/>
                    <a:pt x="62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21" name="Google Shape;1021;p43"/>
            <p:cNvSpPr/>
            <p:nvPr/>
          </p:nvSpPr>
          <p:spPr>
            <a:xfrm>
              <a:off x="3082358" y="4048966"/>
              <a:ext cx="351467" cy="351467"/>
            </a:xfrm>
            <a:custGeom>
              <a:avLst/>
              <a:gdLst/>
              <a:ahLst/>
              <a:cxnLst/>
              <a:rect l="l" t="t" r="r" b="b"/>
              <a:pathLst>
                <a:path w="18508" h="18508" extrusionOk="0">
                  <a:moveTo>
                    <a:pt x="17789" y="720"/>
                  </a:moveTo>
                  <a:lnTo>
                    <a:pt x="17789" y="2022"/>
                  </a:lnTo>
                  <a:lnTo>
                    <a:pt x="10693" y="2022"/>
                  </a:lnTo>
                  <a:cubicBezTo>
                    <a:pt x="10498" y="2022"/>
                    <a:pt x="10343" y="2198"/>
                    <a:pt x="10343" y="2392"/>
                  </a:cubicBezTo>
                  <a:cubicBezTo>
                    <a:pt x="10343" y="2587"/>
                    <a:pt x="10498" y="2761"/>
                    <a:pt x="10693" y="2761"/>
                  </a:cubicBezTo>
                  <a:lnTo>
                    <a:pt x="17284" y="2761"/>
                  </a:lnTo>
                  <a:lnTo>
                    <a:pt x="17284" y="13745"/>
                  </a:lnTo>
                  <a:cubicBezTo>
                    <a:pt x="17284" y="13940"/>
                    <a:pt x="17128" y="14095"/>
                    <a:pt x="16914" y="14095"/>
                  </a:cubicBezTo>
                  <a:lnTo>
                    <a:pt x="1595" y="14095"/>
                  </a:lnTo>
                  <a:cubicBezTo>
                    <a:pt x="1400" y="14095"/>
                    <a:pt x="1226" y="13940"/>
                    <a:pt x="1226" y="13745"/>
                  </a:cubicBezTo>
                  <a:lnTo>
                    <a:pt x="1226" y="2761"/>
                  </a:lnTo>
                  <a:lnTo>
                    <a:pt x="7816" y="2761"/>
                  </a:lnTo>
                  <a:cubicBezTo>
                    <a:pt x="8010" y="2761"/>
                    <a:pt x="8165" y="2587"/>
                    <a:pt x="8165" y="2392"/>
                  </a:cubicBezTo>
                  <a:cubicBezTo>
                    <a:pt x="8165" y="2198"/>
                    <a:pt x="8010" y="2022"/>
                    <a:pt x="7816" y="2022"/>
                  </a:cubicBezTo>
                  <a:lnTo>
                    <a:pt x="721" y="2022"/>
                  </a:lnTo>
                  <a:lnTo>
                    <a:pt x="721" y="720"/>
                  </a:lnTo>
                  <a:close/>
                  <a:moveTo>
                    <a:pt x="9254" y="16389"/>
                  </a:moveTo>
                  <a:cubicBezTo>
                    <a:pt x="9643" y="16389"/>
                    <a:pt x="9954" y="16700"/>
                    <a:pt x="9954" y="17089"/>
                  </a:cubicBezTo>
                  <a:cubicBezTo>
                    <a:pt x="9954" y="17478"/>
                    <a:pt x="9643" y="17789"/>
                    <a:pt x="9254" y="17789"/>
                  </a:cubicBezTo>
                  <a:cubicBezTo>
                    <a:pt x="8865" y="17789"/>
                    <a:pt x="8554" y="17478"/>
                    <a:pt x="8554" y="17089"/>
                  </a:cubicBezTo>
                  <a:cubicBezTo>
                    <a:pt x="8554" y="16700"/>
                    <a:pt x="8865" y="16389"/>
                    <a:pt x="9254" y="16389"/>
                  </a:cubicBezTo>
                  <a:close/>
                  <a:moveTo>
                    <a:pt x="371" y="0"/>
                  </a:moveTo>
                  <a:cubicBezTo>
                    <a:pt x="176" y="0"/>
                    <a:pt x="1" y="176"/>
                    <a:pt x="1" y="371"/>
                  </a:cubicBezTo>
                  <a:lnTo>
                    <a:pt x="1" y="2392"/>
                  </a:lnTo>
                  <a:cubicBezTo>
                    <a:pt x="1" y="2587"/>
                    <a:pt x="176" y="2761"/>
                    <a:pt x="371" y="2761"/>
                  </a:cubicBezTo>
                  <a:lnTo>
                    <a:pt x="506" y="2761"/>
                  </a:lnTo>
                  <a:lnTo>
                    <a:pt x="506" y="13745"/>
                  </a:lnTo>
                  <a:cubicBezTo>
                    <a:pt x="506" y="14329"/>
                    <a:pt x="993" y="14814"/>
                    <a:pt x="1595" y="14814"/>
                  </a:cubicBezTo>
                  <a:lnTo>
                    <a:pt x="8904" y="14814"/>
                  </a:lnTo>
                  <a:lnTo>
                    <a:pt x="8904" y="15728"/>
                  </a:lnTo>
                  <a:cubicBezTo>
                    <a:pt x="8282" y="15884"/>
                    <a:pt x="7836" y="16428"/>
                    <a:pt x="7836" y="17089"/>
                  </a:cubicBezTo>
                  <a:cubicBezTo>
                    <a:pt x="7836" y="17867"/>
                    <a:pt x="8476" y="18508"/>
                    <a:pt x="9254" y="18508"/>
                  </a:cubicBezTo>
                  <a:cubicBezTo>
                    <a:pt x="10032" y="18508"/>
                    <a:pt x="10674" y="17867"/>
                    <a:pt x="10674" y="17089"/>
                  </a:cubicBezTo>
                  <a:cubicBezTo>
                    <a:pt x="10674" y="16428"/>
                    <a:pt x="10226" y="15884"/>
                    <a:pt x="9624" y="15728"/>
                  </a:cubicBezTo>
                  <a:lnTo>
                    <a:pt x="9624" y="14814"/>
                  </a:lnTo>
                  <a:lnTo>
                    <a:pt x="16914" y="14814"/>
                  </a:lnTo>
                  <a:cubicBezTo>
                    <a:pt x="17517" y="14814"/>
                    <a:pt x="18002" y="14329"/>
                    <a:pt x="18002" y="13745"/>
                  </a:cubicBezTo>
                  <a:lnTo>
                    <a:pt x="18002" y="2761"/>
                  </a:lnTo>
                  <a:lnTo>
                    <a:pt x="18139" y="2761"/>
                  </a:lnTo>
                  <a:cubicBezTo>
                    <a:pt x="18352" y="2761"/>
                    <a:pt x="18508" y="2587"/>
                    <a:pt x="18508" y="2392"/>
                  </a:cubicBezTo>
                  <a:lnTo>
                    <a:pt x="18508" y="371"/>
                  </a:lnTo>
                  <a:cubicBezTo>
                    <a:pt x="18508" y="176"/>
                    <a:pt x="18352" y="0"/>
                    <a:pt x="18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22" name="Google Shape;1022;p43"/>
            <p:cNvSpPr/>
            <p:nvPr/>
          </p:nvSpPr>
          <p:spPr>
            <a:xfrm>
              <a:off x="3251449" y="4087365"/>
              <a:ext cx="13692" cy="14034"/>
            </a:xfrm>
            <a:custGeom>
              <a:avLst/>
              <a:gdLst/>
              <a:ahLst/>
              <a:cxnLst/>
              <a:rect l="l" t="t" r="r" b="b"/>
              <a:pathLst>
                <a:path w="721" h="739" extrusionOk="0">
                  <a:moveTo>
                    <a:pt x="350" y="0"/>
                  </a:moveTo>
                  <a:cubicBezTo>
                    <a:pt x="254" y="0"/>
                    <a:pt x="156" y="39"/>
                    <a:pt x="98" y="117"/>
                  </a:cubicBezTo>
                  <a:cubicBezTo>
                    <a:pt x="39" y="176"/>
                    <a:pt x="0" y="272"/>
                    <a:pt x="0" y="370"/>
                  </a:cubicBezTo>
                  <a:cubicBezTo>
                    <a:pt x="0" y="467"/>
                    <a:pt x="39" y="565"/>
                    <a:pt x="98" y="622"/>
                  </a:cubicBezTo>
                  <a:cubicBezTo>
                    <a:pt x="156" y="700"/>
                    <a:pt x="254" y="739"/>
                    <a:pt x="350" y="739"/>
                  </a:cubicBezTo>
                  <a:cubicBezTo>
                    <a:pt x="448" y="739"/>
                    <a:pt x="545" y="700"/>
                    <a:pt x="604" y="622"/>
                  </a:cubicBezTo>
                  <a:cubicBezTo>
                    <a:pt x="681" y="565"/>
                    <a:pt x="720" y="467"/>
                    <a:pt x="720" y="370"/>
                  </a:cubicBezTo>
                  <a:cubicBezTo>
                    <a:pt x="720" y="272"/>
                    <a:pt x="681" y="176"/>
                    <a:pt x="604" y="117"/>
                  </a:cubicBezTo>
                  <a:cubicBezTo>
                    <a:pt x="545" y="39"/>
                    <a:pt x="448" y="0"/>
                    <a:pt x="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</p:grpSp>
      <p:grpSp>
        <p:nvGrpSpPr>
          <p:cNvPr id="1023" name="Google Shape;1023;p43"/>
          <p:cNvGrpSpPr/>
          <p:nvPr/>
        </p:nvGrpSpPr>
        <p:grpSpPr>
          <a:xfrm>
            <a:off x="8835349" y="6461281"/>
            <a:ext cx="617106" cy="496538"/>
            <a:chOff x="3082358" y="3418405"/>
            <a:chExt cx="351467" cy="282799"/>
          </a:xfrm>
        </p:grpSpPr>
        <p:sp>
          <p:nvSpPr>
            <p:cNvPr id="1024" name="Google Shape;1024;p43"/>
            <p:cNvSpPr/>
            <p:nvPr/>
          </p:nvSpPr>
          <p:spPr>
            <a:xfrm>
              <a:off x="3082358" y="3418405"/>
              <a:ext cx="351467" cy="282799"/>
            </a:xfrm>
            <a:custGeom>
              <a:avLst/>
              <a:gdLst/>
              <a:ahLst/>
              <a:cxnLst/>
              <a:rect l="l" t="t" r="r" b="b"/>
              <a:pathLst>
                <a:path w="18508" h="14892" extrusionOk="0">
                  <a:moveTo>
                    <a:pt x="7738" y="2450"/>
                  </a:moveTo>
                  <a:lnTo>
                    <a:pt x="7738" y="8380"/>
                  </a:lnTo>
                  <a:lnTo>
                    <a:pt x="3403" y="8380"/>
                  </a:lnTo>
                  <a:cubicBezTo>
                    <a:pt x="3287" y="7932"/>
                    <a:pt x="2917" y="7564"/>
                    <a:pt x="2470" y="7447"/>
                  </a:cubicBezTo>
                  <a:lnTo>
                    <a:pt x="2470" y="3403"/>
                  </a:lnTo>
                  <a:cubicBezTo>
                    <a:pt x="2917" y="3287"/>
                    <a:pt x="3287" y="2917"/>
                    <a:pt x="3403" y="2450"/>
                  </a:cubicBezTo>
                  <a:close/>
                  <a:moveTo>
                    <a:pt x="15106" y="2450"/>
                  </a:moveTo>
                  <a:cubicBezTo>
                    <a:pt x="15242" y="2917"/>
                    <a:pt x="15592" y="3287"/>
                    <a:pt x="16058" y="3403"/>
                  </a:cubicBezTo>
                  <a:lnTo>
                    <a:pt x="16058" y="7447"/>
                  </a:lnTo>
                  <a:cubicBezTo>
                    <a:pt x="15592" y="7564"/>
                    <a:pt x="15242" y="7932"/>
                    <a:pt x="15106" y="8380"/>
                  </a:cubicBezTo>
                  <a:lnTo>
                    <a:pt x="10770" y="8380"/>
                  </a:lnTo>
                  <a:lnTo>
                    <a:pt x="10770" y="2450"/>
                  </a:lnTo>
                  <a:close/>
                  <a:moveTo>
                    <a:pt x="10052" y="721"/>
                  </a:moveTo>
                  <a:lnTo>
                    <a:pt x="10052" y="10130"/>
                  </a:lnTo>
                  <a:lnTo>
                    <a:pt x="8458" y="10130"/>
                  </a:lnTo>
                  <a:lnTo>
                    <a:pt x="8458" y="721"/>
                  </a:lnTo>
                  <a:close/>
                  <a:moveTo>
                    <a:pt x="17789" y="721"/>
                  </a:moveTo>
                  <a:lnTo>
                    <a:pt x="17789" y="10130"/>
                  </a:lnTo>
                  <a:lnTo>
                    <a:pt x="10770" y="10130"/>
                  </a:lnTo>
                  <a:lnTo>
                    <a:pt x="10770" y="9119"/>
                  </a:lnTo>
                  <a:lnTo>
                    <a:pt x="15417" y="9119"/>
                  </a:lnTo>
                  <a:cubicBezTo>
                    <a:pt x="15612" y="9119"/>
                    <a:pt x="15786" y="8943"/>
                    <a:pt x="15786" y="8749"/>
                  </a:cubicBezTo>
                  <a:cubicBezTo>
                    <a:pt x="15786" y="8399"/>
                    <a:pt x="16058" y="8108"/>
                    <a:pt x="16408" y="8108"/>
                  </a:cubicBezTo>
                  <a:cubicBezTo>
                    <a:pt x="16603" y="8108"/>
                    <a:pt x="16778" y="7952"/>
                    <a:pt x="16778" y="7758"/>
                  </a:cubicBezTo>
                  <a:lnTo>
                    <a:pt x="16778" y="3092"/>
                  </a:lnTo>
                  <a:cubicBezTo>
                    <a:pt x="16778" y="2898"/>
                    <a:pt x="16603" y="2722"/>
                    <a:pt x="16408" y="2722"/>
                  </a:cubicBezTo>
                  <a:cubicBezTo>
                    <a:pt x="16058" y="2722"/>
                    <a:pt x="15786" y="2450"/>
                    <a:pt x="15786" y="2100"/>
                  </a:cubicBezTo>
                  <a:cubicBezTo>
                    <a:pt x="15786" y="1906"/>
                    <a:pt x="15612" y="1731"/>
                    <a:pt x="15417" y="1731"/>
                  </a:cubicBezTo>
                  <a:lnTo>
                    <a:pt x="10770" y="1731"/>
                  </a:lnTo>
                  <a:lnTo>
                    <a:pt x="10770" y="721"/>
                  </a:lnTo>
                  <a:close/>
                  <a:moveTo>
                    <a:pt x="7738" y="10848"/>
                  </a:moveTo>
                  <a:lnTo>
                    <a:pt x="7738" y="12151"/>
                  </a:lnTo>
                  <a:lnTo>
                    <a:pt x="721" y="12151"/>
                  </a:lnTo>
                  <a:lnTo>
                    <a:pt x="721" y="10848"/>
                  </a:lnTo>
                  <a:close/>
                  <a:moveTo>
                    <a:pt x="17789" y="10848"/>
                  </a:moveTo>
                  <a:lnTo>
                    <a:pt x="17789" y="12151"/>
                  </a:lnTo>
                  <a:lnTo>
                    <a:pt x="10770" y="12151"/>
                  </a:lnTo>
                  <a:lnTo>
                    <a:pt x="10770" y="10848"/>
                  </a:lnTo>
                  <a:close/>
                  <a:moveTo>
                    <a:pt x="7738" y="12870"/>
                  </a:moveTo>
                  <a:lnTo>
                    <a:pt x="7738" y="14173"/>
                  </a:lnTo>
                  <a:lnTo>
                    <a:pt x="721" y="14173"/>
                  </a:lnTo>
                  <a:lnTo>
                    <a:pt x="721" y="12870"/>
                  </a:lnTo>
                  <a:close/>
                  <a:moveTo>
                    <a:pt x="10052" y="10848"/>
                  </a:moveTo>
                  <a:lnTo>
                    <a:pt x="10052" y="14173"/>
                  </a:lnTo>
                  <a:lnTo>
                    <a:pt x="8458" y="14173"/>
                  </a:lnTo>
                  <a:lnTo>
                    <a:pt x="8458" y="10848"/>
                  </a:lnTo>
                  <a:close/>
                  <a:moveTo>
                    <a:pt x="17789" y="12870"/>
                  </a:moveTo>
                  <a:lnTo>
                    <a:pt x="17789" y="14173"/>
                  </a:lnTo>
                  <a:lnTo>
                    <a:pt x="10770" y="14173"/>
                  </a:lnTo>
                  <a:lnTo>
                    <a:pt x="10770" y="12870"/>
                  </a:lnTo>
                  <a:close/>
                  <a:moveTo>
                    <a:pt x="371" y="1"/>
                  </a:moveTo>
                  <a:cubicBezTo>
                    <a:pt x="176" y="1"/>
                    <a:pt x="1" y="156"/>
                    <a:pt x="1" y="371"/>
                  </a:cubicBezTo>
                  <a:lnTo>
                    <a:pt x="1" y="14523"/>
                  </a:lnTo>
                  <a:cubicBezTo>
                    <a:pt x="1" y="14736"/>
                    <a:pt x="176" y="14892"/>
                    <a:pt x="371" y="14892"/>
                  </a:cubicBezTo>
                  <a:lnTo>
                    <a:pt x="18139" y="14892"/>
                  </a:lnTo>
                  <a:cubicBezTo>
                    <a:pt x="18352" y="14892"/>
                    <a:pt x="18508" y="14736"/>
                    <a:pt x="18508" y="14523"/>
                  </a:cubicBezTo>
                  <a:lnTo>
                    <a:pt x="18508" y="371"/>
                  </a:lnTo>
                  <a:cubicBezTo>
                    <a:pt x="18508" y="156"/>
                    <a:pt x="18352" y="1"/>
                    <a:pt x="18139" y="1"/>
                  </a:cubicBezTo>
                  <a:lnTo>
                    <a:pt x="5755" y="1"/>
                  </a:lnTo>
                  <a:cubicBezTo>
                    <a:pt x="5560" y="1"/>
                    <a:pt x="5405" y="156"/>
                    <a:pt x="5405" y="371"/>
                  </a:cubicBezTo>
                  <a:cubicBezTo>
                    <a:pt x="5405" y="565"/>
                    <a:pt x="5560" y="721"/>
                    <a:pt x="5755" y="721"/>
                  </a:cubicBezTo>
                  <a:lnTo>
                    <a:pt x="7738" y="721"/>
                  </a:lnTo>
                  <a:lnTo>
                    <a:pt x="7738" y="1731"/>
                  </a:lnTo>
                  <a:lnTo>
                    <a:pt x="3092" y="1731"/>
                  </a:lnTo>
                  <a:cubicBezTo>
                    <a:pt x="2898" y="1731"/>
                    <a:pt x="2742" y="1906"/>
                    <a:pt x="2742" y="2100"/>
                  </a:cubicBezTo>
                  <a:cubicBezTo>
                    <a:pt x="2742" y="2450"/>
                    <a:pt x="2450" y="2722"/>
                    <a:pt x="2100" y="2722"/>
                  </a:cubicBezTo>
                  <a:cubicBezTo>
                    <a:pt x="1906" y="2722"/>
                    <a:pt x="1732" y="2898"/>
                    <a:pt x="1732" y="3092"/>
                  </a:cubicBezTo>
                  <a:lnTo>
                    <a:pt x="1732" y="7758"/>
                  </a:lnTo>
                  <a:cubicBezTo>
                    <a:pt x="1732" y="7952"/>
                    <a:pt x="1906" y="8108"/>
                    <a:pt x="2100" y="8108"/>
                  </a:cubicBezTo>
                  <a:cubicBezTo>
                    <a:pt x="2450" y="8108"/>
                    <a:pt x="2742" y="8399"/>
                    <a:pt x="2742" y="8749"/>
                  </a:cubicBezTo>
                  <a:cubicBezTo>
                    <a:pt x="2742" y="8943"/>
                    <a:pt x="2898" y="9119"/>
                    <a:pt x="3092" y="9119"/>
                  </a:cubicBezTo>
                  <a:lnTo>
                    <a:pt x="7738" y="9119"/>
                  </a:lnTo>
                  <a:lnTo>
                    <a:pt x="7738" y="10130"/>
                  </a:lnTo>
                  <a:lnTo>
                    <a:pt x="721" y="10130"/>
                  </a:lnTo>
                  <a:lnTo>
                    <a:pt x="721" y="721"/>
                  </a:lnTo>
                  <a:lnTo>
                    <a:pt x="2859" y="721"/>
                  </a:lnTo>
                  <a:cubicBezTo>
                    <a:pt x="3072" y="721"/>
                    <a:pt x="3228" y="565"/>
                    <a:pt x="3228" y="371"/>
                  </a:cubicBezTo>
                  <a:cubicBezTo>
                    <a:pt x="3228" y="156"/>
                    <a:pt x="3072" y="1"/>
                    <a:pt x="2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25" name="Google Shape;1025;p43"/>
            <p:cNvSpPr/>
            <p:nvPr/>
          </p:nvSpPr>
          <p:spPr>
            <a:xfrm>
              <a:off x="3310149" y="3515124"/>
              <a:ext cx="42860" cy="13692"/>
            </a:xfrm>
            <a:custGeom>
              <a:avLst/>
              <a:gdLst/>
              <a:ahLst/>
              <a:cxnLst/>
              <a:rect l="l" t="t" r="r" b="b"/>
              <a:pathLst>
                <a:path w="2257" h="721" extrusionOk="0">
                  <a:moveTo>
                    <a:pt x="370" y="1"/>
                  </a:moveTo>
                  <a:cubicBezTo>
                    <a:pt x="175" y="1"/>
                    <a:pt x="1" y="156"/>
                    <a:pt x="1" y="351"/>
                  </a:cubicBezTo>
                  <a:cubicBezTo>
                    <a:pt x="1" y="565"/>
                    <a:pt x="175" y="721"/>
                    <a:pt x="370" y="721"/>
                  </a:cubicBezTo>
                  <a:lnTo>
                    <a:pt x="1886" y="721"/>
                  </a:lnTo>
                  <a:cubicBezTo>
                    <a:pt x="2080" y="721"/>
                    <a:pt x="2256" y="565"/>
                    <a:pt x="2256" y="351"/>
                  </a:cubicBezTo>
                  <a:cubicBezTo>
                    <a:pt x="2256" y="156"/>
                    <a:pt x="2080" y="1"/>
                    <a:pt x="18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26" name="Google Shape;1026;p43"/>
            <p:cNvSpPr/>
            <p:nvPr/>
          </p:nvSpPr>
          <p:spPr>
            <a:xfrm>
              <a:off x="3163580" y="3515124"/>
              <a:ext cx="42481" cy="13692"/>
            </a:xfrm>
            <a:custGeom>
              <a:avLst/>
              <a:gdLst/>
              <a:ahLst/>
              <a:cxnLst/>
              <a:rect l="l" t="t" r="r" b="b"/>
              <a:pathLst>
                <a:path w="2237" h="721" extrusionOk="0">
                  <a:moveTo>
                    <a:pt x="350" y="1"/>
                  </a:moveTo>
                  <a:cubicBezTo>
                    <a:pt x="156" y="1"/>
                    <a:pt x="0" y="156"/>
                    <a:pt x="0" y="351"/>
                  </a:cubicBezTo>
                  <a:cubicBezTo>
                    <a:pt x="0" y="565"/>
                    <a:pt x="156" y="721"/>
                    <a:pt x="350" y="721"/>
                  </a:cubicBezTo>
                  <a:lnTo>
                    <a:pt x="1867" y="721"/>
                  </a:lnTo>
                  <a:cubicBezTo>
                    <a:pt x="2081" y="721"/>
                    <a:pt x="2237" y="565"/>
                    <a:pt x="2237" y="351"/>
                  </a:cubicBezTo>
                  <a:cubicBezTo>
                    <a:pt x="2237" y="156"/>
                    <a:pt x="2081" y="1"/>
                    <a:pt x="18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27" name="Google Shape;1027;p43"/>
            <p:cNvSpPr/>
            <p:nvPr/>
          </p:nvSpPr>
          <p:spPr>
            <a:xfrm>
              <a:off x="3157313" y="3418405"/>
              <a:ext cx="13673" cy="13692"/>
            </a:xfrm>
            <a:custGeom>
              <a:avLst/>
              <a:gdLst/>
              <a:ahLst/>
              <a:cxnLst/>
              <a:rect l="l" t="t" r="r" b="b"/>
              <a:pathLst>
                <a:path w="720" h="721" extrusionOk="0">
                  <a:moveTo>
                    <a:pt x="369" y="1"/>
                  </a:moveTo>
                  <a:cubicBezTo>
                    <a:pt x="273" y="1"/>
                    <a:pt x="175" y="39"/>
                    <a:pt x="117" y="98"/>
                  </a:cubicBezTo>
                  <a:cubicBezTo>
                    <a:pt x="40" y="176"/>
                    <a:pt x="1" y="273"/>
                    <a:pt x="1" y="371"/>
                  </a:cubicBezTo>
                  <a:cubicBezTo>
                    <a:pt x="1" y="448"/>
                    <a:pt x="40" y="545"/>
                    <a:pt x="117" y="623"/>
                  </a:cubicBezTo>
                  <a:cubicBezTo>
                    <a:pt x="175" y="682"/>
                    <a:pt x="273" y="721"/>
                    <a:pt x="369" y="721"/>
                  </a:cubicBezTo>
                  <a:cubicBezTo>
                    <a:pt x="467" y="721"/>
                    <a:pt x="545" y="682"/>
                    <a:pt x="623" y="623"/>
                  </a:cubicBezTo>
                  <a:cubicBezTo>
                    <a:pt x="680" y="545"/>
                    <a:pt x="719" y="448"/>
                    <a:pt x="719" y="371"/>
                  </a:cubicBezTo>
                  <a:cubicBezTo>
                    <a:pt x="719" y="273"/>
                    <a:pt x="680" y="176"/>
                    <a:pt x="623" y="98"/>
                  </a:cubicBezTo>
                  <a:cubicBezTo>
                    <a:pt x="545" y="39"/>
                    <a:pt x="467" y="1"/>
                    <a:pt x="3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</p:grpSp>
      <p:grpSp>
        <p:nvGrpSpPr>
          <p:cNvPr id="1028" name="Google Shape;1028;p43"/>
          <p:cNvGrpSpPr/>
          <p:nvPr/>
        </p:nvGrpSpPr>
        <p:grpSpPr>
          <a:xfrm>
            <a:off x="3775064" y="6401078"/>
            <a:ext cx="619072" cy="616944"/>
            <a:chOff x="3081617" y="2719269"/>
            <a:chExt cx="352587" cy="351375"/>
          </a:xfrm>
        </p:grpSpPr>
        <p:sp>
          <p:nvSpPr>
            <p:cNvPr id="1029" name="Google Shape;1029;p43"/>
            <p:cNvSpPr/>
            <p:nvPr/>
          </p:nvSpPr>
          <p:spPr>
            <a:xfrm>
              <a:off x="3081617" y="2719269"/>
              <a:ext cx="352587" cy="216999"/>
            </a:xfrm>
            <a:custGeom>
              <a:avLst/>
              <a:gdLst/>
              <a:ahLst/>
              <a:cxnLst/>
              <a:rect l="l" t="t" r="r" b="b"/>
              <a:pathLst>
                <a:path w="18567" h="11427" extrusionOk="0">
                  <a:moveTo>
                    <a:pt x="18197" y="1"/>
                  </a:moveTo>
                  <a:cubicBezTo>
                    <a:pt x="18164" y="1"/>
                    <a:pt x="18132" y="6"/>
                    <a:pt x="18100" y="16"/>
                  </a:cubicBezTo>
                  <a:lnTo>
                    <a:pt x="14757" y="910"/>
                  </a:lnTo>
                  <a:cubicBezTo>
                    <a:pt x="14620" y="929"/>
                    <a:pt x="14523" y="1027"/>
                    <a:pt x="14503" y="1162"/>
                  </a:cubicBezTo>
                  <a:cubicBezTo>
                    <a:pt x="14464" y="1279"/>
                    <a:pt x="14503" y="1416"/>
                    <a:pt x="14581" y="1512"/>
                  </a:cubicBezTo>
                  <a:lnTo>
                    <a:pt x="14912" y="1823"/>
                  </a:lnTo>
                  <a:lnTo>
                    <a:pt x="11063" y="5672"/>
                  </a:lnTo>
                  <a:lnTo>
                    <a:pt x="7738" y="2367"/>
                  </a:lnTo>
                  <a:cubicBezTo>
                    <a:pt x="7670" y="2300"/>
                    <a:pt x="7578" y="2266"/>
                    <a:pt x="7486" y="2266"/>
                  </a:cubicBezTo>
                  <a:cubicBezTo>
                    <a:pt x="7393" y="2266"/>
                    <a:pt x="7301" y="2300"/>
                    <a:pt x="7232" y="2367"/>
                  </a:cubicBezTo>
                  <a:lnTo>
                    <a:pt x="156" y="9444"/>
                  </a:lnTo>
                  <a:cubicBezTo>
                    <a:pt x="1" y="9599"/>
                    <a:pt x="1" y="9814"/>
                    <a:pt x="156" y="9969"/>
                  </a:cubicBezTo>
                  <a:lnTo>
                    <a:pt x="1498" y="11310"/>
                  </a:lnTo>
                  <a:cubicBezTo>
                    <a:pt x="1576" y="11388"/>
                    <a:pt x="1673" y="11427"/>
                    <a:pt x="1771" y="11427"/>
                  </a:cubicBezTo>
                  <a:cubicBezTo>
                    <a:pt x="1848" y="11427"/>
                    <a:pt x="1945" y="11388"/>
                    <a:pt x="2022" y="11310"/>
                  </a:cubicBezTo>
                  <a:lnTo>
                    <a:pt x="7486" y="5848"/>
                  </a:lnTo>
                  <a:lnTo>
                    <a:pt x="10791" y="9153"/>
                  </a:lnTo>
                  <a:cubicBezTo>
                    <a:pt x="10869" y="9231"/>
                    <a:pt x="10965" y="9269"/>
                    <a:pt x="11063" y="9269"/>
                  </a:cubicBezTo>
                  <a:cubicBezTo>
                    <a:pt x="11159" y="9269"/>
                    <a:pt x="11237" y="9231"/>
                    <a:pt x="11315" y="9153"/>
                  </a:cubicBezTo>
                  <a:lnTo>
                    <a:pt x="13240" y="7248"/>
                  </a:lnTo>
                  <a:cubicBezTo>
                    <a:pt x="13376" y="7092"/>
                    <a:pt x="13376" y="6878"/>
                    <a:pt x="13240" y="6722"/>
                  </a:cubicBezTo>
                  <a:cubicBezTo>
                    <a:pt x="13162" y="6654"/>
                    <a:pt x="13070" y="6621"/>
                    <a:pt x="12977" y="6621"/>
                  </a:cubicBezTo>
                  <a:cubicBezTo>
                    <a:pt x="12885" y="6621"/>
                    <a:pt x="12792" y="6654"/>
                    <a:pt x="12715" y="6722"/>
                  </a:cubicBezTo>
                  <a:lnTo>
                    <a:pt x="11063" y="8394"/>
                  </a:lnTo>
                  <a:lnTo>
                    <a:pt x="7738" y="5089"/>
                  </a:lnTo>
                  <a:cubicBezTo>
                    <a:pt x="7680" y="5011"/>
                    <a:pt x="7582" y="4972"/>
                    <a:pt x="7486" y="4972"/>
                  </a:cubicBezTo>
                  <a:cubicBezTo>
                    <a:pt x="7388" y="4972"/>
                    <a:pt x="7292" y="5011"/>
                    <a:pt x="7232" y="5089"/>
                  </a:cubicBezTo>
                  <a:lnTo>
                    <a:pt x="1771" y="10553"/>
                  </a:lnTo>
                  <a:lnTo>
                    <a:pt x="915" y="9716"/>
                  </a:lnTo>
                  <a:lnTo>
                    <a:pt x="7486" y="3145"/>
                  </a:lnTo>
                  <a:lnTo>
                    <a:pt x="10791" y="6450"/>
                  </a:lnTo>
                  <a:cubicBezTo>
                    <a:pt x="10869" y="6509"/>
                    <a:pt x="10965" y="6548"/>
                    <a:pt x="11063" y="6548"/>
                  </a:cubicBezTo>
                  <a:cubicBezTo>
                    <a:pt x="11159" y="6548"/>
                    <a:pt x="11237" y="6509"/>
                    <a:pt x="11315" y="6450"/>
                  </a:cubicBezTo>
                  <a:lnTo>
                    <a:pt x="15670" y="2077"/>
                  </a:lnTo>
                  <a:cubicBezTo>
                    <a:pt x="15825" y="1940"/>
                    <a:pt x="15825" y="1706"/>
                    <a:pt x="15670" y="1571"/>
                  </a:cubicBezTo>
                  <a:lnTo>
                    <a:pt x="15534" y="1434"/>
                  </a:lnTo>
                  <a:lnTo>
                    <a:pt x="17673" y="871"/>
                  </a:lnTo>
                  <a:lnTo>
                    <a:pt x="17108" y="3010"/>
                  </a:lnTo>
                  <a:lnTo>
                    <a:pt x="17030" y="2932"/>
                  </a:lnTo>
                  <a:cubicBezTo>
                    <a:pt x="16973" y="2854"/>
                    <a:pt x="16875" y="2815"/>
                    <a:pt x="16778" y="2815"/>
                  </a:cubicBezTo>
                  <a:cubicBezTo>
                    <a:pt x="16680" y="2815"/>
                    <a:pt x="16584" y="2854"/>
                    <a:pt x="16525" y="2932"/>
                  </a:cubicBezTo>
                  <a:lnTo>
                    <a:pt x="14757" y="4682"/>
                  </a:lnTo>
                  <a:cubicBezTo>
                    <a:pt x="14620" y="4817"/>
                    <a:pt x="14620" y="5050"/>
                    <a:pt x="14757" y="5187"/>
                  </a:cubicBezTo>
                  <a:cubicBezTo>
                    <a:pt x="14834" y="5265"/>
                    <a:pt x="14927" y="5304"/>
                    <a:pt x="15019" y="5304"/>
                  </a:cubicBezTo>
                  <a:cubicBezTo>
                    <a:pt x="15111" y="5304"/>
                    <a:pt x="15203" y="5265"/>
                    <a:pt x="15281" y="5187"/>
                  </a:cubicBezTo>
                  <a:lnTo>
                    <a:pt x="16778" y="3689"/>
                  </a:lnTo>
                  <a:lnTo>
                    <a:pt x="17030" y="3962"/>
                  </a:lnTo>
                  <a:cubicBezTo>
                    <a:pt x="17102" y="4018"/>
                    <a:pt x="17194" y="4055"/>
                    <a:pt x="17284" y="4055"/>
                  </a:cubicBezTo>
                  <a:cubicBezTo>
                    <a:pt x="17316" y="4055"/>
                    <a:pt x="17349" y="4050"/>
                    <a:pt x="17380" y="4039"/>
                  </a:cubicBezTo>
                  <a:cubicBezTo>
                    <a:pt x="17517" y="4021"/>
                    <a:pt x="17614" y="3923"/>
                    <a:pt x="17634" y="3787"/>
                  </a:cubicBezTo>
                  <a:lnTo>
                    <a:pt x="18528" y="444"/>
                  </a:lnTo>
                  <a:cubicBezTo>
                    <a:pt x="18567" y="327"/>
                    <a:pt x="18528" y="190"/>
                    <a:pt x="18450" y="94"/>
                  </a:cubicBezTo>
                  <a:cubicBezTo>
                    <a:pt x="18379" y="37"/>
                    <a:pt x="18287" y="1"/>
                    <a:pt x="181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30" name="Google Shape;1030;p43"/>
            <p:cNvSpPr/>
            <p:nvPr/>
          </p:nvSpPr>
          <p:spPr>
            <a:xfrm>
              <a:off x="3082358" y="2842479"/>
              <a:ext cx="351467" cy="228165"/>
            </a:xfrm>
            <a:custGeom>
              <a:avLst/>
              <a:gdLst/>
              <a:ahLst/>
              <a:cxnLst/>
              <a:rect l="l" t="t" r="r" b="b"/>
              <a:pathLst>
                <a:path w="18508" h="12015" extrusionOk="0">
                  <a:moveTo>
                    <a:pt x="2742" y="8341"/>
                  </a:moveTo>
                  <a:lnTo>
                    <a:pt x="2742" y="11296"/>
                  </a:lnTo>
                  <a:lnTo>
                    <a:pt x="1459" y="11296"/>
                  </a:lnTo>
                  <a:lnTo>
                    <a:pt x="1459" y="8341"/>
                  </a:lnTo>
                  <a:close/>
                  <a:moveTo>
                    <a:pt x="6338" y="5037"/>
                  </a:moveTo>
                  <a:lnTo>
                    <a:pt x="6338" y="11296"/>
                  </a:lnTo>
                  <a:lnTo>
                    <a:pt x="5036" y="11296"/>
                  </a:lnTo>
                  <a:lnTo>
                    <a:pt x="5036" y="5037"/>
                  </a:lnTo>
                  <a:close/>
                  <a:moveTo>
                    <a:pt x="9915" y="6960"/>
                  </a:moveTo>
                  <a:lnTo>
                    <a:pt x="9915" y="11296"/>
                  </a:lnTo>
                  <a:lnTo>
                    <a:pt x="8613" y="11296"/>
                  </a:lnTo>
                  <a:lnTo>
                    <a:pt x="8613" y="6960"/>
                  </a:lnTo>
                  <a:close/>
                  <a:moveTo>
                    <a:pt x="13492" y="5037"/>
                  </a:moveTo>
                  <a:lnTo>
                    <a:pt x="13492" y="11296"/>
                  </a:lnTo>
                  <a:lnTo>
                    <a:pt x="12190" y="11296"/>
                  </a:lnTo>
                  <a:lnTo>
                    <a:pt x="12190" y="5037"/>
                  </a:lnTo>
                  <a:close/>
                  <a:moveTo>
                    <a:pt x="17069" y="721"/>
                  </a:moveTo>
                  <a:lnTo>
                    <a:pt x="17069" y="11296"/>
                  </a:lnTo>
                  <a:lnTo>
                    <a:pt x="15767" y="11296"/>
                  </a:lnTo>
                  <a:lnTo>
                    <a:pt x="15767" y="721"/>
                  </a:lnTo>
                  <a:close/>
                  <a:moveTo>
                    <a:pt x="15397" y="1"/>
                  </a:moveTo>
                  <a:cubicBezTo>
                    <a:pt x="15203" y="1"/>
                    <a:pt x="15047" y="156"/>
                    <a:pt x="15047" y="371"/>
                  </a:cubicBezTo>
                  <a:lnTo>
                    <a:pt x="15047" y="11296"/>
                  </a:lnTo>
                  <a:lnTo>
                    <a:pt x="14212" y="11296"/>
                  </a:lnTo>
                  <a:lnTo>
                    <a:pt x="14212" y="4666"/>
                  </a:lnTo>
                  <a:cubicBezTo>
                    <a:pt x="14212" y="4472"/>
                    <a:pt x="14036" y="4316"/>
                    <a:pt x="13842" y="4316"/>
                  </a:cubicBezTo>
                  <a:lnTo>
                    <a:pt x="11820" y="4316"/>
                  </a:lnTo>
                  <a:cubicBezTo>
                    <a:pt x="11626" y="4316"/>
                    <a:pt x="11470" y="4472"/>
                    <a:pt x="11470" y="4666"/>
                  </a:cubicBezTo>
                  <a:lnTo>
                    <a:pt x="11470" y="11296"/>
                  </a:lnTo>
                  <a:lnTo>
                    <a:pt x="10635" y="11296"/>
                  </a:lnTo>
                  <a:lnTo>
                    <a:pt x="10635" y="6592"/>
                  </a:lnTo>
                  <a:cubicBezTo>
                    <a:pt x="10635" y="6397"/>
                    <a:pt x="10459" y="6222"/>
                    <a:pt x="10265" y="6222"/>
                  </a:cubicBezTo>
                  <a:lnTo>
                    <a:pt x="8243" y="6222"/>
                  </a:lnTo>
                  <a:cubicBezTo>
                    <a:pt x="8049" y="6222"/>
                    <a:pt x="7875" y="6397"/>
                    <a:pt x="7875" y="6592"/>
                  </a:cubicBezTo>
                  <a:lnTo>
                    <a:pt x="7875" y="11296"/>
                  </a:lnTo>
                  <a:lnTo>
                    <a:pt x="7058" y="11296"/>
                  </a:lnTo>
                  <a:lnTo>
                    <a:pt x="7058" y="4666"/>
                  </a:lnTo>
                  <a:cubicBezTo>
                    <a:pt x="7058" y="4472"/>
                    <a:pt x="6882" y="4316"/>
                    <a:pt x="6688" y="4316"/>
                  </a:cubicBezTo>
                  <a:lnTo>
                    <a:pt x="4666" y="4316"/>
                  </a:lnTo>
                  <a:cubicBezTo>
                    <a:pt x="4472" y="4316"/>
                    <a:pt x="4298" y="4472"/>
                    <a:pt x="4298" y="4666"/>
                  </a:cubicBezTo>
                  <a:lnTo>
                    <a:pt x="4298" y="11296"/>
                  </a:lnTo>
                  <a:lnTo>
                    <a:pt x="3481" y="11296"/>
                  </a:lnTo>
                  <a:lnTo>
                    <a:pt x="3481" y="7971"/>
                  </a:lnTo>
                  <a:cubicBezTo>
                    <a:pt x="3481" y="7777"/>
                    <a:pt x="3305" y="7621"/>
                    <a:pt x="3111" y="7621"/>
                  </a:cubicBezTo>
                  <a:lnTo>
                    <a:pt x="1089" y="7621"/>
                  </a:lnTo>
                  <a:cubicBezTo>
                    <a:pt x="895" y="7621"/>
                    <a:pt x="721" y="7777"/>
                    <a:pt x="721" y="7971"/>
                  </a:cubicBezTo>
                  <a:lnTo>
                    <a:pt x="721" y="11296"/>
                  </a:lnTo>
                  <a:lnTo>
                    <a:pt x="371" y="11296"/>
                  </a:lnTo>
                  <a:cubicBezTo>
                    <a:pt x="176" y="11296"/>
                    <a:pt x="1" y="11452"/>
                    <a:pt x="1" y="11646"/>
                  </a:cubicBezTo>
                  <a:cubicBezTo>
                    <a:pt x="1" y="11841"/>
                    <a:pt x="176" y="12015"/>
                    <a:pt x="371" y="12015"/>
                  </a:cubicBezTo>
                  <a:lnTo>
                    <a:pt x="18139" y="12015"/>
                  </a:lnTo>
                  <a:cubicBezTo>
                    <a:pt x="18352" y="12015"/>
                    <a:pt x="18508" y="11841"/>
                    <a:pt x="18508" y="11646"/>
                  </a:cubicBezTo>
                  <a:cubicBezTo>
                    <a:pt x="18508" y="11452"/>
                    <a:pt x="18352" y="11296"/>
                    <a:pt x="18139" y="11296"/>
                  </a:cubicBezTo>
                  <a:lnTo>
                    <a:pt x="17789" y="11296"/>
                  </a:lnTo>
                  <a:lnTo>
                    <a:pt x="17789" y="371"/>
                  </a:lnTo>
                  <a:cubicBezTo>
                    <a:pt x="17789" y="156"/>
                    <a:pt x="17634" y="1"/>
                    <a:pt x="174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31" name="Google Shape;1031;p43"/>
            <p:cNvSpPr/>
            <p:nvPr/>
          </p:nvSpPr>
          <p:spPr>
            <a:xfrm>
              <a:off x="3340439" y="2825502"/>
              <a:ext cx="14034" cy="13692"/>
            </a:xfrm>
            <a:custGeom>
              <a:avLst/>
              <a:gdLst/>
              <a:ahLst/>
              <a:cxnLst/>
              <a:rect l="l" t="t" r="r" b="b"/>
              <a:pathLst>
                <a:path w="739" h="721" extrusionOk="0">
                  <a:moveTo>
                    <a:pt x="369" y="0"/>
                  </a:moveTo>
                  <a:cubicBezTo>
                    <a:pt x="272" y="0"/>
                    <a:pt x="174" y="39"/>
                    <a:pt x="117" y="117"/>
                  </a:cubicBezTo>
                  <a:cubicBezTo>
                    <a:pt x="39" y="176"/>
                    <a:pt x="0" y="273"/>
                    <a:pt x="0" y="371"/>
                  </a:cubicBezTo>
                  <a:cubicBezTo>
                    <a:pt x="0" y="467"/>
                    <a:pt x="39" y="565"/>
                    <a:pt x="117" y="623"/>
                  </a:cubicBezTo>
                  <a:cubicBezTo>
                    <a:pt x="174" y="682"/>
                    <a:pt x="272" y="721"/>
                    <a:pt x="369" y="721"/>
                  </a:cubicBezTo>
                  <a:cubicBezTo>
                    <a:pt x="467" y="721"/>
                    <a:pt x="563" y="682"/>
                    <a:pt x="622" y="623"/>
                  </a:cubicBezTo>
                  <a:cubicBezTo>
                    <a:pt x="700" y="565"/>
                    <a:pt x="739" y="467"/>
                    <a:pt x="739" y="371"/>
                  </a:cubicBezTo>
                  <a:cubicBezTo>
                    <a:pt x="739" y="273"/>
                    <a:pt x="700" y="176"/>
                    <a:pt x="622" y="117"/>
                  </a:cubicBezTo>
                  <a:cubicBezTo>
                    <a:pt x="563" y="39"/>
                    <a:pt x="467" y="0"/>
                    <a:pt x="3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</p:grpSp>
      <p:grpSp>
        <p:nvGrpSpPr>
          <p:cNvPr id="1032" name="Google Shape;1032;p43"/>
          <p:cNvGrpSpPr/>
          <p:nvPr/>
        </p:nvGrpSpPr>
        <p:grpSpPr>
          <a:xfrm>
            <a:off x="8895631" y="2872699"/>
            <a:ext cx="496538" cy="617106"/>
            <a:chOff x="3116711" y="2054296"/>
            <a:chExt cx="282799" cy="351467"/>
          </a:xfrm>
        </p:grpSpPr>
        <p:sp>
          <p:nvSpPr>
            <p:cNvPr id="1033" name="Google Shape;1033;p43"/>
            <p:cNvSpPr/>
            <p:nvPr/>
          </p:nvSpPr>
          <p:spPr>
            <a:xfrm>
              <a:off x="3116711" y="2058778"/>
              <a:ext cx="282799" cy="346985"/>
            </a:xfrm>
            <a:custGeom>
              <a:avLst/>
              <a:gdLst/>
              <a:ahLst/>
              <a:cxnLst/>
              <a:rect l="l" t="t" r="r" b="b"/>
              <a:pathLst>
                <a:path w="14892" h="18272" extrusionOk="0">
                  <a:moveTo>
                    <a:pt x="8806" y="10320"/>
                  </a:moveTo>
                  <a:lnTo>
                    <a:pt x="8806" y="10884"/>
                  </a:lnTo>
                  <a:lnTo>
                    <a:pt x="6084" y="10884"/>
                  </a:lnTo>
                  <a:lnTo>
                    <a:pt x="6084" y="10320"/>
                  </a:lnTo>
                  <a:close/>
                  <a:moveTo>
                    <a:pt x="7056" y="11623"/>
                  </a:moveTo>
                  <a:lnTo>
                    <a:pt x="6084" y="12595"/>
                  </a:lnTo>
                  <a:lnTo>
                    <a:pt x="6084" y="11623"/>
                  </a:lnTo>
                  <a:close/>
                  <a:moveTo>
                    <a:pt x="8806" y="11623"/>
                  </a:moveTo>
                  <a:lnTo>
                    <a:pt x="8806" y="12595"/>
                  </a:lnTo>
                  <a:lnTo>
                    <a:pt x="7834" y="11623"/>
                  </a:lnTo>
                  <a:close/>
                  <a:moveTo>
                    <a:pt x="7445" y="12245"/>
                  </a:moveTo>
                  <a:lnTo>
                    <a:pt x="8184" y="12984"/>
                  </a:lnTo>
                  <a:lnTo>
                    <a:pt x="7834" y="13625"/>
                  </a:lnTo>
                  <a:lnTo>
                    <a:pt x="7077" y="13625"/>
                  </a:lnTo>
                  <a:lnTo>
                    <a:pt x="6727" y="12984"/>
                  </a:lnTo>
                  <a:lnTo>
                    <a:pt x="7445" y="12245"/>
                  </a:lnTo>
                  <a:close/>
                  <a:moveTo>
                    <a:pt x="5366" y="11740"/>
                  </a:moveTo>
                  <a:lnTo>
                    <a:pt x="5366" y="13469"/>
                  </a:lnTo>
                  <a:cubicBezTo>
                    <a:pt x="5366" y="13606"/>
                    <a:pt x="5444" y="13741"/>
                    <a:pt x="5579" y="13800"/>
                  </a:cubicBezTo>
                  <a:cubicBezTo>
                    <a:pt x="5622" y="13819"/>
                    <a:pt x="5668" y="13827"/>
                    <a:pt x="5714" y="13827"/>
                  </a:cubicBezTo>
                  <a:cubicBezTo>
                    <a:pt x="5811" y="13827"/>
                    <a:pt x="5908" y="13788"/>
                    <a:pt x="5988" y="13723"/>
                  </a:cubicBezTo>
                  <a:lnTo>
                    <a:pt x="6182" y="13508"/>
                  </a:lnTo>
                  <a:lnTo>
                    <a:pt x="6473" y="14034"/>
                  </a:lnTo>
                  <a:lnTo>
                    <a:pt x="5695" y="17533"/>
                  </a:lnTo>
                  <a:lnTo>
                    <a:pt x="3033" y="17533"/>
                  </a:lnTo>
                  <a:lnTo>
                    <a:pt x="3033" y="15141"/>
                  </a:lnTo>
                  <a:cubicBezTo>
                    <a:pt x="3033" y="14947"/>
                    <a:pt x="2857" y="14791"/>
                    <a:pt x="2663" y="14791"/>
                  </a:cubicBezTo>
                  <a:cubicBezTo>
                    <a:pt x="2468" y="14791"/>
                    <a:pt x="2313" y="14947"/>
                    <a:pt x="2313" y="15141"/>
                  </a:cubicBezTo>
                  <a:lnTo>
                    <a:pt x="2313" y="17533"/>
                  </a:lnTo>
                  <a:lnTo>
                    <a:pt x="719" y="17533"/>
                  </a:lnTo>
                  <a:lnTo>
                    <a:pt x="719" y="14228"/>
                  </a:lnTo>
                  <a:cubicBezTo>
                    <a:pt x="719" y="13780"/>
                    <a:pt x="1050" y="13373"/>
                    <a:pt x="1535" y="13197"/>
                  </a:cubicBezTo>
                  <a:lnTo>
                    <a:pt x="5366" y="11740"/>
                  </a:lnTo>
                  <a:close/>
                  <a:moveTo>
                    <a:pt x="7756" y="14345"/>
                  </a:moveTo>
                  <a:lnTo>
                    <a:pt x="8456" y="17533"/>
                  </a:lnTo>
                  <a:lnTo>
                    <a:pt x="6434" y="17533"/>
                  </a:lnTo>
                  <a:lnTo>
                    <a:pt x="7154" y="14345"/>
                  </a:lnTo>
                  <a:close/>
                  <a:moveTo>
                    <a:pt x="9526" y="11740"/>
                  </a:moveTo>
                  <a:lnTo>
                    <a:pt x="13355" y="13197"/>
                  </a:lnTo>
                  <a:cubicBezTo>
                    <a:pt x="13860" y="13373"/>
                    <a:pt x="14171" y="13780"/>
                    <a:pt x="14171" y="14228"/>
                  </a:cubicBezTo>
                  <a:lnTo>
                    <a:pt x="14171" y="17533"/>
                  </a:lnTo>
                  <a:lnTo>
                    <a:pt x="12598" y="17533"/>
                  </a:lnTo>
                  <a:lnTo>
                    <a:pt x="12598" y="15141"/>
                  </a:lnTo>
                  <a:cubicBezTo>
                    <a:pt x="12598" y="14947"/>
                    <a:pt x="12422" y="14791"/>
                    <a:pt x="12227" y="14791"/>
                  </a:cubicBezTo>
                  <a:cubicBezTo>
                    <a:pt x="12033" y="14791"/>
                    <a:pt x="11859" y="14947"/>
                    <a:pt x="11859" y="15141"/>
                  </a:cubicBezTo>
                  <a:lnTo>
                    <a:pt x="11859" y="17533"/>
                  </a:lnTo>
                  <a:lnTo>
                    <a:pt x="9195" y="17533"/>
                  </a:lnTo>
                  <a:lnTo>
                    <a:pt x="8417" y="14034"/>
                  </a:lnTo>
                  <a:lnTo>
                    <a:pt x="8710" y="13508"/>
                  </a:lnTo>
                  <a:lnTo>
                    <a:pt x="8923" y="13723"/>
                  </a:lnTo>
                  <a:cubicBezTo>
                    <a:pt x="8982" y="13800"/>
                    <a:pt x="9078" y="13819"/>
                    <a:pt x="9176" y="13819"/>
                  </a:cubicBezTo>
                  <a:cubicBezTo>
                    <a:pt x="9215" y="13819"/>
                    <a:pt x="9272" y="13819"/>
                    <a:pt x="9311" y="13800"/>
                  </a:cubicBezTo>
                  <a:cubicBezTo>
                    <a:pt x="9448" y="13741"/>
                    <a:pt x="9526" y="13606"/>
                    <a:pt x="9526" y="13469"/>
                  </a:cubicBezTo>
                  <a:lnTo>
                    <a:pt x="9526" y="11740"/>
                  </a:lnTo>
                  <a:close/>
                  <a:moveTo>
                    <a:pt x="5995" y="0"/>
                  </a:moveTo>
                  <a:cubicBezTo>
                    <a:pt x="5959" y="0"/>
                    <a:pt x="5924" y="5"/>
                    <a:pt x="5890" y="17"/>
                  </a:cubicBezTo>
                  <a:cubicBezTo>
                    <a:pt x="3946" y="678"/>
                    <a:pt x="2605" y="2505"/>
                    <a:pt x="2566" y="4547"/>
                  </a:cubicBezTo>
                  <a:cubicBezTo>
                    <a:pt x="2546" y="6180"/>
                    <a:pt x="3324" y="7715"/>
                    <a:pt x="4685" y="8648"/>
                  </a:cubicBezTo>
                  <a:cubicBezTo>
                    <a:pt x="5112" y="8940"/>
                    <a:pt x="5366" y="9426"/>
                    <a:pt x="5366" y="9951"/>
                  </a:cubicBezTo>
                  <a:lnTo>
                    <a:pt x="5366" y="10962"/>
                  </a:lnTo>
                  <a:lnTo>
                    <a:pt x="1283" y="12517"/>
                  </a:lnTo>
                  <a:cubicBezTo>
                    <a:pt x="506" y="12808"/>
                    <a:pt x="0" y="13489"/>
                    <a:pt x="0" y="14228"/>
                  </a:cubicBezTo>
                  <a:lnTo>
                    <a:pt x="0" y="17902"/>
                  </a:lnTo>
                  <a:cubicBezTo>
                    <a:pt x="0" y="18096"/>
                    <a:pt x="156" y="18272"/>
                    <a:pt x="369" y="18272"/>
                  </a:cubicBezTo>
                  <a:lnTo>
                    <a:pt x="14542" y="18272"/>
                  </a:lnTo>
                  <a:cubicBezTo>
                    <a:pt x="14736" y="18272"/>
                    <a:pt x="14892" y="18096"/>
                    <a:pt x="14892" y="17902"/>
                  </a:cubicBezTo>
                  <a:lnTo>
                    <a:pt x="14892" y="14228"/>
                  </a:lnTo>
                  <a:cubicBezTo>
                    <a:pt x="14892" y="13489"/>
                    <a:pt x="14386" y="12808"/>
                    <a:pt x="13627" y="12517"/>
                  </a:cubicBezTo>
                  <a:lnTo>
                    <a:pt x="9526" y="10962"/>
                  </a:lnTo>
                  <a:lnTo>
                    <a:pt x="9526" y="9951"/>
                  </a:lnTo>
                  <a:cubicBezTo>
                    <a:pt x="9526" y="9426"/>
                    <a:pt x="9798" y="8940"/>
                    <a:pt x="10226" y="8648"/>
                  </a:cubicBezTo>
                  <a:cubicBezTo>
                    <a:pt x="11548" y="7735"/>
                    <a:pt x="12325" y="6237"/>
                    <a:pt x="12325" y="4643"/>
                  </a:cubicBezTo>
                  <a:cubicBezTo>
                    <a:pt x="12325" y="2544"/>
                    <a:pt x="11003" y="678"/>
                    <a:pt x="9021" y="17"/>
                  </a:cubicBezTo>
                  <a:cubicBezTo>
                    <a:pt x="8983" y="5"/>
                    <a:pt x="8944" y="0"/>
                    <a:pt x="8907" y="0"/>
                  </a:cubicBezTo>
                  <a:cubicBezTo>
                    <a:pt x="8749" y="0"/>
                    <a:pt x="8600" y="93"/>
                    <a:pt x="8554" y="250"/>
                  </a:cubicBezTo>
                  <a:cubicBezTo>
                    <a:pt x="8495" y="426"/>
                    <a:pt x="8593" y="639"/>
                    <a:pt x="8787" y="698"/>
                  </a:cubicBezTo>
                  <a:cubicBezTo>
                    <a:pt x="10459" y="1281"/>
                    <a:pt x="11605" y="2855"/>
                    <a:pt x="11605" y="4643"/>
                  </a:cubicBezTo>
                  <a:cubicBezTo>
                    <a:pt x="11605" y="6004"/>
                    <a:pt x="10926" y="7269"/>
                    <a:pt x="9817" y="8046"/>
                  </a:cubicBezTo>
                  <a:cubicBezTo>
                    <a:pt x="9293" y="8415"/>
                    <a:pt x="8943" y="8979"/>
                    <a:pt x="8845" y="9581"/>
                  </a:cubicBezTo>
                  <a:lnTo>
                    <a:pt x="6066" y="9581"/>
                  </a:lnTo>
                  <a:cubicBezTo>
                    <a:pt x="5968" y="8979"/>
                    <a:pt x="5618" y="8415"/>
                    <a:pt x="5094" y="8065"/>
                  </a:cubicBezTo>
                  <a:cubicBezTo>
                    <a:pt x="3946" y="7269"/>
                    <a:pt x="3266" y="5947"/>
                    <a:pt x="3305" y="4566"/>
                  </a:cubicBezTo>
                  <a:cubicBezTo>
                    <a:pt x="3324" y="2816"/>
                    <a:pt x="4451" y="1261"/>
                    <a:pt x="6123" y="698"/>
                  </a:cubicBezTo>
                  <a:cubicBezTo>
                    <a:pt x="6299" y="639"/>
                    <a:pt x="6416" y="426"/>
                    <a:pt x="6338" y="250"/>
                  </a:cubicBezTo>
                  <a:cubicBezTo>
                    <a:pt x="6290" y="93"/>
                    <a:pt x="6142" y="0"/>
                    <a:pt x="5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34" name="Google Shape;1034;p43"/>
            <p:cNvSpPr/>
            <p:nvPr/>
          </p:nvSpPr>
          <p:spPr>
            <a:xfrm>
              <a:off x="3227825" y="2098829"/>
              <a:ext cx="62021" cy="76188"/>
            </a:xfrm>
            <a:custGeom>
              <a:avLst/>
              <a:gdLst/>
              <a:ahLst/>
              <a:cxnLst/>
              <a:rect l="l" t="t" r="r" b="b"/>
              <a:pathLst>
                <a:path w="3266" h="4012" extrusionOk="0">
                  <a:moveTo>
                    <a:pt x="1621" y="1"/>
                  </a:moveTo>
                  <a:cubicBezTo>
                    <a:pt x="1224" y="1"/>
                    <a:pt x="837" y="140"/>
                    <a:pt x="526" y="416"/>
                  </a:cubicBezTo>
                  <a:cubicBezTo>
                    <a:pt x="194" y="707"/>
                    <a:pt x="0" y="1155"/>
                    <a:pt x="0" y="1601"/>
                  </a:cubicBezTo>
                  <a:cubicBezTo>
                    <a:pt x="0" y="1796"/>
                    <a:pt x="156" y="1971"/>
                    <a:pt x="350" y="1971"/>
                  </a:cubicBezTo>
                  <a:cubicBezTo>
                    <a:pt x="565" y="1971"/>
                    <a:pt x="720" y="1796"/>
                    <a:pt x="720" y="1601"/>
                  </a:cubicBezTo>
                  <a:cubicBezTo>
                    <a:pt x="720" y="1349"/>
                    <a:pt x="837" y="1116"/>
                    <a:pt x="1011" y="960"/>
                  </a:cubicBezTo>
                  <a:cubicBezTo>
                    <a:pt x="1185" y="803"/>
                    <a:pt x="1391" y="724"/>
                    <a:pt x="1614" y="724"/>
                  </a:cubicBezTo>
                  <a:cubicBezTo>
                    <a:pt x="1640" y="724"/>
                    <a:pt x="1666" y="725"/>
                    <a:pt x="1692" y="727"/>
                  </a:cubicBezTo>
                  <a:cubicBezTo>
                    <a:pt x="2100" y="785"/>
                    <a:pt x="2431" y="1096"/>
                    <a:pt x="2470" y="1505"/>
                  </a:cubicBezTo>
                  <a:cubicBezTo>
                    <a:pt x="2509" y="1912"/>
                    <a:pt x="2275" y="2301"/>
                    <a:pt x="1886" y="2438"/>
                  </a:cubicBezTo>
                  <a:cubicBezTo>
                    <a:pt x="1498" y="2573"/>
                    <a:pt x="1244" y="2923"/>
                    <a:pt x="1244" y="3351"/>
                  </a:cubicBezTo>
                  <a:lnTo>
                    <a:pt x="1244" y="3643"/>
                  </a:lnTo>
                  <a:cubicBezTo>
                    <a:pt x="1244" y="3856"/>
                    <a:pt x="1400" y="4012"/>
                    <a:pt x="1594" y="4012"/>
                  </a:cubicBezTo>
                  <a:cubicBezTo>
                    <a:pt x="1789" y="4012"/>
                    <a:pt x="1964" y="3856"/>
                    <a:pt x="1964" y="3643"/>
                  </a:cubicBezTo>
                  <a:lnTo>
                    <a:pt x="1964" y="3351"/>
                  </a:lnTo>
                  <a:cubicBezTo>
                    <a:pt x="1964" y="3234"/>
                    <a:pt x="2022" y="3156"/>
                    <a:pt x="2120" y="3118"/>
                  </a:cubicBezTo>
                  <a:cubicBezTo>
                    <a:pt x="2820" y="2884"/>
                    <a:pt x="3266" y="2184"/>
                    <a:pt x="3188" y="1427"/>
                  </a:cubicBezTo>
                  <a:cubicBezTo>
                    <a:pt x="3110" y="668"/>
                    <a:pt x="2527" y="105"/>
                    <a:pt x="1770" y="7"/>
                  </a:cubicBezTo>
                  <a:cubicBezTo>
                    <a:pt x="1720" y="3"/>
                    <a:pt x="1671" y="1"/>
                    <a:pt x="1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35" name="Google Shape;1035;p43"/>
            <p:cNvSpPr/>
            <p:nvPr/>
          </p:nvSpPr>
          <p:spPr>
            <a:xfrm>
              <a:off x="3251449" y="2187933"/>
              <a:ext cx="13692" cy="13673"/>
            </a:xfrm>
            <a:custGeom>
              <a:avLst/>
              <a:gdLst/>
              <a:ahLst/>
              <a:cxnLst/>
              <a:rect l="l" t="t" r="r" b="b"/>
              <a:pathLst>
                <a:path w="721" h="720" extrusionOk="0">
                  <a:moveTo>
                    <a:pt x="350" y="1"/>
                  </a:moveTo>
                  <a:cubicBezTo>
                    <a:pt x="254" y="1"/>
                    <a:pt x="156" y="40"/>
                    <a:pt x="98" y="118"/>
                  </a:cubicBezTo>
                  <a:cubicBezTo>
                    <a:pt x="39" y="175"/>
                    <a:pt x="0" y="273"/>
                    <a:pt x="0" y="370"/>
                  </a:cubicBezTo>
                  <a:cubicBezTo>
                    <a:pt x="0" y="468"/>
                    <a:pt x="39" y="564"/>
                    <a:pt x="98" y="623"/>
                  </a:cubicBezTo>
                  <a:cubicBezTo>
                    <a:pt x="156" y="681"/>
                    <a:pt x="254" y="720"/>
                    <a:pt x="350" y="720"/>
                  </a:cubicBezTo>
                  <a:cubicBezTo>
                    <a:pt x="448" y="720"/>
                    <a:pt x="545" y="681"/>
                    <a:pt x="604" y="623"/>
                  </a:cubicBezTo>
                  <a:cubicBezTo>
                    <a:pt x="681" y="564"/>
                    <a:pt x="720" y="468"/>
                    <a:pt x="720" y="370"/>
                  </a:cubicBezTo>
                  <a:cubicBezTo>
                    <a:pt x="720" y="273"/>
                    <a:pt x="681" y="175"/>
                    <a:pt x="604" y="118"/>
                  </a:cubicBezTo>
                  <a:cubicBezTo>
                    <a:pt x="545" y="40"/>
                    <a:pt x="448" y="1"/>
                    <a:pt x="3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36" name="Google Shape;1036;p43"/>
            <p:cNvSpPr/>
            <p:nvPr/>
          </p:nvSpPr>
          <p:spPr>
            <a:xfrm>
              <a:off x="3252190" y="2054296"/>
              <a:ext cx="13692" cy="13673"/>
            </a:xfrm>
            <a:custGeom>
              <a:avLst/>
              <a:gdLst/>
              <a:ahLst/>
              <a:cxnLst/>
              <a:rect l="l" t="t" r="r" b="b"/>
              <a:pathLst>
                <a:path w="721" h="720" extrusionOk="0">
                  <a:moveTo>
                    <a:pt x="350" y="1"/>
                  </a:moveTo>
                  <a:cubicBezTo>
                    <a:pt x="254" y="1"/>
                    <a:pt x="176" y="40"/>
                    <a:pt x="98" y="97"/>
                  </a:cubicBezTo>
                  <a:cubicBezTo>
                    <a:pt x="39" y="175"/>
                    <a:pt x="0" y="253"/>
                    <a:pt x="0" y="351"/>
                  </a:cubicBezTo>
                  <a:cubicBezTo>
                    <a:pt x="0" y="447"/>
                    <a:pt x="39" y="545"/>
                    <a:pt x="98" y="603"/>
                  </a:cubicBezTo>
                  <a:cubicBezTo>
                    <a:pt x="176" y="680"/>
                    <a:pt x="254" y="719"/>
                    <a:pt x="350" y="719"/>
                  </a:cubicBezTo>
                  <a:cubicBezTo>
                    <a:pt x="448" y="719"/>
                    <a:pt x="544" y="680"/>
                    <a:pt x="603" y="603"/>
                  </a:cubicBezTo>
                  <a:cubicBezTo>
                    <a:pt x="681" y="545"/>
                    <a:pt x="720" y="447"/>
                    <a:pt x="720" y="351"/>
                  </a:cubicBezTo>
                  <a:cubicBezTo>
                    <a:pt x="720" y="253"/>
                    <a:pt x="681" y="175"/>
                    <a:pt x="603" y="97"/>
                  </a:cubicBezTo>
                  <a:cubicBezTo>
                    <a:pt x="544" y="40"/>
                    <a:pt x="448" y="1"/>
                    <a:pt x="3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</p:grpSp>
      <p:grpSp>
        <p:nvGrpSpPr>
          <p:cNvPr id="1037" name="Google Shape;1037;p43"/>
          <p:cNvGrpSpPr/>
          <p:nvPr/>
        </p:nvGrpSpPr>
        <p:grpSpPr>
          <a:xfrm>
            <a:off x="13907301" y="2872530"/>
            <a:ext cx="591798" cy="617440"/>
            <a:chOff x="3653497" y="2054106"/>
            <a:chExt cx="337054" cy="351657"/>
          </a:xfrm>
        </p:grpSpPr>
        <p:sp>
          <p:nvSpPr>
            <p:cNvPr id="1038" name="Google Shape;1038;p43"/>
            <p:cNvSpPr/>
            <p:nvPr/>
          </p:nvSpPr>
          <p:spPr>
            <a:xfrm>
              <a:off x="3653497" y="2054106"/>
              <a:ext cx="337054" cy="351657"/>
            </a:xfrm>
            <a:custGeom>
              <a:avLst/>
              <a:gdLst/>
              <a:ahLst/>
              <a:cxnLst/>
              <a:rect l="l" t="t" r="r" b="b"/>
              <a:pathLst>
                <a:path w="17749" h="18518" extrusionOk="0">
                  <a:moveTo>
                    <a:pt x="8865" y="4793"/>
                  </a:moveTo>
                  <a:cubicBezTo>
                    <a:pt x="9254" y="4793"/>
                    <a:pt x="9584" y="5026"/>
                    <a:pt x="9584" y="5298"/>
                  </a:cubicBezTo>
                  <a:cubicBezTo>
                    <a:pt x="9584" y="5571"/>
                    <a:pt x="9254" y="5804"/>
                    <a:pt x="8865" y="5804"/>
                  </a:cubicBezTo>
                  <a:cubicBezTo>
                    <a:pt x="8476" y="5804"/>
                    <a:pt x="8145" y="5571"/>
                    <a:pt x="8145" y="5298"/>
                  </a:cubicBezTo>
                  <a:cubicBezTo>
                    <a:pt x="8145" y="5026"/>
                    <a:pt x="8476" y="4793"/>
                    <a:pt x="8865" y="4793"/>
                  </a:cubicBezTo>
                  <a:close/>
                  <a:moveTo>
                    <a:pt x="8865" y="729"/>
                  </a:moveTo>
                  <a:lnTo>
                    <a:pt x="17010" y="5298"/>
                  </a:lnTo>
                  <a:lnTo>
                    <a:pt x="14755" y="6561"/>
                  </a:lnTo>
                  <a:cubicBezTo>
                    <a:pt x="14736" y="6581"/>
                    <a:pt x="14716" y="6581"/>
                    <a:pt x="14697" y="6600"/>
                  </a:cubicBezTo>
                  <a:lnTo>
                    <a:pt x="8865" y="9866"/>
                  </a:lnTo>
                  <a:lnTo>
                    <a:pt x="5172" y="7805"/>
                  </a:lnTo>
                  <a:lnTo>
                    <a:pt x="7932" y="6232"/>
                  </a:lnTo>
                  <a:cubicBezTo>
                    <a:pt x="8184" y="6426"/>
                    <a:pt x="8515" y="6522"/>
                    <a:pt x="8865" y="6522"/>
                  </a:cubicBezTo>
                  <a:cubicBezTo>
                    <a:pt x="9661" y="6522"/>
                    <a:pt x="10304" y="5978"/>
                    <a:pt x="10304" y="5298"/>
                  </a:cubicBezTo>
                  <a:cubicBezTo>
                    <a:pt x="10304" y="4617"/>
                    <a:pt x="9661" y="4073"/>
                    <a:pt x="8865" y="4073"/>
                  </a:cubicBezTo>
                  <a:cubicBezTo>
                    <a:pt x="8067" y="4073"/>
                    <a:pt x="7406" y="4617"/>
                    <a:pt x="7406" y="5298"/>
                  </a:cubicBezTo>
                  <a:cubicBezTo>
                    <a:pt x="7406" y="5434"/>
                    <a:pt x="7445" y="5550"/>
                    <a:pt x="7484" y="5667"/>
                  </a:cubicBezTo>
                  <a:lnTo>
                    <a:pt x="4433" y="7378"/>
                  </a:lnTo>
                  <a:lnTo>
                    <a:pt x="3033" y="6600"/>
                  </a:lnTo>
                  <a:cubicBezTo>
                    <a:pt x="3013" y="6581"/>
                    <a:pt x="2994" y="6581"/>
                    <a:pt x="2974" y="6561"/>
                  </a:cubicBezTo>
                  <a:lnTo>
                    <a:pt x="719" y="5298"/>
                  </a:lnTo>
                  <a:lnTo>
                    <a:pt x="8865" y="729"/>
                  </a:lnTo>
                  <a:close/>
                  <a:moveTo>
                    <a:pt x="3189" y="7515"/>
                  </a:moveTo>
                  <a:lnTo>
                    <a:pt x="4044" y="8000"/>
                  </a:lnTo>
                  <a:lnTo>
                    <a:pt x="4044" y="11344"/>
                  </a:lnTo>
                  <a:cubicBezTo>
                    <a:pt x="3946" y="11382"/>
                    <a:pt x="3829" y="11421"/>
                    <a:pt x="3752" y="11480"/>
                  </a:cubicBezTo>
                  <a:lnTo>
                    <a:pt x="3189" y="11110"/>
                  </a:lnTo>
                  <a:lnTo>
                    <a:pt x="3189" y="7515"/>
                  </a:lnTo>
                  <a:close/>
                  <a:moveTo>
                    <a:pt x="4413" y="12025"/>
                  </a:moveTo>
                  <a:cubicBezTo>
                    <a:pt x="4762" y="12025"/>
                    <a:pt x="5055" y="12316"/>
                    <a:pt x="5055" y="12665"/>
                  </a:cubicBezTo>
                  <a:lnTo>
                    <a:pt x="5055" y="13036"/>
                  </a:lnTo>
                  <a:lnTo>
                    <a:pt x="5055" y="13619"/>
                  </a:lnTo>
                  <a:lnTo>
                    <a:pt x="3752" y="13619"/>
                  </a:lnTo>
                  <a:lnTo>
                    <a:pt x="3752" y="12665"/>
                  </a:lnTo>
                  <a:cubicBezTo>
                    <a:pt x="3752" y="12316"/>
                    <a:pt x="4044" y="12025"/>
                    <a:pt x="4413" y="12025"/>
                  </a:cubicBezTo>
                  <a:close/>
                  <a:moveTo>
                    <a:pt x="14542" y="7515"/>
                  </a:moveTo>
                  <a:lnTo>
                    <a:pt x="14542" y="11110"/>
                  </a:lnTo>
                  <a:lnTo>
                    <a:pt x="9234" y="14687"/>
                  </a:lnTo>
                  <a:lnTo>
                    <a:pt x="9234" y="13171"/>
                  </a:lnTo>
                  <a:cubicBezTo>
                    <a:pt x="9234" y="12976"/>
                    <a:pt x="9060" y="12821"/>
                    <a:pt x="8865" y="12821"/>
                  </a:cubicBezTo>
                  <a:cubicBezTo>
                    <a:pt x="8671" y="12821"/>
                    <a:pt x="8495" y="12976"/>
                    <a:pt x="8495" y="13171"/>
                  </a:cubicBezTo>
                  <a:lnTo>
                    <a:pt x="8495" y="14687"/>
                  </a:lnTo>
                  <a:lnTo>
                    <a:pt x="5794" y="12841"/>
                  </a:lnTo>
                  <a:lnTo>
                    <a:pt x="5794" y="12665"/>
                  </a:lnTo>
                  <a:cubicBezTo>
                    <a:pt x="5794" y="12043"/>
                    <a:pt x="5346" y="11499"/>
                    <a:pt x="4762" y="11344"/>
                  </a:cubicBezTo>
                  <a:lnTo>
                    <a:pt x="4762" y="8409"/>
                  </a:lnTo>
                  <a:lnTo>
                    <a:pt x="8515" y="10508"/>
                  </a:lnTo>
                  <a:cubicBezTo>
                    <a:pt x="8612" y="10566"/>
                    <a:pt x="8749" y="10605"/>
                    <a:pt x="8865" y="10605"/>
                  </a:cubicBezTo>
                  <a:cubicBezTo>
                    <a:pt x="8982" y="10605"/>
                    <a:pt x="9117" y="10566"/>
                    <a:pt x="9215" y="10508"/>
                  </a:cubicBezTo>
                  <a:lnTo>
                    <a:pt x="14542" y="7515"/>
                  </a:lnTo>
                  <a:close/>
                  <a:moveTo>
                    <a:pt x="5055" y="14358"/>
                  </a:moveTo>
                  <a:lnTo>
                    <a:pt x="5055" y="17779"/>
                  </a:lnTo>
                  <a:lnTo>
                    <a:pt x="3752" y="17779"/>
                  </a:lnTo>
                  <a:lnTo>
                    <a:pt x="3752" y="14358"/>
                  </a:lnTo>
                  <a:close/>
                  <a:moveTo>
                    <a:pt x="8865" y="1"/>
                  </a:moveTo>
                  <a:cubicBezTo>
                    <a:pt x="8743" y="1"/>
                    <a:pt x="8622" y="30"/>
                    <a:pt x="8515" y="88"/>
                  </a:cubicBezTo>
                  <a:lnTo>
                    <a:pt x="369" y="4676"/>
                  </a:lnTo>
                  <a:cubicBezTo>
                    <a:pt x="136" y="4793"/>
                    <a:pt x="0" y="5045"/>
                    <a:pt x="0" y="5298"/>
                  </a:cubicBezTo>
                  <a:cubicBezTo>
                    <a:pt x="0" y="5571"/>
                    <a:pt x="136" y="5804"/>
                    <a:pt x="369" y="5939"/>
                  </a:cubicBezTo>
                  <a:lnTo>
                    <a:pt x="2469" y="7106"/>
                  </a:lnTo>
                  <a:lnTo>
                    <a:pt x="2469" y="11110"/>
                  </a:lnTo>
                  <a:cubicBezTo>
                    <a:pt x="2469" y="11344"/>
                    <a:pt x="2585" y="11558"/>
                    <a:pt x="2780" y="11693"/>
                  </a:cubicBezTo>
                  <a:lnTo>
                    <a:pt x="3227" y="11986"/>
                  </a:lnTo>
                  <a:cubicBezTo>
                    <a:pt x="3111" y="12199"/>
                    <a:pt x="3033" y="12432"/>
                    <a:pt x="3033" y="12665"/>
                  </a:cubicBezTo>
                  <a:lnTo>
                    <a:pt x="3033" y="18148"/>
                  </a:lnTo>
                  <a:cubicBezTo>
                    <a:pt x="3033" y="18342"/>
                    <a:pt x="3207" y="18518"/>
                    <a:pt x="3402" y="18518"/>
                  </a:cubicBezTo>
                  <a:lnTo>
                    <a:pt x="5423" y="18518"/>
                  </a:lnTo>
                  <a:cubicBezTo>
                    <a:pt x="5618" y="18518"/>
                    <a:pt x="5794" y="18342"/>
                    <a:pt x="5794" y="18148"/>
                  </a:cubicBezTo>
                  <a:lnTo>
                    <a:pt x="5794" y="13715"/>
                  </a:lnTo>
                  <a:lnTo>
                    <a:pt x="8456" y="15524"/>
                  </a:lnTo>
                  <a:cubicBezTo>
                    <a:pt x="8593" y="15602"/>
                    <a:pt x="8728" y="15641"/>
                    <a:pt x="8865" y="15641"/>
                  </a:cubicBezTo>
                  <a:cubicBezTo>
                    <a:pt x="9000" y="15641"/>
                    <a:pt x="9156" y="15602"/>
                    <a:pt x="9273" y="15524"/>
                  </a:cubicBezTo>
                  <a:lnTo>
                    <a:pt x="14949" y="11693"/>
                  </a:lnTo>
                  <a:cubicBezTo>
                    <a:pt x="15144" y="11558"/>
                    <a:pt x="15260" y="11344"/>
                    <a:pt x="15260" y="11110"/>
                  </a:cubicBezTo>
                  <a:lnTo>
                    <a:pt x="15260" y="7106"/>
                  </a:lnTo>
                  <a:lnTo>
                    <a:pt x="17380" y="5939"/>
                  </a:lnTo>
                  <a:cubicBezTo>
                    <a:pt x="17593" y="5804"/>
                    <a:pt x="17749" y="5571"/>
                    <a:pt x="17749" y="5298"/>
                  </a:cubicBezTo>
                  <a:cubicBezTo>
                    <a:pt x="17749" y="5045"/>
                    <a:pt x="17593" y="4793"/>
                    <a:pt x="17380" y="4676"/>
                  </a:cubicBezTo>
                  <a:lnTo>
                    <a:pt x="9215" y="88"/>
                  </a:lnTo>
                  <a:cubicBezTo>
                    <a:pt x="9108" y="30"/>
                    <a:pt x="8986" y="1"/>
                    <a:pt x="88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39" name="Google Shape;1039;p43"/>
            <p:cNvSpPr/>
            <p:nvPr/>
          </p:nvSpPr>
          <p:spPr>
            <a:xfrm>
              <a:off x="3814822" y="2270257"/>
              <a:ext cx="14034" cy="13692"/>
            </a:xfrm>
            <a:custGeom>
              <a:avLst/>
              <a:gdLst/>
              <a:ahLst/>
              <a:cxnLst/>
              <a:rect l="l" t="t" r="r" b="b"/>
              <a:pathLst>
                <a:path w="739" h="721" extrusionOk="0">
                  <a:moveTo>
                    <a:pt x="370" y="0"/>
                  </a:moveTo>
                  <a:cubicBezTo>
                    <a:pt x="272" y="0"/>
                    <a:pt x="176" y="21"/>
                    <a:pt x="117" y="98"/>
                  </a:cubicBezTo>
                  <a:cubicBezTo>
                    <a:pt x="39" y="156"/>
                    <a:pt x="0" y="254"/>
                    <a:pt x="0" y="350"/>
                  </a:cubicBezTo>
                  <a:cubicBezTo>
                    <a:pt x="0" y="448"/>
                    <a:pt x="39" y="545"/>
                    <a:pt x="117" y="604"/>
                  </a:cubicBezTo>
                  <a:cubicBezTo>
                    <a:pt x="176" y="682"/>
                    <a:pt x="272" y="720"/>
                    <a:pt x="370" y="720"/>
                  </a:cubicBezTo>
                  <a:cubicBezTo>
                    <a:pt x="467" y="720"/>
                    <a:pt x="565" y="682"/>
                    <a:pt x="622" y="604"/>
                  </a:cubicBezTo>
                  <a:cubicBezTo>
                    <a:pt x="700" y="545"/>
                    <a:pt x="739" y="448"/>
                    <a:pt x="739" y="350"/>
                  </a:cubicBezTo>
                  <a:cubicBezTo>
                    <a:pt x="739" y="254"/>
                    <a:pt x="700" y="156"/>
                    <a:pt x="622" y="98"/>
                  </a:cubicBezTo>
                  <a:cubicBezTo>
                    <a:pt x="565" y="21"/>
                    <a:pt x="467" y="0"/>
                    <a:pt x="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</p:grpSp>
      <p:grpSp>
        <p:nvGrpSpPr>
          <p:cNvPr id="1040" name="Google Shape;1040;p43"/>
          <p:cNvGrpSpPr/>
          <p:nvPr/>
        </p:nvGrpSpPr>
        <p:grpSpPr>
          <a:xfrm>
            <a:off x="3776699" y="2873349"/>
            <a:ext cx="615806" cy="615806"/>
            <a:chOff x="3646471" y="1389780"/>
            <a:chExt cx="350726" cy="350726"/>
          </a:xfrm>
        </p:grpSpPr>
        <p:sp>
          <p:nvSpPr>
            <p:cNvPr id="1041" name="Google Shape;1041;p43"/>
            <p:cNvSpPr/>
            <p:nvPr/>
          </p:nvSpPr>
          <p:spPr>
            <a:xfrm>
              <a:off x="3646471" y="1389780"/>
              <a:ext cx="350726" cy="350726"/>
            </a:xfrm>
            <a:custGeom>
              <a:avLst/>
              <a:gdLst/>
              <a:ahLst/>
              <a:cxnLst/>
              <a:rect l="l" t="t" r="r" b="b"/>
              <a:pathLst>
                <a:path w="18469" h="18469" extrusionOk="0">
                  <a:moveTo>
                    <a:pt x="14542" y="4568"/>
                  </a:moveTo>
                  <a:cubicBezTo>
                    <a:pt x="14951" y="4568"/>
                    <a:pt x="15301" y="4918"/>
                    <a:pt x="15301" y="5327"/>
                  </a:cubicBezTo>
                  <a:lnTo>
                    <a:pt x="15301" y="5618"/>
                  </a:lnTo>
                  <a:cubicBezTo>
                    <a:pt x="15301" y="6027"/>
                    <a:pt x="14951" y="6377"/>
                    <a:pt x="14542" y="6377"/>
                  </a:cubicBezTo>
                  <a:cubicBezTo>
                    <a:pt x="14114" y="6377"/>
                    <a:pt x="13784" y="6027"/>
                    <a:pt x="13784" y="5618"/>
                  </a:cubicBezTo>
                  <a:lnTo>
                    <a:pt x="13784" y="5327"/>
                  </a:lnTo>
                  <a:cubicBezTo>
                    <a:pt x="13784" y="4918"/>
                    <a:pt x="14114" y="4568"/>
                    <a:pt x="14542" y="4568"/>
                  </a:cubicBezTo>
                  <a:close/>
                  <a:moveTo>
                    <a:pt x="14542" y="2663"/>
                  </a:moveTo>
                  <a:cubicBezTo>
                    <a:pt x="16311" y="2663"/>
                    <a:pt x="17750" y="4101"/>
                    <a:pt x="17750" y="5871"/>
                  </a:cubicBezTo>
                  <a:cubicBezTo>
                    <a:pt x="17750" y="6629"/>
                    <a:pt x="17478" y="7328"/>
                    <a:pt x="17030" y="7893"/>
                  </a:cubicBezTo>
                  <a:cubicBezTo>
                    <a:pt x="16739" y="7310"/>
                    <a:pt x="16234" y="6862"/>
                    <a:pt x="15650" y="6610"/>
                  </a:cubicBezTo>
                  <a:cubicBezTo>
                    <a:pt x="15884" y="6338"/>
                    <a:pt x="16019" y="5988"/>
                    <a:pt x="16019" y="5618"/>
                  </a:cubicBezTo>
                  <a:lnTo>
                    <a:pt x="16019" y="5327"/>
                  </a:lnTo>
                  <a:cubicBezTo>
                    <a:pt x="16019" y="4510"/>
                    <a:pt x="15358" y="3849"/>
                    <a:pt x="14542" y="3849"/>
                  </a:cubicBezTo>
                  <a:cubicBezTo>
                    <a:pt x="13725" y="3849"/>
                    <a:pt x="13064" y="4510"/>
                    <a:pt x="13064" y="5327"/>
                  </a:cubicBezTo>
                  <a:lnTo>
                    <a:pt x="13064" y="5618"/>
                  </a:lnTo>
                  <a:cubicBezTo>
                    <a:pt x="13064" y="5988"/>
                    <a:pt x="13201" y="6338"/>
                    <a:pt x="13434" y="6610"/>
                  </a:cubicBezTo>
                  <a:cubicBezTo>
                    <a:pt x="12851" y="6862"/>
                    <a:pt x="12346" y="7310"/>
                    <a:pt x="12035" y="7893"/>
                  </a:cubicBezTo>
                  <a:cubicBezTo>
                    <a:pt x="11587" y="7328"/>
                    <a:pt x="11335" y="6629"/>
                    <a:pt x="11335" y="5871"/>
                  </a:cubicBezTo>
                  <a:cubicBezTo>
                    <a:pt x="11335" y="4101"/>
                    <a:pt x="12773" y="2663"/>
                    <a:pt x="14542" y="2663"/>
                  </a:cubicBezTo>
                  <a:close/>
                  <a:moveTo>
                    <a:pt x="14542" y="7095"/>
                  </a:moveTo>
                  <a:cubicBezTo>
                    <a:pt x="15397" y="7095"/>
                    <a:pt x="16175" y="7639"/>
                    <a:pt x="16486" y="8417"/>
                  </a:cubicBezTo>
                  <a:cubicBezTo>
                    <a:pt x="15941" y="8826"/>
                    <a:pt x="15262" y="9078"/>
                    <a:pt x="14542" y="9078"/>
                  </a:cubicBezTo>
                  <a:cubicBezTo>
                    <a:pt x="13803" y="9078"/>
                    <a:pt x="13142" y="8826"/>
                    <a:pt x="12598" y="8417"/>
                  </a:cubicBezTo>
                  <a:cubicBezTo>
                    <a:pt x="12909" y="7639"/>
                    <a:pt x="13668" y="7095"/>
                    <a:pt x="14542" y="7095"/>
                  </a:cubicBezTo>
                  <a:close/>
                  <a:moveTo>
                    <a:pt x="10615" y="2157"/>
                  </a:moveTo>
                  <a:lnTo>
                    <a:pt x="10615" y="12403"/>
                  </a:lnTo>
                  <a:lnTo>
                    <a:pt x="4122" y="12403"/>
                  </a:lnTo>
                  <a:lnTo>
                    <a:pt x="4122" y="2157"/>
                  </a:lnTo>
                  <a:close/>
                  <a:moveTo>
                    <a:pt x="11335" y="8145"/>
                  </a:moveTo>
                  <a:cubicBezTo>
                    <a:pt x="11490" y="8378"/>
                    <a:pt x="11685" y="8593"/>
                    <a:pt x="11898" y="8787"/>
                  </a:cubicBezTo>
                  <a:lnTo>
                    <a:pt x="11957" y="8845"/>
                  </a:lnTo>
                  <a:cubicBezTo>
                    <a:pt x="11996" y="8865"/>
                    <a:pt x="12014" y="8884"/>
                    <a:pt x="12053" y="8904"/>
                  </a:cubicBezTo>
                  <a:lnTo>
                    <a:pt x="12053" y="13549"/>
                  </a:lnTo>
                  <a:cubicBezTo>
                    <a:pt x="12053" y="13997"/>
                    <a:pt x="11685" y="14347"/>
                    <a:pt x="11257" y="14347"/>
                  </a:cubicBezTo>
                  <a:lnTo>
                    <a:pt x="4997" y="14347"/>
                  </a:lnTo>
                  <a:cubicBezTo>
                    <a:pt x="4919" y="13899"/>
                    <a:pt x="4744" y="13472"/>
                    <a:pt x="4492" y="13122"/>
                  </a:cubicBezTo>
                  <a:lnTo>
                    <a:pt x="10965" y="13122"/>
                  </a:lnTo>
                  <a:cubicBezTo>
                    <a:pt x="11159" y="13122"/>
                    <a:pt x="11335" y="12966"/>
                    <a:pt x="11335" y="12753"/>
                  </a:cubicBezTo>
                  <a:lnTo>
                    <a:pt x="11335" y="8145"/>
                  </a:lnTo>
                  <a:close/>
                  <a:moveTo>
                    <a:pt x="3461" y="0"/>
                  </a:moveTo>
                  <a:cubicBezTo>
                    <a:pt x="2625" y="0"/>
                    <a:pt x="1944" y="661"/>
                    <a:pt x="1944" y="1496"/>
                  </a:cubicBezTo>
                  <a:lnTo>
                    <a:pt x="1944" y="4024"/>
                  </a:lnTo>
                  <a:cubicBezTo>
                    <a:pt x="1944" y="4238"/>
                    <a:pt x="2120" y="4394"/>
                    <a:pt x="2314" y="4394"/>
                  </a:cubicBezTo>
                  <a:cubicBezTo>
                    <a:pt x="2509" y="4394"/>
                    <a:pt x="2664" y="4238"/>
                    <a:pt x="2664" y="4024"/>
                  </a:cubicBezTo>
                  <a:lnTo>
                    <a:pt x="2664" y="1496"/>
                  </a:lnTo>
                  <a:cubicBezTo>
                    <a:pt x="2664" y="1069"/>
                    <a:pt x="3033" y="719"/>
                    <a:pt x="3461" y="719"/>
                  </a:cubicBezTo>
                  <a:lnTo>
                    <a:pt x="11257" y="719"/>
                  </a:lnTo>
                  <a:cubicBezTo>
                    <a:pt x="11685" y="719"/>
                    <a:pt x="12053" y="1069"/>
                    <a:pt x="12053" y="1496"/>
                  </a:cubicBezTo>
                  <a:lnTo>
                    <a:pt x="12053" y="2838"/>
                  </a:lnTo>
                  <a:cubicBezTo>
                    <a:pt x="11781" y="3052"/>
                    <a:pt x="11529" y="3305"/>
                    <a:pt x="11335" y="3596"/>
                  </a:cubicBezTo>
                  <a:lnTo>
                    <a:pt x="11335" y="1789"/>
                  </a:lnTo>
                  <a:cubicBezTo>
                    <a:pt x="11335" y="1594"/>
                    <a:pt x="11159" y="1439"/>
                    <a:pt x="10965" y="1439"/>
                  </a:cubicBezTo>
                  <a:lnTo>
                    <a:pt x="3753" y="1439"/>
                  </a:lnTo>
                  <a:cubicBezTo>
                    <a:pt x="3559" y="1439"/>
                    <a:pt x="3383" y="1594"/>
                    <a:pt x="3383" y="1789"/>
                  </a:cubicBezTo>
                  <a:lnTo>
                    <a:pt x="3383" y="12248"/>
                  </a:lnTo>
                  <a:cubicBezTo>
                    <a:pt x="3170" y="12150"/>
                    <a:pt x="2916" y="12092"/>
                    <a:pt x="2664" y="12053"/>
                  </a:cubicBezTo>
                  <a:lnTo>
                    <a:pt x="2664" y="6921"/>
                  </a:lnTo>
                  <a:cubicBezTo>
                    <a:pt x="2664" y="6727"/>
                    <a:pt x="2509" y="6551"/>
                    <a:pt x="2314" y="6551"/>
                  </a:cubicBezTo>
                  <a:cubicBezTo>
                    <a:pt x="2120" y="6551"/>
                    <a:pt x="1944" y="6727"/>
                    <a:pt x="1944" y="6921"/>
                  </a:cubicBezTo>
                  <a:lnTo>
                    <a:pt x="1944" y="9215"/>
                  </a:lnTo>
                  <a:cubicBezTo>
                    <a:pt x="1692" y="9000"/>
                    <a:pt x="1361" y="8845"/>
                    <a:pt x="992" y="8767"/>
                  </a:cubicBezTo>
                  <a:cubicBezTo>
                    <a:pt x="947" y="8759"/>
                    <a:pt x="901" y="8756"/>
                    <a:pt x="854" y="8756"/>
                  </a:cubicBezTo>
                  <a:cubicBezTo>
                    <a:pt x="663" y="8756"/>
                    <a:pt x="468" y="8821"/>
                    <a:pt x="311" y="8961"/>
                  </a:cubicBezTo>
                  <a:cubicBezTo>
                    <a:pt x="117" y="9117"/>
                    <a:pt x="0" y="9350"/>
                    <a:pt x="0" y="9604"/>
                  </a:cubicBezTo>
                  <a:lnTo>
                    <a:pt x="0" y="13316"/>
                  </a:lnTo>
                  <a:cubicBezTo>
                    <a:pt x="0" y="14658"/>
                    <a:pt x="332" y="15980"/>
                    <a:pt x="972" y="17165"/>
                  </a:cubicBezTo>
                  <a:lnTo>
                    <a:pt x="972" y="18098"/>
                  </a:lnTo>
                  <a:cubicBezTo>
                    <a:pt x="972" y="18293"/>
                    <a:pt x="1128" y="18448"/>
                    <a:pt x="1342" y="18448"/>
                  </a:cubicBezTo>
                  <a:cubicBezTo>
                    <a:pt x="1537" y="18448"/>
                    <a:pt x="1692" y="18293"/>
                    <a:pt x="1692" y="18098"/>
                  </a:cubicBezTo>
                  <a:lnTo>
                    <a:pt x="1692" y="17069"/>
                  </a:lnTo>
                  <a:cubicBezTo>
                    <a:pt x="1692" y="17010"/>
                    <a:pt x="1672" y="16952"/>
                    <a:pt x="1653" y="16893"/>
                  </a:cubicBezTo>
                  <a:cubicBezTo>
                    <a:pt x="1050" y="15804"/>
                    <a:pt x="720" y="14560"/>
                    <a:pt x="720" y="13316"/>
                  </a:cubicBezTo>
                  <a:lnTo>
                    <a:pt x="720" y="9604"/>
                  </a:lnTo>
                  <a:cubicBezTo>
                    <a:pt x="720" y="9565"/>
                    <a:pt x="759" y="9526"/>
                    <a:pt x="759" y="9506"/>
                  </a:cubicBezTo>
                  <a:cubicBezTo>
                    <a:pt x="774" y="9506"/>
                    <a:pt x="802" y="9481"/>
                    <a:pt x="842" y="9481"/>
                  </a:cubicBezTo>
                  <a:cubicBezTo>
                    <a:pt x="852" y="9481"/>
                    <a:pt x="864" y="9483"/>
                    <a:pt x="876" y="9487"/>
                  </a:cubicBezTo>
                  <a:cubicBezTo>
                    <a:pt x="1498" y="9604"/>
                    <a:pt x="1944" y="10148"/>
                    <a:pt x="1944" y="10770"/>
                  </a:cubicBezTo>
                  <a:lnTo>
                    <a:pt x="1944" y="12286"/>
                  </a:lnTo>
                  <a:lnTo>
                    <a:pt x="1944" y="12344"/>
                  </a:lnTo>
                  <a:lnTo>
                    <a:pt x="1944" y="12383"/>
                  </a:lnTo>
                  <a:cubicBezTo>
                    <a:pt x="1944" y="12577"/>
                    <a:pt x="2120" y="12753"/>
                    <a:pt x="2314" y="12753"/>
                  </a:cubicBezTo>
                  <a:cubicBezTo>
                    <a:pt x="3403" y="12753"/>
                    <a:pt x="4297" y="13647"/>
                    <a:pt x="4297" y="14736"/>
                  </a:cubicBezTo>
                  <a:lnTo>
                    <a:pt x="4297" y="15397"/>
                  </a:lnTo>
                  <a:cubicBezTo>
                    <a:pt x="4297" y="15591"/>
                    <a:pt x="4453" y="15747"/>
                    <a:pt x="4666" y="15747"/>
                  </a:cubicBezTo>
                  <a:cubicBezTo>
                    <a:pt x="4860" y="15747"/>
                    <a:pt x="5016" y="15591"/>
                    <a:pt x="5016" y="15397"/>
                  </a:cubicBezTo>
                  <a:lnTo>
                    <a:pt x="5016" y="15066"/>
                  </a:lnTo>
                  <a:lnTo>
                    <a:pt x="9235" y="15066"/>
                  </a:lnTo>
                  <a:cubicBezTo>
                    <a:pt x="8904" y="16271"/>
                    <a:pt x="8049" y="17263"/>
                    <a:pt x="6902" y="17769"/>
                  </a:cubicBezTo>
                  <a:cubicBezTo>
                    <a:pt x="6708" y="17846"/>
                    <a:pt x="6630" y="18059"/>
                    <a:pt x="6708" y="18254"/>
                  </a:cubicBezTo>
                  <a:cubicBezTo>
                    <a:pt x="6765" y="18370"/>
                    <a:pt x="6902" y="18468"/>
                    <a:pt x="7038" y="18468"/>
                  </a:cubicBezTo>
                  <a:cubicBezTo>
                    <a:pt x="7097" y="18468"/>
                    <a:pt x="7136" y="18448"/>
                    <a:pt x="7193" y="18430"/>
                  </a:cubicBezTo>
                  <a:cubicBezTo>
                    <a:pt x="8593" y="17807"/>
                    <a:pt x="9624" y="16563"/>
                    <a:pt x="9993" y="15066"/>
                  </a:cubicBezTo>
                  <a:lnTo>
                    <a:pt x="11257" y="15066"/>
                  </a:lnTo>
                  <a:cubicBezTo>
                    <a:pt x="12092" y="15066"/>
                    <a:pt x="12773" y="14386"/>
                    <a:pt x="12773" y="13549"/>
                  </a:cubicBezTo>
                  <a:lnTo>
                    <a:pt x="12773" y="9389"/>
                  </a:lnTo>
                  <a:cubicBezTo>
                    <a:pt x="13297" y="9643"/>
                    <a:pt x="13901" y="9798"/>
                    <a:pt x="14542" y="9798"/>
                  </a:cubicBezTo>
                  <a:cubicBezTo>
                    <a:pt x="15534" y="9798"/>
                    <a:pt x="16428" y="9428"/>
                    <a:pt x="17108" y="8845"/>
                  </a:cubicBezTo>
                  <a:lnTo>
                    <a:pt x="17167" y="8787"/>
                  </a:lnTo>
                  <a:cubicBezTo>
                    <a:pt x="17963" y="8067"/>
                    <a:pt x="18469" y="7017"/>
                    <a:pt x="18469" y="5871"/>
                  </a:cubicBezTo>
                  <a:cubicBezTo>
                    <a:pt x="18469" y="3694"/>
                    <a:pt x="16700" y="1944"/>
                    <a:pt x="14542" y="1944"/>
                  </a:cubicBezTo>
                  <a:cubicBezTo>
                    <a:pt x="13901" y="1944"/>
                    <a:pt x="13297" y="2100"/>
                    <a:pt x="12773" y="2352"/>
                  </a:cubicBezTo>
                  <a:lnTo>
                    <a:pt x="12773" y="1496"/>
                  </a:lnTo>
                  <a:cubicBezTo>
                    <a:pt x="12773" y="661"/>
                    <a:pt x="12092" y="0"/>
                    <a:pt x="112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42" name="Google Shape;1042;p43"/>
            <p:cNvSpPr/>
            <p:nvPr/>
          </p:nvSpPr>
          <p:spPr>
            <a:xfrm>
              <a:off x="3752799" y="1449201"/>
              <a:ext cx="67206" cy="67206"/>
            </a:xfrm>
            <a:custGeom>
              <a:avLst/>
              <a:gdLst/>
              <a:ahLst/>
              <a:cxnLst/>
              <a:rect l="l" t="t" r="r" b="b"/>
              <a:pathLst>
                <a:path w="3539" h="3539" extrusionOk="0">
                  <a:moveTo>
                    <a:pt x="1770" y="739"/>
                  </a:moveTo>
                  <a:cubicBezTo>
                    <a:pt x="2333" y="739"/>
                    <a:pt x="2799" y="1206"/>
                    <a:pt x="2799" y="1770"/>
                  </a:cubicBezTo>
                  <a:cubicBezTo>
                    <a:pt x="2799" y="2353"/>
                    <a:pt x="2333" y="2820"/>
                    <a:pt x="1770" y="2820"/>
                  </a:cubicBezTo>
                  <a:cubicBezTo>
                    <a:pt x="1187" y="2820"/>
                    <a:pt x="720" y="2353"/>
                    <a:pt x="720" y="1770"/>
                  </a:cubicBezTo>
                  <a:cubicBezTo>
                    <a:pt x="720" y="1206"/>
                    <a:pt x="1187" y="739"/>
                    <a:pt x="1770" y="739"/>
                  </a:cubicBezTo>
                  <a:close/>
                  <a:moveTo>
                    <a:pt x="1770" y="0"/>
                  </a:moveTo>
                  <a:cubicBezTo>
                    <a:pt x="778" y="0"/>
                    <a:pt x="0" y="798"/>
                    <a:pt x="0" y="1770"/>
                  </a:cubicBezTo>
                  <a:cubicBezTo>
                    <a:pt x="0" y="2742"/>
                    <a:pt x="778" y="3538"/>
                    <a:pt x="1770" y="3538"/>
                  </a:cubicBezTo>
                  <a:cubicBezTo>
                    <a:pt x="2742" y="3538"/>
                    <a:pt x="3538" y="2742"/>
                    <a:pt x="3538" y="1770"/>
                  </a:cubicBezTo>
                  <a:cubicBezTo>
                    <a:pt x="3538" y="798"/>
                    <a:pt x="2742" y="0"/>
                    <a:pt x="1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43" name="Google Shape;1043;p43"/>
            <p:cNvSpPr/>
            <p:nvPr/>
          </p:nvSpPr>
          <p:spPr>
            <a:xfrm>
              <a:off x="3739505" y="1531886"/>
              <a:ext cx="93431" cy="14053"/>
            </a:xfrm>
            <a:custGeom>
              <a:avLst/>
              <a:gdLst/>
              <a:ahLst/>
              <a:cxnLst/>
              <a:rect l="l" t="t" r="r" b="b"/>
              <a:pathLst>
                <a:path w="4920" h="740" extrusionOk="0">
                  <a:moveTo>
                    <a:pt x="370" y="1"/>
                  </a:moveTo>
                  <a:cubicBezTo>
                    <a:pt x="176" y="1"/>
                    <a:pt x="0" y="177"/>
                    <a:pt x="0" y="371"/>
                  </a:cubicBezTo>
                  <a:cubicBezTo>
                    <a:pt x="0" y="565"/>
                    <a:pt x="176" y="740"/>
                    <a:pt x="370" y="740"/>
                  </a:cubicBezTo>
                  <a:lnTo>
                    <a:pt x="4549" y="740"/>
                  </a:lnTo>
                  <a:cubicBezTo>
                    <a:pt x="4744" y="740"/>
                    <a:pt x="4919" y="565"/>
                    <a:pt x="4919" y="371"/>
                  </a:cubicBezTo>
                  <a:cubicBezTo>
                    <a:pt x="4919" y="177"/>
                    <a:pt x="4744" y="1"/>
                    <a:pt x="4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44" name="Google Shape;1044;p43"/>
            <p:cNvSpPr/>
            <p:nvPr/>
          </p:nvSpPr>
          <p:spPr>
            <a:xfrm>
              <a:off x="3739505" y="1563296"/>
              <a:ext cx="93431" cy="13654"/>
            </a:xfrm>
            <a:custGeom>
              <a:avLst/>
              <a:gdLst/>
              <a:ahLst/>
              <a:cxnLst/>
              <a:rect l="l" t="t" r="r" b="b"/>
              <a:pathLst>
                <a:path w="4920" h="719" extrusionOk="0">
                  <a:moveTo>
                    <a:pt x="370" y="0"/>
                  </a:moveTo>
                  <a:cubicBezTo>
                    <a:pt x="176" y="0"/>
                    <a:pt x="0" y="156"/>
                    <a:pt x="0" y="350"/>
                  </a:cubicBezTo>
                  <a:cubicBezTo>
                    <a:pt x="0" y="544"/>
                    <a:pt x="176" y="719"/>
                    <a:pt x="370" y="719"/>
                  </a:cubicBezTo>
                  <a:lnTo>
                    <a:pt x="4549" y="719"/>
                  </a:lnTo>
                  <a:cubicBezTo>
                    <a:pt x="4744" y="719"/>
                    <a:pt x="4919" y="544"/>
                    <a:pt x="4919" y="350"/>
                  </a:cubicBezTo>
                  <a:cubicBezTo>
                    <a:pt x="4919" y="156"/>
                    <a:pt x="4744" y="0"/>
                    <a:pt x="45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45" name="Google Shape;1045;p43"/>
            <p:cNvSpPr/>
            <p:nvPr/>
          </p:nvSpPr>
          <p:spPr>
            <a:xfrm>
              <a:off x="3739505" y="1594308"/>
              <a:ext cx="93431" cy="13654"/>
            </a:xfrm>
            <a:custGeom>
              <a:avLst/>
              <a:gdLst/>
              <a:ahLst/>
              <a:cxnLst/>
              <a:rect l="l" t="t" r="r" b="b"/>
              <a:pathLst>
                <a:path w="4920" h="719" extrusionOk="0">
                  <a:moveTo>
                    <a:pt x="370" y="0"/>
                  </a:moveTo>
                  <a:cubicBezTo>
                    <a:pt x="176" y="0"/>
                    <a:pt x="0" y="156"/>
                    <a:pt x="0" y="350"/>
                  </a:cubicBezTo>
                  <a:cubicBezTo>
                    <a:pt x="0" y="563"/>
                    <a:pt x="176" y="719"/>
                    <a:pt x="370" y="719"/>
                  </a:cubicBezTo>
                  <a:lnTo>
                    <a:pt x="4549" y="719"/>
                  </a:lnTo>
                  <a:cubicBezTo>
                    <a:pt x="4744" y="719"/>
                    <a:pt x="4919" y="563"/>
                    <a:pt x="4919" y="350"/>
                  </a:cubicBezTo>
                  <a:cubicBezTo>
                    <a:pt x="4919" y="156"/>
                    <a:pt x="4744" y="0"/>
                    <a:pt x="45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46" name="Google Shape;1046;p43"/>
            <p:cNvSpPr/>
            <p:nvPr/>
          </p:nvSpPr>
          <p:spPr>
            <a:xfrm>
              <a:off x="3779366" y="1643778"/>
              <a:ext cx="13692" cy="13654"/>
            </a:xfrm>
            <a:custGeom>
              <a:avLst/>
              <a:gdLst/>
              <a:ahLst/>
              <a:cxnLst/>
              <a:rect l="l" t="t" r="r" b="b"/>
              <a:pathLst>
                <a:path w="721" h="719" extrusionOk="0">
                  <a:moveTo>
                    <a:pt x="371" y="0"/>
                  </a:moveTo>
                  <a:cubicBezTo>
                    <a:pt x="273" y="0"/>
                    <a:pt x="176" y="39"/>
                    <a:pt x="99" y="97"/>
                  </a:cubicBezTo>
                  <a:cubicBezTo>
                    <a:pt x="40" y="174"/>
                    <a:pt x="1" y="272"/>
                    <a:pt x="1" y="350"/>
                  </a:cubicBezTo>
                  <a:cubicBezTo>
                    <a:pt x="1" y="446"/>
                    <a:pt x="40" y="544"/>
                    <a:pt x="99" y="622"/>
                  </a:cubicBezTo>
                  <a:cubicBezTo>
                    <a:pt x="176" y="680"/>
                    <a:pt x="273" y="719"/>
                    <a:pt x="371" y="719"/>
                  </a:cubicBezTo>
                  <a:cubicBezTo>
                    <a:pt x="449" y="719"/>
                    <a:pt x="545" y="680"/>
                    <a:pt x="623" y="622"/>
                  </a:cubicBezTo>
                  <a:cubicBezTo>
                    <a:pt x="682" y="544"/>
                    <a:pt x="721" y="446"/>
                    <a:pt x="721" y="350"/>
                  </a:cubicBezTo>
                  <a:cubicBezTo>
                    <a:pt x="721" y="272"/>
                    <a:pt x="682" y="174"/>
                    <a:pt x="623" y="97"/>
                  </a:cubicBezTo>
                  <a:cubicBezTo>
                    <a:pt x="545" y="39"/>
                    <a:pt x="449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047" name="Google Shape;1047;p43"/>
            <p:cNvSpPr/>
            <p:nvPr/>
          </p:nvSpPr>
          <p:spPr>
            <a:xfrm>
              <a:off x="3683388" y="1486859"/>
              <a:ext cx="13692" cy="13692"/>
            </a:xfrm>
            <a:custGeom>
              <a:avLst/>
              <a:gdLst/>
              <a:ahLst/>
              <a:cxnLst/>
              <a:rect l="l" t="t" r="r" b="b"/>
              <a:pathLst>
                <a:path w="721" h="721" extrusionOk="0">
                  <a:moveTo>
                    <a:pt x="370" y="0"/>
                  </a:moveTo>
                  <a:cubicBezTo>
                    <a:pt x="272" y="0"/>
                    <a:pt x="176" y="39"/>
                    <a:pt x="117" y="117"/>
                  </a:cubicBezTo>
                  <a:cubicBezTo>
                    <a:pt x="39" y="176"/>
                    <a:pt x="0" y="272"/>
                    <a:pt x="0" y="370"/>
                  </a:cubicBezTo>
                  <a:cubicBezTo>
                    <a:pt x="0" y="467"/>
                    <a:pt x="39" y="545"/>
                    <a:pt x="117" y="622"/>
                  </a:cubicBezTo>
                  <a:cubicBezTo>
                    <a:pt x="176" y="681"/>
                    <a:pt x="272" y="720"/>
                    <a:pt x="370" y="720"/>
                  </a:cubicBezTo>
                  <a:cubicBezTo>
                    <a:pt x="467" y="720"/>
                    <a:pt x="545" y="681"/>
                    <a:pt x="622" y="622"/>
                  </a:cubicBezTo>
                  <a:cubicBezTo>
                    <a:pt x="681" y="545"/>
                    <a:pt x="720" y="467"/>
                    <a:pt x="720" y="370"/>
                  </a:cubicBezTo>
                  <a:cubicBezTo>
                    <a:pt x="720" y="272"/>
                    <a:pt x="681" y="176"/>
                    <a:pt x="622" y="117"/>
                  </a:cubicBezTo>
                  <a:cubicBezTo>
                    <a:pt x="545" y="39"/>
                    <a:pt x="467" y="0"/>
                    <a:pt x="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"/>
          <p:cNvSpPr/>
          <p:nvPr/>
        </p:nvSpPr>
        <p:spPr>
          <a:xfrm>
            <a:off x="0" y="0"/>
            <a:ext cx="2928894" cy="2857484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2"/>
          <p:cNvSpPr/>
          <p:nvPr/>
        </p:nvSpPr>
        <p:spPr>
          <a:xfrm>
            <a:off x="15359106" y="0"/>
            <a:ext cx="2928894" cy="2857484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4431550" y="7230558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484024" y="-108074"/>
            <a:ext cx="3019952" cy="3141648"/>
          </a:xfrm>
          <a:custGeom>
            <a:avLst/>
            <a:gdLst/>
            <a:ahLst/>
            <a:cxnLst/>
            <a:rect l="l" t="t" r="r" b="b"/>
            <a:pathLst>
              <a:path w="3019952" h="3141648">
                <a:moveTo>
                  <a:pt x="3019952" y="0"/>
                </a:moveTo>
                <a:lnTo>
                  <a:pt x="0" y="0"/>
                </a:lnTo>
                <a:lnTo>
                  <a:pt x="0" y="3141648"/>
                </a:lnTo>
                <a:lnTo>
                  <a:pt x="3019952" y="3141648"/>
                </a:lnTo>
                <a:lnTo>
                  <a:pt x="3019952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0002" y="785782"/>
            <a:ext cx="1240850" cy="1240900"/>
          </a:xfrm>
          <a:custGeom>
            <a:avLst/>
            <a:gdLst/>
            <a:ahLst/>
            <a:cxnLst/>
            <a:rect l="l" t="t" r="r" b="b"/>
            <a:pathLst>
              <a:path w="1240850" h="1240900">
                <a:moveTo>
                  <a:pt x="0" y="0"/>
                </a:moveTo>
                <a:lnTo>
                  <a:pt x="1240850" y="0"/>
                </a:lnTo>
                <a:lnTo>
                  <a:pt x="1240850" y="1240900"/>
                </a:lnTo>
                <a:lnTo>
                  <a:pt x="0" y="124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" r="-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28630" y="2143104"/>
            <a:ext cx="8262886" cy="656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ct val="150000"/>
              </a:lnSpc>
              <a:buAutoNum type="arabicPeriod"/>
            </a:pPr>
            <a:r>
              <a:rPr lang="en-US" sz="35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Easy online book issue &amp; return.</a:t>
            </a:r>
          </a:p>
          <a:p>
            <a:pPr marL="777238" lvl="1" indent="-388619" algn="l">
              <a:lnSpc>
                <a:spcPct val="150000"/>
              </a:lnSpc>
              <a:buAutoNum type="arabicPeriod"/>
            </a:pPr>
            <a:r>
              <a:rPr lang="en-US" sz="35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Auto fine calculation for </a:t>
            </a:r>
            <a:r>
              <a:rPr lang="en-US" sz="3599" spc="-15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late</a:t>
            </a:r>
            <a:r>
              <a:rPr lang="en-US" sz="35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returns.</a:t>
            </a:r>
          </a:p>
          <a:p>
            <a:pPr marL="777238" lvl="1" indent="-388619" algn="l">
              <a:lnSpc>
                <a:spcPct val="150000"/>
              </a:lnSpc>
              <a:buAutoNum type="arabicPeriod"/>
            </a:pPr>
            <a:r>
              <a:rPr lang="en-US" sz="35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Real-time book availability tracking.</a:t>
            </a:r>
          </a:p>
          <a:p>
            <a:pPr marL="777238" lvl="1" indent="-388619" algn="l">
              <a:lnSpc>
                <a:spcPct val="150000"/>
              </a:lnSpc>
              <a:buAutoNum type="arabicPeriod"/>
            </a:pPr>
            <a:r>
              <a:rPr lang="en-US" sz="35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Centralized database for all records.</a:t>
            </a:r>
          </a:p>
          <a:p>
            <a:pPr marL="777238" lvl="1" indent="-388619" algn="l">
              <a:lnSpc>
                <a:spcPct val="150000"/>
              </a:lnSpc>
              <a:buAutoNum type="arabicPeriod"/>
            </a:pPr>
            <a:r>
              <a:rPr lang="en-US" sz="35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Accessible via web browser on any device.</a:t>
            </a:r>
          </a:p>
          <a:p>
            <a:pPr marL="777238" lvl="1" indent="-388619" algn="l">
              <a:lnSpc>
                <a:spcPct val="150000"/>
              </a:lnSpc>
              <a:buAutoNum type="arabicPeriod"/>
            </a:pPr>
            <a:r>
              <a:rPr lang="en-US" sz="35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Scalable with Django + React structure.</a:t>
            </a:r>
          </a:p>
          <a:p>
            <a:pPr marL="777238" lvl="1" indent="-388619" algn="l">
              <a:lnSpc>
                <a:spcPct val="150000"/>
              </a:lnSpc>
              <a:buAutoNum type="arabicPeriod"/>
            </a:pPr>
            <a:r>
              <a:rPr lang="en-US" sz="35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Clear tracking of all transactions.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10EF8BC-6D19-2DC4-5571-D8FCE23AC514}"/>
              </a:ext>
            </a:extLst>
          </p:cNvPr>
          <p:cNvSpPr txBox="1"/>
          <p:nvPr/>
        </p:nvSpPr>
        <p:spPr>
          <a:xfrm>
            <a:off x="3548939" y="482722"/>
            <a:ext cx="1088532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Arimo Bold"/>
                <a:cs typeface="Arimo Bold"/>
                <a:sym typeface="Arimo Bold"/>
              </a:rPr>
              <a:t>ADVANTAGES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="" xmlns:a16="http://schemas.microsoft.com/office/drawing/2014/main" id="{99E36A75-2D25-C96D-0C36-6FF788F263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+mj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/>
          <a:srcRect l="5518" t="13574" r="2929" b="8789"/>
          <a:stretch>
            <a:fillRect/>
          </a:stretch>
        </p:blipFill>
        <p:spPr bwMode="auto">
          <a:xfrm>
            <a:off x="8929686" y="2214542"/>
            <a:ext cx="8592778" cy="7286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Freeform 3"/>
          <p:cNvSpPr/>
          <p:nvPr/>
        </p:nvSpPr>
        <p:spPr>
          <a:xfrm>
            <a:off x="-643006" y="-428664"/>
            <a:ext cx="3019952" cy="3141648"/>
          </a:xfrm>
          <a:custGeom>
            <a:avLst/>
            <a:gdLst/>
            <a:ahLst/>
            <a:cxnLst/>
            <a:rect l="l" t="t" r="r" b="b"/>
            <a:pathLst>
              <a:path w="3019952" h="3141648">
                <a:moveTo>
                  <a:pt x="3019952" y="0"/>
                </a:moveTo>
                <a:lnTo>
                  <a:pt x="0" y="0"/>
                </a:lnTo>
                <a:lnTo>
                  <a:pt x="0" y="3141648"/>
                </a:lnTo>
                <a:lnTo>
                  <a:pt x="3019952" y="3141648"/>
                </a:lnTo>
                <a:lnTo>
                  <a:pt x="3019952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12" name="Freeform 2"/>
          <p:cNvSpPr/>
          <p:nvPr/>
        </p:nvSpPr>
        <p:spPr>
          <a:xfrm>
            <a:off x="-500130" y="7429516"/>
            <a:ext cx="2928894" cy="2857484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/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/>
          <p:cNvSpPr/>
          <p:nvPr/>
        </p:nvSpPr>
        <p:spPr>
          <a:xfrm>
            <a:off x="14430412" y="0"/>
            <a:ext cx="3857588" cy="257173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2"/>
          <p:cNvSpPr/>
          <p:nvPr/>
        </p:nvSpPr>
        <p:spPr>
          <a:xfrm>
            <a:off x="14787602" y="6929450"/>
            <a:ext cx="3500398" cy="3357550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54100" y="121808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850" y="7650000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0" y="0"/>
                </a:moveTo>
                <a:lnTo>
                  <a:pt x="3727002" y="0"/>
                </a:lnTo>
                <a:lnTo>
                  <a:pt x="3727002" y="2383500"/>
                </a:lnTo>
                <a:lnTo>
                  <a:pt x="0" y="238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548425" y="-570036"/>
            <a:ext cx="3019952" cy="3141648"/>
          </a:xfrm>
          <a:custGeom>
            <a:avLst/>
            <a:gdLst/>
            <a:ahLst/>
            <a:cxnLst/>
            <a:rect l="l" t="t" r="r" b="b"/>
            <a:pathLst>
              <a:path w="3019952" h="3141648">
                <a:moveTo>
                  <a:pt x="3019952" y="0"/>
                </a:moveTo>
                <a:lnTo>
                  <a:pt x="0" y="0"/>
                </a:lnTo>
                <a:lnTo>
                  <a:pt x="0" y="3141648"/>
                </a:lnTo>
                <a:lnTo>
                  <a:pt x="3019952" y="3141648"/>
                </a:lnTo>
                <a:lnTo>
                  <a:pt x="3019952" y="0"/>
                </a:lnTo>
                <a:close/>
              </a:path>
            </a:pathLst>
          </a:custGeom>
          <a:blipFill>
            <a:blip r:embed="rId5" cstate="print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18450" y="957229"/>
            <a:ext cx="1240850" cy="1240900"/>
          </a:xfrm>
          <a:custGeom>
            <a:avLst/>
            <a:gdLst/>
            <a:ahLst/>
            <a:cxnLst/>
            <a:rect l="l" t="t" r="r" b="b"/>
            <a:pathLst>
              <a:path w="1240850" h="1240900">
                <a:moveTo>
                  <a:pt x="0" y="0"/>
                </a:moveTo>
                <a:lnTo>
                  <a:pt x="1240850" y="0"/>
                </a:lnTo>
                <a:lnTo>
                  <a:pt x="1240850" y="1240900"/>
                </a:lnTo>
                <a:lnTo>
                  <a:pt x="0" y="124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79323" y="2571612"/>
            <a:ext cx="9317646" cy="6936324"/>
          </a:xfrm>
          <a:custGeom>
            <a:avLst/>
            <a:gdLst/>
            <a:ahLst/>
            <a:cxnLst/>
            <a:rect l="l" t="t" r="r" b="b"/>
            <a:pathLst>
              <a:path w="9085439" h="6936324">
                <a:moveTo>
                  <a:pt x="0" y="0"/>
                </a:moveTo>
                <a:lnTo>
                  <a:pt x="9085439" y="0"/>
                </a:lnTo>
                <a:lnTo>
                  <a:pt x="9085439" y="6936324"/>
                </a:lnTo>
                <a:lnTo>
                  <a:pt x="0" y="69363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85" r="-19815" b="-1462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31425" y="972212"/>
            <a:ext cx="1522515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FFFFFF"/>
                </a:solidFill>
                <a:latin typeface="+mj-lt"/>
                <a:ea typeface="Arimo Bold"/>
                <a:cs typeface="Arimo Bold"/>
                <a:sym typeface="Arimo Bold"/>
              </a:rPr>
              <a:t>CURRENT SCOPE &amp; CONSTRAINTS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96969" y="2261870"/>
            <a:ext cx="7543306" cy="699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Limited to single-user database (</a:t>
            </a:r>
            <a:r>
              <a:rPr lang="en-US" sz="3200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SQLite</a:t>
            </a: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).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No offline access; requires browser.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Basic CRUD only; advanced search/filter not supported.</a:t>
            </a: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Single-server </a:t>
            </a:r>
            <a:r>
              <a:rPr lang="en-US" sz="3200" dirty="0" smtClean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setup.</a:t>
            </a:r>
            <a:endParaRPr lang="en-US" sz="3200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690881" lvl="1" indent="-345440" algn="l">
              <a:lnSpc>
                <a:spcPts val="8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No real-time updates; frontend updates via API fetch.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31550" y="0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14444" y="-571540"/>
            <a:ext cx="3019952" cy="3141648"/>
          </a:xfrm>
          <a:custGeom>
            <a:avLst/>
            <a:gdLst/>
            <a:ahLst/>
            <a:cxnLst/>
            <a:rect l="l" t="t" r="r" b="b"/>
            <a:pathLst>
              <a:path w="3019952" h="3141648">
                <a:moveTo>
                  <a:pt x="3019952" y="0"/>
                </a:moveTo>
                <a:lnTo>
                  <a:pt x="0" y="0"/>
                </a:lnTo>
                <a:lnTo>
                  <a:pt x="0" y="3141648"/>
                </a:lnTo>
                <a:lnTo>
                  <a:pt x="3019952" y="3141648"/>
                </a:lnTo>
                <a:lnTo>
                  <a:pt x="3019952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64370" y="725483"/>
            <a:ext cx="1088532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Arimo Bold"/>
                <a:cs typeface="Arimo Bold"/>
                <a:sym typeface="Arimo Bold"/>
              </a:rPr>
              <a:t>FUTURE ENHANCEMENTS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71871" y="2191294"/>
            <a:ext cx="8695574" cy="7266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Multi-user support &amp; scalable database (PostgreSQL/MySQL).</a:t>
            </a:r>
          </a:p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Advanced search &amp; filtering by author, category, or keywords.</a:t>
            </a:r>
          </a:p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Real-time updates &amp; notifications for book issues/returns.</a:t>
            </a:r>
          </a:p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Book reservation &amp; renewal online.</a:t>
            </a:r>
          </a:p>
          <a:p>
            <a:pPr marL="690881" lvl="1" indent="-345440" algn="l">
              <a:lnSpc>
                <a:spcPts val="64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Improved UI/UX – responsive design with dashboards.</a:t>
            </a:r>
          </a:p>
        </p:txBody>
      </p:sp>
      <p:sp>
        <p:nvSpPr>
          <p:cNvPr id="9" name="Freeform 3"/>
          <p:cNvSpPr/>
          <p:nvPr/>
        </p:nvSpPr>
        <p:spPr>
          <a:xfrm flipH="1" flipV="1">
            <a:off x="16430676" y="8143896"/>
            <a:ext cx="3019952" cy="3141648"/>
          </a:xfrm>
          <a:custGeom>
            <a:avLst/>
            <a:gdLst/>
            <a:ahLst/>
            <a:cxnLst/>
            <a:rect l="l" t="t" r="r" b="b"/>
            <a:pathLst>
              <a:path w="3019952" h="3141648">
                <a:moveTo>
                  <a:pt x="3019952" y="0"/>
                </a:moveTo>
                <a:lnTo>
                  <a:pt x="0" y="0"/>
                </a:lnTo>
                <a:lnTo>
                  <a:pt x="0" y="3141648"/>
                </a:lnTo>
                <a:lnTo>
                  <a:pt x="3019952" y="3141648"/>
                </a:lnTo>
                <a:lnTo>
                  <a:pt x="3019952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10" name="Freeform 2"/>
          <p:cNvSpPr/>
          <p:nvPr/>
        </p:nvSpPr>
        <p:spPr>
          <a:xfrm>
            <a:off x="0" y="7375258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0" y="0"/>
                </a:moveTo>
                <a:lnTo>
                  <a:pt x="3727000" y="0"/>
                </a:lnTo>
                <a:lnTo>
                  <a:pt x="3727000" y="2911742"/>
                </a:lnTo>
                <a:lnTo>
                  <a:pt x="0" y="2911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B733AFB-AC62-C245-DA9F-9100343B02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106" b="10705"/>
          <a:stretch>
            <a:fillRect/>
          </a:stretch>
        </p:blipFill>
        <p:spPr>
          <a:xfrm>
            <a:off x="571440" y="2071666"/>
            <a:ext cx="9001188" cy="74295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54100" y="7121756"/>
            <a:ext cx="3727000" cy="2911742"/>
          </a:xfrm>
          <a:custGeom>
            <a:avLst/>
            <a:gdLst/>
            <a:ahLst/>
            <a:cxnLst/>
            <a:rect l="l" t="t" r="r" b="b"/>
            <a:pathLst>
              <a:path w="3727000" h="2911742">
                <a:moveTo>
                  <a:pt x="3727000" y="0"/>
                </a:moveTo>
                <a:lnTo>
                  <a:pt x="0" y="0"/>
                </a:lnTo>
                <a:lnTo>
                  <a:pt x="0" y="2911742"/>
                </a:lnTo>
                <a:lnTo>
                  <a:pt x="3727000" y="2911742"/>
                </a:lnTo>
                <a:lnTo>
                  <a:pt x="37270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113850" y="121808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14353100" y="7650000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085590" y="-163800"/>
            <a:ext cx="3244172" cy="3358300"/>
          </a:xfrm>
          <a:custGeom>
            <a:avLst/>
            <a:gdLst/>
            <a:ahLst/>
            <a:cxnLst/>
            <a:rect l="l" t="t" r="r" b="b"/>
            <a:pathLst>
              <a:path w="3244172" h="3358300">
                <a:moveTo>
                  <a:pt x="0" y="0"/>
                </a:moveTo>
                <a:lnTo>
                  <a:pt x="3244172" y="0"/>
                </a:lnTo>
                <a:lnTo>
                  <a:pt x="3244172" y="3358300"/>
                </a:lnTo>
                <a:lnTo>
                  <a:pt x="0" y="3358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28000" y="1533500"/>
            <a:ext cx="1240850" cy="1240900"/>
          </a:xfrm>
          <a:custGeom>
            <a:avLst/>
            <a:gdLst/>
            <a:ahLst/>
            <a:cxnLst/>
            <a:rect l="l" t="t" r="r" b="b"/>
            <a:pathLst>
              <a:path w="1240850" h="1240900">
                <a:moveTo>
                  <a:pt x="0" y="0"/>
                </a:moveTo>
                <a:lnTo>
                  <a:pt x="1240850" y="0"/>
                </a:lnTo>
                <a:lnTo>
                  <a:pt x="1240850" y="1240900"/>
                </a:lnTo>
                <a:lnTo>
                  <a:pt x="0" y="124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283526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68850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237026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199026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184350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52526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6026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091350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059526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2" r="-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31425" y="952900"/>
            <a:ext cx="1522515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2315376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222358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129282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036200" y="2812750"/>
            <a:ext cx="1936300" cy="1936400"/>
          </a:xfrm>
          <a:custGeom>
            <a:avLst/>
            <a:gdLst/>
            <a:ahLst/>
            <a:cxnLst/>
            <a:rect l="l" t="t" r="r" b="b"/>
            <a:pathLst>
              <a:path w="1936300" h="1936400">
                <a:moveTo>
                  <a:pt x="0" y="0"/>
                </a:moveTo>
                <a:lnTo>
                  <a:pt x="1936300" y="0"/>
                </a:lnTo>
                <a:lnTo>
                  <a:pt x="1936300" y="1936400"/>
                </a:lnTo>
                <a:lnTo>
                  <a:pt x="0" y="193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" r="-2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669250" y="3429482"/>
            <a:ext cx="670460" cy="702934"/>
          </a:xfrm>
          <a:custGeom>
            <a:avLst/>
            <a:gdLst/>
            <a:ahLst/>
            <a:cxnLst/>
            <a:rect l="l" t="t" r="r" b="b"/>
            <a:pathLst>
              <a:path w="670460" h="702934">
                <a:moveTo>
                  <a:pt x="0" y="0"/>
                </a:moveTo>
                <a:lnTo>
                  <a:pt x="670460" y="0"/>
                </a:lnTo>
                <a:lnTo>
                  <a:pt x="670460" y="702934"/>
                </a:lnTo>
                <a:lnTo>
                  <a:pt x="0" y="7029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745964" y="3456774"/>
            <a:ext cx="702934" cy="648318"/>
          </a:xfrm>
          <a:custGeom>
            <a:avLst/>
            <a:gdLst/>
            <a:ahLst/>
            <a:cxnLst/>
            <a:rect l="l" t="t" r="r" b="b"/>
            <a:pathLst>
              <a:path w="702934" h="648318">
                <a:moveTo>
                  <a:pt x="0" y="0"/>
                </a:moveTo>
                <a:lnTo>
                  <a:pt x="702934" y="0"/>
                </a:lnTo>
                <a:lnTo>
                  <a:pt x="702934" y="648318"/>
                </a:lnTo>
                <a:lnTo>
                  <a:pt x="0" y="6483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836494" y="3429472"/>
            <a:ext cx="708100" cy="702934"/>
          </a:xfrm>
          <a:custGeom>
            <a:avLst/>
            <a:gdLst/>
            <a:ahLst/>
            <a:cxnLst/>
            <a:rect l="l" t="t" r="r" b="b"/>
            <a:pathLst>
              <a:path w="708100" h="702934">
                <a:moveTo>
                  <a:pt x="0" y="0"/>
                </a:moveTo>
                <a:lnTo>
                  <a:pt x="708100" y="0"/>
                </a:lnTo>
                <a:lnTo>
                  <a:pt x="708100" y="702934"/>
                </a:lnTo>
                <a:lnTo>
                  <a:pt x="0" y="7029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932086" y="3457196"/>
            <a:ext cx="702934" cy="647522"/>
          </a:xfrm>
          <a:custGeom>
            <a:avLst/>
            <a:gdLst/>
            <a:ahLst/>
            <a:cxnLst/>
            <a:rect l="l" t="t" r="r" b="b"/>
            <a:pathLst>
              <a:path w="702934" h="647522">
                <a:moveTo>
                  <a:pt x="0" y="0"/>
                </a:moveTo>
                <a:lnTo>
                  <a:pt x="702934" y="0"/>
                </a:lnTo>
                <a:lnTo>
                  <a:pt x="702934" y="647522"/>
                </a:lnTo>
                <a:lnTo>
                  <a:pt x="0" y="6475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19135" y="6608766"/>
            <a:ext cx="3120824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The project successfully simulates a real-world library management system, automating book issue, return, and fine calculation.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853386" y="6559388"/>
            <a:ext cx="3345640" cy="268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AutomatesIt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is built as a full-stack application using </a:t>
            </a:r>
            <a:r>
              <a:rPr lang="en-US" sz="2499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Django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and React, providing a modern and user-friendly interface. issue and return with fine calculation.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08548" y="6610350"/>
            <a:ext cx="2582649" cy="268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 err="1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SQLite</a:t>
            </a:r>
            <a:r>
              <a:rPr lang="en-US" sz="24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 database is used for persistent storage, ensuring reliable management of records.</a:t>
            </a:r>
          </a:p>
          <a:p>
            <a:pPr algn="l">
              <a:lnSpc>
                <a:spcPts val="2999"/>
              </a:lnSpc>
            </a:pPr>
            <a:endParaRPr lang="en-US" sz="2499" dirty="0">
              <a:solidFill>
                <a:srgbClr val="FFFFFF"/>
              </a:solidFill>
              <a:latin typeface="+mj-lt"/>
              <a:ea typeface="Calibri (MS)"/>
              <a:cs typeface="Calibri (MS)"/>
              <a:sym typeface="Calibri (MS)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931341" y="6531828"/>
            <a:ext cx="3365706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The system is modular and extensible, making it easy to add future features like authentication, reporting, and GUI enhancements.</a:t>
            </a:r>
          </a:p>
        </p:txBody>
      </p:sp>
      <p:sp>
        <p:nvSpPr>
          <p:cNvPr id="29" name="AutoShape 29"/>
          <p:cNvSpPr/>
          <p:nvPr/>
        </p:nvSpPr>
        <p:spPr>
          <a:xfrm rot="4417">
            <a:off x="1730769" y="5618650"/>
            <a:ext cx="14826462" cy="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30" name="Group 30"/>
          <p:cNvGrpSpPr/>
          <p:nvPr/>
        </p:nvGrpSpPr>
        <p:grpSpPr>
          <a:xfrm>
            <a:off x="1775100" y="5552966"/>
            <a:ext cx="285000" cy="285000"/>
            <a:chOff x="0" y="0"/>
            <a:chExt cx="380000" cy="38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E500FA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5685218" y="5529825"/>
            <a:ext cx="285000" cy="285000"/>
            <a:chOff x="0" y="0"/>
            <a:chExt cx="380000" cy="380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E500F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299872" y="5476150"/>
            <a:ext cx="285000" cy="285000"/>
            <a:chOff x="0" y="0"/>
            <a:chExt cx="380000" cy="380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E500F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471694" y="5490438"/>
            <a:ext cx="285000" cy="285000"/>
            <a:chOff x="0" y="0"/>
            <a:chExt cx="380000" cy="380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E500FA"/>
            </a:solidFill>
          </p:spPr>
        </p:sp>
      </p:grpSp>
      <p:sp>
        <p:nvSpPr>
          <p:cNvPr id="38" name="AutoShape 38"/>
          <p:cNvSpPr/>
          <p:nvPr/>
        </p:nvSpPr>
        <p:spPr>
          <a:xfrm flipH="1">
            <a:off x="1917582" y="5837954"/>
            <a:ext cx="18" cy="818437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39" name="AutoShape 39"/>
          <p:cNvSpPr/>
          <p:nvPr/>
        </p:nvSpPr>
        <p:spPr>
          <a:xfrm>
            <a:off x="5818193" y="5810062"/>
            <a:ext cx="19050" cy="74625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40" name="AutoShape 40"/>
          <p:cNvSpPr/>
          <p:nvPr/>
        </p:nvSpPr>
        <p:spPr>
          <a:xfrm>
            <a:off x="9442372" y="5756388"/>
            <a:ext cx="19050" cy="74625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41" name="AutoShape 41"/>
          <p:cNvSpPr/>
          <p:nvPr/>
        </p:nvSpPr>
        <p:spPr>
          <a:xfrm>
            <a:off x="12595144" y="5667563"/>
            <a:ext cx="19050" cy="74625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14743678" y="6570050"/>
            <a:ext cx="2850344" cy="268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FFFFFF"/>
                </a:solidFill>
                <a:latin typeface="+mj-lt"/>
                <a:ea typeface="Calibri (MS)"/>
                <a:cs typeface="Calibri (MS)"/>
                <a:sym typeface="Calibri (MS)"/>
              </a:rPr>
              <a:t>Overall, it is a complete mini project for library automation, offering a solid foundation for further development and improvements.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5775870" y="5552966"/>
            <a:ext cx="285000" cy="285000"/>
            <a:chOff x="0" y="0"/>
            <a:chExt cx="380000" cy="380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79984" cy="379984"/>
            </a:xfrm>
            <a:custGeom>
              <a:avLst/>
              <a:gdLst/>
              <a:ahLst/>
              <a:cxnLst/>
              <a:rect l="l" t="t" r="r" b="b"/>
              <a:pathLst>
                <a:path w="379984" h="379984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cubicBezTo>
                    <a:pt x="294894" y="0"/>
                    <a:pt x="379984" y="85090"/>
                    <a:pt x="379984" y="189992"/>
                  </a:cubicBezTo>
                  <a:cubicBezTo>
                    <a:pt x="379984" y="294894"/>
                    <a:pt x="294894" y="379984"/>
                    <a:pt x="189992" y="379984"/>
                  </a:cubicBez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E500FA"/>
            </a:solidFill>
          </p:spPr>
        </p:sp>
      </p:grpSp>
      <p:sp>
        <p:nvSpPr>
          <p:cNvPr id="45" name="AutoShape 45"/>
          <p:cNvSpPr/>
          <p:nvPr/>
        </p:nvSpPr>
        <p:spPr>
          <a:xfrm>
            <a:off x="15929639" y="5833203"/>
            <a:ext cx="19050" cy="746250"/>
          </a:xfrm>
          <a:prstGeom prst="line">
            <a:avLst/>
          </a:prstGeom>
          <a:ln w="9525" cap="rnd">
            <a:solidFill>
              <a:srgbClr val="E500FA"/>
            </a:solidFill>
            <a:prstDash val="solid"/>
            <a:headEnd type="none" w="sm" len="sm"/>
            <a:tailEnd type="oval" w="lg" len="lg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51329">
                <a:alpha val="100000"/>
              </a:srgbClr>
            </a:gs>
            <a:gs pos="50000">
              <a:srgbClr val="2E295A">
                <a:alpha val="100000"/>
              </a:srgbClr>
            </a:gs>
            <a:gs pos="100000">
              <a:srgbClr val="151329">
                <a:alpha val="100000"/>
              </a:srgbClr>
            </a:gs>
          </a:gsLst>
          <a:lin ang="2700006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7626" y="-108022"/>
            <a:ext cx="6293452" cy="6547000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320724" y="3739978"/>
            <a:ext cx="6293452" cy="6547000"/>
          </a:xfrm>
          <a:custGeom>
            <a:avLst/>
            <a:gdLst/>
            <a:ahLst/>
            <a:cxnLst/>
            <a:rect l="l" t="t" r="r" b="b"/>
            <a:pathLst>
              <a:path w="6293452" h="6547000">
                <a:moveTo>
                  <a:pt x="0" y="0"/>
                </a:moveTo>
                <a:lnTo>
                  <a:pt x="6293452" y="0"/>
                </a:lnTo>
                <a:lnTo>
                  <a:pt x="6293452" y="6547000"/>
                </a:lnTo>
                <a:lnTo>
                  <a:pt x="0" y="654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3850" y="625844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>
            <a:off x="113850" y="121808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4353100" y="7650000"/>
            <a:ext cx="3727002" cy="2383500"/>
          </a:xfrm>
          <a:custGeom>
            <a:avLst/>
            <a:gdLst/>
            <a:ahLst/>
            <a:cxnLst/>
            <a:rect l="l" t="t" r="r" b="b"/>
            <a:pathLst>
              <a:path w="3727002" h="2383500">
                <a:moveTo>
                  <a:pt x="3727002" y="0"/>
                </a:moveTo>
                <a:lnTo>
                  <a:pt x="0" y="0"/>
                </a:lnTo>
                <a:lnTo>
                  <a:pt x="0" y="2383500"/>
                </a:lnTo>
                <a:lnTo>
                  <a:pt x="3727002" y="2383500"/>
                </a:lnTo>
                <a:lnTo>
                  <a:pt x="3727002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>
            <a:off x="13139550" y="121792"/>
            <a:ext cx="5013300" cy="3916650"/>
          </a:xfrm>
          <a:custGeom>
            <a:avLst/>
            <a:gdLst/>
            <a:ahLst/>
            <a:cxnLst/>
            <a:rect l="l" t="t" r="r" b="b"/>
            <a:pathLst>
              <a:path w="5013300" h="3916650">
                <a:moveTo>
                  <a:pt x="5013300" y="0"/>
                </a:moveTo>
                <a:lnTo>
                  <a:pt x="0" y="0"/>
                </a:lnTo>
                <a:lnTo>
                  <a:pt x="0" y="3916650"/>
                </a:lnTo>
                <a:lnTo>
                  <a:pt x="5013300" y="3916650"/>
                </a:lnTo>
                <a:lnTo>
                  <a:pt x="501330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67625" y="3886200"/>
            <a:ext cx="12552750" cy="206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60"/>
              </a:lnSpc>
            </a:pPr>
            <a:r>
              <a:rPr lang="en-US" sz="13800">
                <a:solidFill>
                  <a:srgbClr val="FFFFFF"/>
                </a:solidFill>
                <a:latin typeface="+mj-lt"/>
                <a:ea typeface="Arimo"/>
                <a:cs typeface="Arimo"/>
                <a:sym typeface="Arimo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1432</Words>
  <Application>Microsoft Office PowerPoint</Application>
  <PresentationFormat>Custom</PresentationFormat>
  <Paragraphs>275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Arimo</vt:lpstr>
      <vt:lpstr>Calibri</vt:lpstr>
      <vt:lpstr>Calibri (MS) Bold</vt:lpstr>
      <vt:lpstr>Calibri (MS)</vt:lpstr>
      <vt:lpstr>Arimo Bold</vt:lpstr>
      <vt:lpstr>Poppins ExtraBold</vt:lpstr>
      <vt:lpstr>Office Theme</vt:lpstr>
      <vt:lpstr>Slide 1</vt:lpstr>
      <vt:lpstr>Slide 2</vt:lpstr>
      <vt:lpstr>Slide 3</vt:lpstr>
      <vt:lpstr>Slide 4</vt:lpstr>
      <vt:lpstr>PROJECT OVERVIEW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KEY FUNCTIONS</vt:lpstr>
      <vt:lpstr>Slide 27</vt:lpstr>
      <vt:lpstr>Slide 28</vt:lpstr>
      <vt:lpstr>Slide 29</vt:lpstr>
      <vt:lpstr>Slide 30</vt:lpstr>
      <vt:lpstr>Slide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Futuristisches Portfolio by Slidesgo.pptx</dc:title>
  <dc:creator>RAHUL</dc:creator>
  <cp:lastModifiedBy>RAHUL</cp:lastModifiedBy>
  <cp:revision>58</cp:revision>
  <dcterms:created xsi:type="dcterms:W3CDTF">2006-08-16T00:00:00Z</dcterms:created>
  <dcterms:modified xsi:type="dcterms:W3CDTF">2025-09-16T11:19:41Z</dcterms:modified>
  <dc:identifier>DAGyqmJ_S0s</dc:identifier>
</cp:coreProperties>
</file>